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3"/>
  </p:notesMasterIdLst>
  <p:sldIdLst>
    <p:sldId id="256" r:id="rId2"/>
    <p:sldId id="257" r:id="rId3"/>
    <p:sldId id="258" r:id="rId4"/>
    <p:sldId id="259" r:id="rId5"/>
    <p:sldId id="260" r:id="rId6"/>
    <p:sldId id="282" r:id="rId7"/>
    <p:sldId id="283" r:id="rId8"/>
    <p:sldId id="261" r:id="rId9"/>
    <p:sldId id="284" r:id="rId10"/>
    <p:sldId id="262" r:id="rId11"/>
    <p:sldId id="285" r:id="rId12"/>
    <p:sldId id="286" r:id="rId13"/>
    <p:sldId id="287" r:id="rId14"/>
    <p:sldId id="288" r:id="rId15"/>
    <p:sldId id="289" r:id="rId16"/>
    <p:sldId id="290" r:id="rId17"/>
    <p:sldId id="291" r:id="rId18"/>
    <p:sldId id="292" r:id="rId19"/>
    <p:sldId id="293" r:id="rId20"/>
    <p:sldId id="294" r:id="rId21"/>
    <p:sldId id="264" r:id="rId22"/>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Tempo sugerido: 2 min</a:t>
            </a:r>
          </a:p>
          <a:p>
            <a:endParaRPr/>
          </a:p>
          <a:p>
            <a:r>
              <a:t>Apresente o escopo: história breve, componentes da plataforma, preparação do ambiente e primeiro ciclo de compilação e execução. A aula não introduz ainda tipos, variáveis, operadores ou entrada com Scanner.</a:t>
            </a:r>
          </a:p>
          <a:p>
            <a:endParaRPr/>
          </a:p>
          <a:p>
            <a:r>
              <a:t>[Sources]</a:t>
            </a:r>
          </a:p>
          <a:p>
            <a:r>
              <a:t>- ASCENCIO, A. F. G.; CAMPOS, E. A. V. Fundamentos da programação de computadores. 3. ed. Pearson, 2012.</a:t>
            </a:r>
          </a:p>
          <a:p>
            <a:r>
              <a:t>- JANDL JUNIOR, P. Java: Guia do Programador. 4. ed. Novatec, 2021.</a:t>
            </a:r>
          </a:p>
          <a:p>
            <a:r>
              <a:t>- Identidade visual e logotipo: Aula_03_Abstracao_Paradigmas_JVM_Unichristus.pptx, apresentação-base da disciplina.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Tempo sugerido: 2 min</a:t>
            </a:r>
          </a:p>
          <a:p>
            <a:endParaRPr/>
          </a:p>
          <a:p>
            <a:r>
              <a:t>Leia os objetivos e informe o critério de conclusão: cada estudante deverá executar javac e java pelo terminal e explicar o arquivo gerado. Diferencie reconhecer a assinatura main de aprofundar seus componentes.</a:t>
            </a:r>
          </a:p>
          <a:p>
            <a:endParaRPr/>
          </a:p>
          <a:p>
            <a:r>
              <a:t>[Sources]</a:t>
            </a:r>
          </a:p>
          <a:p>
            <a:r>
              <a:t>- ASCENCIO, A. F. G.; CAMPOS, E. A. V. Fundamentos da programação de computadores. 3. ed. Pearson, 2012.</a:t>
            </a:r>
          </a:p>
          <a:p>
            <a:r>
              <a:t>- JANDL JUNIOR, P. Java: Guia do Programador. 4. ed. Novatec, 2021.</a:t>
            </a:r>
          </a:p>
          <a:p>
            <a:r>
              <a:t>- Identidade visual e logotipo: Aula_03_Abstracao_Paradigmas_JVM_Unichristus.pptx, apresentação-base da disciplina.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Tempo sugerido: 2 min</a:t>
            </a:r>
          </a:p>
          <a:p>
            <a:endParaRPr/>
          </a:p>
          <a:p>
            <a:r>
              <a:t>Use os cinco blocos como sequência da aula. A progressão é histórica e técnica: origem, plataforma, ambiente, sintaxe mínima e execução. Não transformar este slide em discussão conceitual extensa.</a:t>
            </a:r>
          </a:p>
          <a:p>
            <a:endParaRPr/>
          </a:p>
          <a:p>
            <a:r>
              <a:t>[Sources]</a:t>
            </a:r>
          </a:p>
          <a:p>
            <a:r>
              <a:t>- JANDL JUNIOR, P. Java: Guia do Programador. 4. ed. Novatec, 2021.</a:t>
            </a:r>
          </a:p>
          <a:p>
            <a:r>
              <a:t>- Identidade visual e logotipo: Aula_03_Abstracao_Paradigmas_JVM_Unichristus.pptx, apresentação-base da disciplina.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Tempo sugerido: 4 min</a:t>
            </a:r>
          </a:p>
          <a:p>
            <a:endParaRPr/>
          </a:p>
          <a:p>
            <a:r>
              <a:t>Defina linguagem como o sistema formal usado para escrever programas. Defina plataforma como o conjunto de componentes que permite desenvolver e executar esses programas. Reforce: Java não é sinônimo de JVM; a JVM é parte da plataforma.</a:t>
            </a:r>
          </a:p>
          <a:p>
            <a:endParaRPr/>
          </a:p>
          <a:p>
            <a:r>
              <a:t>[Sources]</a:t>
            </a:r>
          </a:p>
          <a:p>
            <a:r>
              <a:t>- ASCENCIO, A. F. G.; CAMPOS, E. A. V. Fundamentos da programação de computadores. 3. ed. Pearson, 2012. Cap. 1, seção 1.11.</a:t>
            </a:r>
          </a:p>
          <a:p>
            <a:r>
              <a:t>- JANDL JUNIOR, P. Java: Guia do Programador. 4. ed. Novatec, 2021. Cap. 1, seção 1.1.</a:t>
            </a:r>
          </a:p>
          <a:p>
            <a:r>
              <a:t>- Identidade visual e logotipo: Aula_03_Abstracao_Paradigmas_JVM_Unichristus.pptx, apresentação-base da disciplina.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Tempo sugerido: 5 min</a:t>
            </a:r>
          </a:p>
          <a:p>
            <a:endParaRPr/>
          </a:p>
          <a:p>
            <a:r>
              <a:t>Apresente apenas os marcos mostrados. O projeto Green iniciou em 1991 e usou o nome Oak. A apresentação pública ocorreu em 1995. O primeiro JDK foi disponibilizado em 1996. A aquisição da Sun pela Oracle foi concluída em 2010. Em 2017 foi adotado o ciclo semestral de versões.</a:t>
            </a:r>
          </a:p>
          <a:p>
            <a:endParaRPr/>
          </a:p>
          <a:p>
            <a:r>
              <a:t>[Sources]</a:t>
            </a:r>
          </a:p>
          <a:p>
            <a:r>
              <a:t>- JANDL JUNIOR, P. Java: Guia do Programador. 4. ed. Novatec, 2021. Cap. 1, seção 1.2.</a:t>
            </a:r>
          </a:p>
          <a:p>
            <a:r>
              <a:t>- Identidade visual e logotipo: Aula_03_Abstracao_Paradigmas_JVM_Unichristus.pptx, apresentação-base da disciplina.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28840E-C6C7-0E9A-E64F-45947C91CF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F22F9A-3E10-7433-EA14-569E25FDC6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BFFEAD-5B76-6173-C171-0E504297B165}"/>
              </a:ext>
            </a:extLst>
          </p:cNvPr>
          <p:cNvSpPr>
            <a:spLocks noGrp="1"/>
          </p:cNvSpPr>
          <p:nvPr>
            <p:ph type="body" idx="1"/>
          </p:nvPr>
        </p:nvSpPr>
        <p:spPr/>
        <p:txBody>
          <a:bodyPr/>
          <a:lstStyle/>
          <a:p>
            <a:r>
              <a:t>Tempo sugerido: 5 min</a:t>
            </a:r>
          </a:p>
          <a:p>
            <a:endParaRPr/>
          </a:p>
          <a:p>
            <a:r>
              <a:t>Apresente apenas os marcos mostrados. O projeto Green iniciou em 1991 e usou o nome Oak. A apresentação pública ocorreu em 1995. O primeiro JDK foi disponibilizado em 1996. A aquisição da Sun pela Oracle foi concluída em 2010. Em 2017 foi adotado o ciclo semestral de versões.</a:t>
            </a:r>
          </a:p>
          <a:p>
            <a:endParaRPr/>
          </a:p>
          <a:p>
            <a:r>
              <a:t>[Sources]</a:t>
            </a:r>
          </a:p>
          <a:p>
            <a:r>
              <a:t>- JANDL JUNIOR, P. Java: Guia do Programador. 4. ed. Novatec, 2021. Cap. 1, seção 1.2.</a:t>
            </a:r>
          </a:p>
          <a:p>
            <a:r>
              <a:t>- Identidade visual e logotipo: Aula_03_Abstracao_Paradigmas_JVM_Unichristus.pptx, apresentação-base da disciplina.</a:t>
            </a:r>
          </a:p>
        </p:txBody>
      </p:sp>
      <p:sp>
        <p:nvSpPr>
          <p:cNvPr id="4" name="Slide Number Placeholder 3">
            <a:extLst>
              <a:ext uri="{FF2B5EF4-FFF2-40B4-BE49-F238E27FC236}">
                <a16:creationId xmlns:a16="http://schemas.microsoft.com/office/drawing/2014/main" id="{7015FE56-8D39-558A-7486-A404C95300EB}"/>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3700900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A7320F-4F94-669C-4E6B-0E24ACA918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1A39E2-E185-2C17-4AAA-CE6B434B70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8381C9-95B0-2045-20ED-0547F9E806F3}"/>
              </a:ext>
            </a:extLst>
          </p:cNvPr>
          <p:cNvSpPr>
            <a:spLocks noGrp="1"/>
          </p:cNvSpPr>
          <p:nvPr>
            <p:ph type="body" idx="1"/>
          </p:nvPr>
        </p:nvSpPr>
        <p:spPr/>
        <p:txBody>
          <a:bodyPr/>
          <a:lstStyle/>
          <a:p>
            <a:r>
              <a:t>Tempo sugerido: 5 min</a:t>
            </a:r>
          </a:p>
          <a:p>
            <a:endParaRPr/>
          </a:p>
          <a:p>
            <a:r>
              <a:t>Apresente apenas os marcos mostrados. O projeto Green iniciou em 1991 e usou o nome Oak. A apresentação pública ocorreu em 1995. O primeiro JDK foi disponibilizado em 1996. A aquisição da Sun pela Oracle foi concluída em 2010. Em 2017 foi adotado o ciclo semestral de versões.</a:t>
            </a:r>
          </a:p>
          <a:p>
            <a:endParaRPr/>
          </a:p>
          <a:p>
            <a:r>
              <a:t>[Sources]</a:t>
            </a:r>
          </a:p>
          <a:p>
            <a:r>
              <a:t>- JANDL JUNIOR, P. Java: Guia do Programador. 4. ed. Novatec, 2021. Cap. 1, seção 1.2.</a:t>
            </a:r>
          </a:p>
          <a:p>
            <a:r>
              <a:t>- Identidade visual e logotipo: Aula_03_Abstracao_Paradigmas_JVM_Unichristus.pptx, apresentação-base da disciplina.</a:t>
            </a:r>
          </a:p>
        </p:txBody>
      </p:sp>
      <p:sp>
        <p:nvSpPr>
          <p:cNvPr id="4" name="Slide Number Placeholder 3">
            <a:extLst>
              <a:ext uri="{FF2B5EF4-FFF2-40B4-BE49-F238E27FC236}">
                <a16:creationId xmlns:a16="http://schemas.microsoft.com/office/drawing/2014/main" id="{D82C8BBF-A287-9796-BDE7-0DCC535E69CB}"/>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2330667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Tempo sugerido: 5 min</a:t>
            </a:r>
          </a:p>
          <a:p>
            <a:endParaRPr/>
          </a:p>
          <a:p>
            <a:r>
              <a:t>Percorra a tabela por característica. Esclareça que tipagem estática não significa ausência de erros em execução. Em memória automática, diga que o programador deixa de liberar objetos manualmente, mas continua responsável por uso adequado de recursos. Não usar o termo simples como avaliação absoluta da linguagem.</a:t>
            </a:r>
          </a:p>
          <a:p>
            <a:endParaRPr/>
          </a:p>
          <a:p>
            <a:r>
              <a:t>[Sources]</a:t>
            </a:r>
          </a:p>
          <a:p>
            <a:r>
              <a:t>- JANDL JUNIOR, P. Java: Guia do Programador. 4. ed. Novatec, 2021. Cap. 1, seção 1.3.</a:t>
            </a:r>
          </a:p>
          <a:p>
            <a:r>
              <a:t>- ASCENCIO, A. F. G.; CAMPOS, E. A. V. Fundamentos da programação de computadores. 3. ed. Pearson, 2012. Cap. 1, seção 1.11.</a:t>
            </a:r>
          </a:p>
          <a:p>
            <a:r>
              <a:t>- Identidade visual e logotipo: Aula_03_Abstracao_Paradigmas_JVM_Unichristus.pptx, apresentação-base da disciplina.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A52706-F352-1B62-F705-7B4B9F2D2B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6A681B-2139-3C27-B813-5788F5957F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437864-E297-BA75-9690-9B925C95401E}"/>
              </a:ext>
            </a:extLst>
          </p:cNvPr>
          <p:cNvSpPr>
            <a:spLocks noGrp="1"/>
          </p:cNvSpPr>
          <p:nvPr>
            <p:ph type="body" idx="1"/>
          </p:nvPr>
        </p:nvSpPr>
        <p:spPr/>
        <p:txBody>
          <a:bodyPr/>
          <a:lstStyle/>
          <a:p>
            <a:r>
              <a:t>Tempo sugerido: 5 min</a:t>
            </a:r>
          </a:p>
          <a:p>
            <a:endParaRPr/>
          </a:p>
          <a:p>
            <a:r>
              <a:t>Percorra a tabela por característica. Esclareça que tipagem estática não significa ausência de erros em execução. Em memória automática, diga que o programador deixa de liberar objetos manualmente, mas continua responsável por uso adequado de recursos. Não usar o termo simples como avaliação absoluta da linguagem.</a:t>
            </a:r>
          </a:p>
          <a:p>
            <a:endParaRPr/>
          </a:p>
          <a:p>
            <a:r>
              <a:t>[Sources]</a:t>
            </a:r>
          </a:p>
          <a:p>
            <a:r>
              <a:t>- JANDL JUNIOR, P. Java: Guia do Programador. 4. ed. Novatec, 2021. Cap. 1, seção 1.3.</a:t>
            </a:r>
          </a:p>
          <a:p>
            <a:r>
              <a:t>- ASCENCIO, A. F. G.; CAMPOS, E. A. V. Fundamentos da programação de computadores. 3. ed. Pearson, 2012. Cap. 1, seção 1.11.</a:t>
            </a:r>
          </a:p>
          <a:p>
            <a:r>
              <a:t>- Identidade visual e logotipo: Aula_03_Abstracao_Paradigmas_JVM_Unichristus.pptx, apresentação-base da disciplina.</a:t>
            </a:r>
          </a:p>
        </p:txBody>
      </p:sp>
      <p:sp>
        <p:nvSpPr>
          <p:cNvPr id="4" name="Slide Number Placeholder 3">
            <a:extLst>
              <a:ext uri="{FF2B5EF4-FFF2-40B4-BE49-F238E27FC236}">
                <a16:creationId xmlns:a16="http://schemas.microsoft.com/office/drawing/2014/main" id="{8684B7B3-0647-404F-1B80-BD9C644C9B58}"/>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42068298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Tempo sugerido: 4 min</a:t>
            </a:r>
          </a:p>
          <a:p>
            <a:endParaRPr/>
          </a:p>
          <a:p>
            <a:r>
              <a:t>Compare somente os eixos técnicos da tabela. JavaScript não é uma versão de Java e não deriva semanticamente da plataforma Java. A semelhança histórica dos nomes e parte da sintaxe não altera a distinção entre padronização, sistema de tipos, modelo de objetos e ambientes de execução.</a:t>
            </a:r>
          </a:p>
          <a:p>
            <a:endParaRPr/>
          </a:p>
          <a:p>
            <a:r>
              <a:t>[Sources]</a:t>
            </a:r>
          </a:p>
          <a:p>
            <a:r>
              <a:t>- FLANAGAN, D. JavaScript: O Guia Definitivo. 6. ed. Capítulo 1, pp. 1-2.</a:t>
            </a:r>
          </a:p>
          <a:p>
            <a:r>
              <a:t>- JANDL JUNIOR, P. Java: Guia do Programador. 4. ed. Novatec, 2021.</a:t>
            </a:r>
          </a:p>
          <a:p>
            <a:r>
              <a:t>- Identidade visual e logotipo: Aula_03_Abstracao_Paradigmas_JVM_Unichristus.pptx, apresentação-base da disciplina.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B13624-390B-5E35-96A8-BE97AD1F90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C7899D-FEC2-F40E-EDDD-FD8A8D4ABF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F12FAA-3F20-738B-3A2C-79569184D472}"/>
              </a:ext>
            </a:extLst>
          </p:cNvPr>
          <p:cNvSpPr>
            <a:spLocks noGrp="1"/>
          </p:cNvSpPr>
          <p:nvPr>
            <p:ph type="body" idx="1"/>
          </p:nvPr>
        </p:nvSpPr>
        <p:spPr/>
        <p:txBody>
          <a:bodyPr/>
          <a:lstStyle/>
          <a:p>
            <a:r>
              <a:t>Tempo sugerido: 4 min</a:t>
            </a:r>
          </a:p>
          <a:p>
            <a:endParaRPr/>
          </a:p>
          <a:p>
            <a:r>
              <a:t>Compare somente os eixos técnicos da tabela. JavaScript não é uma versão de Java e não deriva semanticamente da plataforma Java. A semelhança histórica dos nomes e parte da sintaxe não altera a distinção entre padronização, sistema de tipos, modelo de objetos e ambientes de execução.</a:t>
            </a:r>
          </a:p>
          <a:p>
            <a:endParaRPr/>
          </a:p>
          <a:p>
            <a:r>
              <a:t>[Sources]</a:t>
            </a:r>
          </a:p>
          <a:p>
            <a:r>
              <a:t>- FLANAGAN, D. JavaScript: O Guia Definitivo. 6. ed. Capítulo 1, pp. 1-2.</a:t>
            </a:r>
          </a:p>
          <a:p>
            <a:r>
              <a:t>- JANDL JUNIOR, P. Java: Guia do Programador. 4. ed. Novatec, 2021.</a:t>
            </a:r>
          </a:p>
          <a:p>
            <a:r>
              <a:t>- Identidade visual e logotipo: Aula_03_Abstracao_Paradigmas_JVM_Unichristus.pptx, apresentação-base da disciplina.</a:t>
            </a:r>
          </a:p>
        </p:txBody>
      </p:sp>
      <p:sp>
        <p:nvSpPr>
          <p:cNvPr id="4" name="Slide Number Placeholder 3">
            <a:extLst>
              <a:ext uri="{FF2B5EF4-FFF2-40B4-BE49-F238E27FC236}">
                <a16:creationId xmlns:a16="http://schemas.microsoft.com/office/drawing/2014/main" id="{0C1512B4-03DC-BDEA-D33B-EF7E31539F17}"/>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2515431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0B660A-B8A9-9CAB-7CED-2DD3F0A165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4747F5-4484-F0B7-E089-89684177C7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A1A687-8FCE-A43C-6979-E75EDD84CE76}"/>
              </a:ext>
            </a:extLst>
          </p:cNvPr>
          <p:cNvSpPr>
            <a:spLocks noGrp="1"/>
          </p:cNvSpPr>
          <p:nvPr>
            <p:ph type="body" idx="1"/>
          </p:nvPr>
        </p:nvSpPr>
        <p:spPr/>
        <p:txBody>
          <a:bodyPr/>
          <a:lstStyle/>
          <a:p>
            <a:r>
              <a:t>Tempo sugerido: 4 min</a:t>
            </a:r>
          </a:p>
          <a:p>
            <a:endParaRPr/>
          </a:p>
          <a:p>
            <a:r>
              <a:t>Compare somente os eixos técnicos da tabela. JavaScript não é uma versão de Java e não deriva semanticamente da plataforma Java. A semelhança histórica dos nomes e parte da sintaxe não altera a distinção entre padronização, sistema de tipos, modelo de objetos e ambientes de execução.</a:t>
            </a:r>
          </a:p>
          <a:p>
            <a:endParaRPr/>
          </a:p>
          <a:p>
            <a:r>
              <a:t>[Sources]</a:t>
            </a:r>
          </a:p>
          <a:p>
            <a:r>
              <a:t>- FLANAGAN, D. JavaScript: O Guia Definitivo. 6. ed. Capítulo 1, pp. 1-2.</a:t>
            </a:r>
          </a:p>
          <a:p>
            <a:r>
              <a:t>- JANDL JUNIOR, P. Java: Guia do Programador. 4. ed. Novatec, 2021.</a:t>
            </a:r>
          </a:p>
          <a:p>
            <a:r>
              <a:t>- Identidade visual e logotipo: Aula_03_Abstracao_Paradigmas_JVM_Unichristus.pptx, apresentação-base da disciplina.</a:t>
            </a:r>
          </a:p>
        </p:txBody>
      </p:sp>
      <p:sp>
        <p:nvSpPr>
          <p:cNvPr id="4" name="Slide Number Placeholder 3">
            <a:extLst>
              <a:ext uri="{FF2B5EF4-FFF2-40B4-BE49-F238E27FC236}">
                <a16:creationId xmlns:a16="http://schemas.microsoft.com/office/drawing/2014/main" id="{C54799E6-51DB-23BF-6964-23C1D13EF1A3}"/>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5015423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37DB8C-4908-03AE-5ED3-9ABA043FEC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26AD9C-B862-61F4-5C7F-51CE47C719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F812B8-FA38-3A0C-4BBD-0BB17CD97A0D}"/>
              </a:ext>
            </a:extLst>
          </p:cNvPr>
          <p:cNvSpPr>
            <a:spLocks noGrp="1"/>
          </p:cNvSpPr>
          <p:nvPr>
            <p:ph type="body" idx="1"/>
          </p:nvPr>
        </p:nvSpPr>
        <p:spPr/>
        <p:txBody>
          <a:bodyPr/>
          <a:lstStyle/>
          <a:p>
            <a:r>
              <a:t>Tempo sugerido: 4 min</a:t>
            </a:r>
          </a:p>
          <a:p>
            <a:endParaRPr/>
          </a:p>
          <a:p>
            <a:r>
              <a:t>Compare somente os eixos técnicos da tabela. JavaScript não é uma versão de Java e não deriva semanticamente da plataforma Java. A semelhança histórica dos nomes e parte da sintaxe não altera a distinção entre padronização, sistema de tipos, modelo de objetos e ambientes de execução.</a:t>
            </a:r>
          </a:p>
          <a:p>
            <a:endParaRPr/>
          </a:p>
          <a:p>
            <a:r>
              <a:t>[Sources]</a:t>
            </a:r>
          </a:p>
          <a:p>
            <a:r>
              <a:t>- FLANAGAN, D. JavaScript: O Guia Definitivo. 6. ed. Capítulo 1, pp. 1-2.</a:t>
            </a:r>
          </a:p>
          <a:p>
            <a:r>
              <a:t>- JANDL JUNIOR, P. Java: Guia do Programador. 4. ed. Novatec, 2021.</a:t>
            </a:r>
          </a:p>
          <a:p>
            <a:r>
              <a:t>- Identidade visual e logotipo: Aula_03_Abstracao_Paradigmas_JVM_Unichristus.pptx, apresentação-base da disciplina.</a:t>
            </a:r>
          </a:p>
        </p:txBody>
      </p:sp>
      <p:sp>
        <p:nvSpPr>
          <p:cNvPr id="4" name="Slide Number Placeholder 3">
            <a:extLst>
              <a:ext uri="{FF2B5EF4-FFF2-40B4-BE49-F238E27FC236}">
                <a16:creationId xmlns:a16="http://schemas.microsoft.com/office/drawing/2014/main" id="{02FB2E98-488E-795C-20AE-66F404678FC0}"/>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9447930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04B382-87B1-F1E3-F8CB-07235364A1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EA444A-488B-F8CF-A8C2-BAF563014F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BA4243-E11D-B585-903D-55C0D1AC9C37}"/>
              </a:ext>
            </a:extLst>
          </p:cNvPr>
          <p:cNvSpPr>
            <a:spLocks noGrp="1"/>
          </p:cNvSpPr>
          <p:nvPr>
            <p:ph type="body" idx="1"/>
          </p:nvPr>
        </p:nvSpPr>
        <p:spPr/>
        <p:txBody>
          <a:bodyPr/>
          <a:lstStyle/>
          <a:p>
            <a:r>
              <a:t>Tempo sugerido: 4 min</a:t>
            </a:r>
          </a:p>
          <a:p>
            <a:endParaRPr/>
          </a:p>
          <a:p>
            <a:r>
              <a:t>Compare somente os eixos técnicos da tabela. JavaScript não é uma versão de Java e não deriva semanticamente da plataforma Java. A semelhança histórica dos nomes e parte da sintaxe não altera a distinção entre padronização, sistema de tipos, modelo de objetos e ambientes de execução.</a:t>
            </a:r>
          </a:p>
          <a:p>
            <a:endParaRPr/>
          </a:p>
          <a:p>
            <a:r>
              <a:t>[Sources]</a:t>
            </a:r>
          </a:p>
          <a:p>
            <a:r>
              <a:t>- FLANAGAN, D. JavaScript: O Guia Definitivo. 6. ed. Capítulo 1, pp. 1-2.</a:t>
            </a:r>
          </a:p>
          <a:p>
            <a:r>
              <a:t>- JANDL JUNIOR, P. Java: Guia do Programador. 4. ed. Novatec, 2021.</a:t>
            </a:r>
          </a:p>
          <a:p>
            <a:r>
              <a:t>- Identidade visual e logotipo: Aula_03_Abstracao_Paradigmas_JVM_Unichristus.pptx, apresentação-base da disciplina.</a:t>
            </a:r>
          </a:p>
        </p:txBody>
      </p:sp>
      <p:sp>
        <p:nvSpPr>
          <p:cNvPr id="4" name="Slide Number Placeholder 3">
            <a:extLst>
              <a:ext uri="{FF2B5EF4-FFF2-40B4-BE49-F238E27FC236}">
                <a16:creationId xmlns:a16="http://schemas.microsoft.com/office/drawing/2014/main" id="{32C70529-B9A9-EB7D-F81A-EEEF2BFFDA9C}"/>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37535390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750A69-3FB4-0508-9892-7F6AD57AB4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A155A6-9B98-89C5-EEF9-4DD4969EC8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6A8F91-1422-3194-ECF3-75946714DFF5}"/>
              </a:ext>
            </a:extLst>
          </p:cNvPr>
          <p:cNvSpPr>
            <a:spLocks noGrp="1"/>
          </p:cNvSpPr>
          <p:nvPr>
            <p:ph type="body" idx="1"/>
          </p:nvPr>
        </p:nvSpPr>
        <p:spPr/>
        <p:txBody>
          <a:bodyPr/>
          <a:lstStyle/>
          <a:p>
            <a:r>
              <a:t>Tempo sugerido: 4 min</a:t>
            </a:r>
          </a:p>
          <a:p>
            <a:endParaRPr/>
          </a:p>
          <a:p>
            <a:r>
              <a:t>Compare somente os eixos técnicos da tabela. JavaScript não é uma versão de Java e não deriva semanticamente da plataforma Java. A semelhança histórica dos nomes e parte da sintaxe não altera a distinção entre padronização, sistema de tipos, modelo de objetos e ambientes de execução.</a:t>
            </a:r>
          </a:p>
          <a:p>
            <a:endParaRPr/>
          </a:p>
          <a:p>
            <a:r>
              <a:t>[Sources]</a:t>
            </a:r>
          </a:p>
          <a:p>
            <a:r>
              <a:t>- FLANAGAN, D. JavaScript: O Guia Definitivo. 6. ed. Capítulo 1, pp. 1-2.</a:t>
            </a:r>
          </a:p>
          <a:p>
            <a:r>
              <a:t>- JANDL JUNIOR, P. Java: Guia do Programador. 4. ed. Novatec, 2021.</a:t>
            </a:r>
          </a:p>
          <a:p>
            <a:r>
              <a:t>- Identidade visual e logotipo: Aula_03_Abstracao_Paradigmas_JVM_Unichristus.pptx, apresentação-base da disciplina.</a:t>
            </a:r>
          </a:p>
        </p:txBody>
      </p:sp>
      <p:sp>
        <p:nvSpPr>
          <p:cNvPr id="4" name="Slide Number Placeholder 3">
            <a:extLst>
              <a:ext uri="{FF2B5EF4-FFF2-40B4-BE49-F238E27FC236}">
                <a16:creationId xmlns:a16="http://schemas.microsoft.com/office/drawing/2014/main" id="{7C33BF9E-DDFD-D2C2-2F0A-784FABB3864E}"/>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2934044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63B738-7275-9DC7-E6E0-7CC1AACA9D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3AECF1-B4FD-A4ED-9A5A-A916913C1B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5C68C4-3866-94D1-68CB-589B00478F4F}"/>
              </a:ext>
            </a:extLst>
          </p:cNvPr>
          <p:cNvSpPr>
            <a:spLocks noGrp="1"/>
          </p:cNvSpPr>
          <p:nvPr>
            <p:ph type="body" idx="1"/>
          </p:nvPr>
        </p:nvSpPr>
        <p:spPr/>
        <p:txBody>
          <a:bodyPr/>
          <a:lstStyle/>
          <a:p>
            <a:r>
              <a:t>Tempo sugerido: 4 min</a:t>
            </a:r>
          </a:p>
          <a:p>
            <a:endParaRPr/>
          </a:p>
          <a:p>
            <a:r>
              <a:t>Compare somente os eixos técnicos da tabela. JavaScript não é uma versão de Java e não deriva semanticamente da plataforma Java. A semelhança histórica dos nomes e parte da sintaxe não altera a distinção entre padronização, sistema de tipos, modelo de objetos e ambientes de execução.</a:t>
            </a:r>
          </a:p>
          <a:p>
            <a:endParaRPr/>
          </a:p>
          <a:p>
            <a:r>
              <a:t>[Sources]</a:t>
            </a:r>
          </a:p>
          <a:p>
            <a:r>
              <a:t>- FLANAGAN, D. JavaScript: O Guia Definitivo. 6. ed. Capítulo 1, pp. 1-2.</a:t>
            </a:r>
          </a:p>
          <a:p>
            <a:r>
              <a:t>- JANDL JUNIOR, P. Java: Guia do Programador. 4. ed. Novatec, 2021.</a:t>
            </a:r>
          </a:p>
          <a:p>
            <a:r>
              <a:t>- Identidade visual e logotipo: Aula_03_Abstracao_Paradigmas_JVM_Unichristus.pptx, apresentação-base da disciplina.</a:t>
            </a:r>
          </a:p>
        </p:txBody>
      </p:sp>
      <p:sp>
        <p:nvSpPr>
          <p:cNvPr id="4" name="Slide Number Placeholder 3">
            <a:extLst>
              <a:ext uri="{FF2B5EF4-FFF2-40B4-BE49-F238E27FC236}">
                <a16:creationId xmlns:a16="http://schemas.microsoft.com/office/drawing/2014/main" id="{5B5E23AA-1792-DDA9-47B3-C4B4B14DAE3A}"/>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53560410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D6F0F-D831-B9FB-F1A7-9C4F30AAB0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D8428E-02E7-F60A-BAE2-5F9CDBFEC4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567BF8-9F1D-4AA3-7FB6-ACE885CC63DE}"/>
              </a:ext>
            </a:extLst>
          </p:cNvPr>
          <p:cNvSpPr>
            <a:spLocks noGrp="1"/>
          </p:cNvSpPr>
          <p:nvPr>
            <p:ph type="body" idx="1"/>
          </p:nvPr>
        </p:nvSpPr>
        <p:spPr/>
        <p:txBody>
          <a:bodyPr/>
          <a:lstStyle/>
          <a:p>
            <a:r>
              <a:t>Tempo sugerido: 4 min</a:t>
            </a:r>
          </a:p>
          <a:p>
            <a:endParaRPr/>
          </a:p>
          <a:p>
            <a:r>
              <a:t>Compare somente os eixos técnicos da tabela. JavaScript não é uma versão de Java e não deriva semanticamente da plataforma Java. A semelhança histórica dos nomes e parte da sintaxe não altera a distinção entre padronização, sistema de tipos, modelo de objetos e ambientes de execução.</a:t>
            </a:r>
          </a:p>
          <a:p>
            <a:endParaRPr/>
          </a:p>
          <a:p>
            <a:r>
              <a:t>[Sources]</a:t>
            </a:r>
          </a:p>
          <a:p>
            <a:r>
              <a:t>- FLANAGAN, D. JavaScript: O Guia Definitivo. 6. ed. Capítulo 1, pp. 1-2.</a:t>
            </a:r>
          </a:p>
          <a:p>
            <a:r>
              <a:t>- JANDL JUNIOR, P. Java: Guia do Programador. 4. ed. Novatec, 2021.</a:t>
            </a:r>
          </a:p>
          <a:p>
            <a:r>
              <a:t>- Identidade visual e logotipo: Aula_03_Abstracao_Paradigmas_JVM_Unichristus.pptx, apresentação-base da disciplina.</a:t>
            </a:r>
          </a:p>
        </p:txBody>
      </p:sp>
      <p:sp>
        <p:nvSpPr>
          <p:cNvPr id="4" name="Slide Number Placeholder 3">
            <a:extLst>
              <a:ext uri="{FF2B5EF4-FFF2-40B4-BE49-F238E27FC236}">
                <a16:creationId xmlns:a16="http://schemas.microsoft.com/office/drawing/2014/main" id="{92C0777C-CA18-79FA-A050-D70BFB7184BF}"/>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41865850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5761CF-7826-9454-2447-65ED88F958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5714A5-268D-79A8-877D-9DA590A1E1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E1587F-C22B-09BE-E0A2-A574CFAA9F16}"/>
              </a:ext>
            </a:extLst>
          </p:cNvPr>
          <p:cNvSpPr>
            <a:spLocks noGrp="1"/>
          </p:cNvSpPr>
          <p:nvPr>
            <p:ph type="body" idx="1"/>
          </p:nvPr>
        </p:nvSpPr>
        <p:spPr/>
        <p:txBody>
          <a:bodyPr/>
          <a:lstStyle/>
          <a:p>
            <a:r>
              <a:t>Tempo sugerido: 4 min</a:t>
            </a:r>
          </a:p>
          <a:p>
            <a:endParaRPr/>
          </a:p>
          <a:p>
            <a:r>
              <a:t>Compare somente os eixos técnicos da tabela. JavaScript não é uma versão de Java e não deriva semanticamente da plataforma Java. A semelhança histórica dos nomes e parte da sintaxe não altera a distinção entre padronização, sistema de tipos, modelo de objetos e ambientes de execução.</a:t>
            </a:r>
          </a:p>
          <a:p>
            <a:endParaRPr/>
          </a:p>
          <a:p>
            <a:r>
              <a:t>[Sources]</a:t>
            </a:r>
          </a:p>
          <a:p>
            <a:r>
              <a:t>- FLANAGAN, D. JavaScript: O Guia Definitivo. 6. ed. Capítulo 1, pp. 1-2.</a:t>
            </a:r>
          </a:p>
          <a:p>
            <a:r>
              <a:t>- JANDL JUNIOR, P. Java: Guia do Programador. 4. ed. Novatec, 2021.</a:t>
            </a:r>
          </a:p>
          <a:p>
            <a:r>
              <a:t>- Identidade visual e logotipo: Aula_03_Abstracao_Paradigmas_JVM_Unichristus.pptx, apresentação-base da disciplina.</a:t>
            </a:r>
          </a:p>
        </p:txBody>
      </p:sp>
      <p:sp>
        <p:nvSpPr>
          <p:cNvPr id="4" name="Slide Number Placeholder 3">
            <a:extLst>
              <a:ext uri="{FF2B5EF4-FFF2-40B4-BE49-F238E27FC236}">
                <a16:creationId xmlns:a16="http://schemas.microsoft.com/office/drawing/2014/main" id="{864326EF-6B9B-D830-47C1-75EE157C6C9F}"/>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28471801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389CE9-3ED1-19DC-F193-858510C888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F6F425-C586-5F8C-E897-65BFFD2726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828A66-B12C-6585-FDB9-DC64843F4F97}"/>
              </a:ext>
            </a:extLst>
          </p:cNvPr>
          <p:cNvSpPr>
            <a:spLocks noGrp="1"/>
          </p:cNvSpPr>
          <p:nvPr>
            <p:ph type="body" idx="1"/>
          </p:nvPr>
        </p:nvSpPr>
        <p:spPr/>
        <p:txBody>
          <a:bodyPr/>
          <a:lstStyle/>
          <a:p>
            <a:r>
              <a:t>Tempo sugerido: 4 min</a:t>
            </a:r>
          </a:p>
          <a:p>
            <a:endParaRPr/>
          </a:p>
          <a:p>
            <a:r>
              <a:t>Compare somente os eixos técnicos da tabela. JavaScript não é uma versão de Java e não deriva semanticamente da plataforma Java. A semelhança histórica dos nomes e parte da sintaxe não altera a distinção entre padronização, sistema de tipos, modelo de objetos e ambientes de execução.</a:t>
            </a:r>
          </a:p>
          <a:p>
            <a:endParaRPr/>
          </a:p>
          <a:p>
            <a:r>
              <a:t>[Sources]</a:t>
            </a:r>
          </a:p>
          <a:p>
            <a:r>
              <a:t>- FLANAGAN, D. JavaScript: O Guia Definitivo. 6. ed. Capítulo 1, pp. 1-2.</a:t>
            </a:r>
          </a:p>
          <a:p>
            <a:r>
              <a:t>- JANDL JUNIOR, P. Java: Guia do Programador. 4. ed. Novatec, 2021.</a:t>
            </a:r>
          </a:p>
          <a:p>
            <a:r>
              <a:t>- Identidade visual e logotipo: Aula_03_Abstracao_Paradigmas_JVM_Unichristus.pptx, apresentação-base da disciplina.</a:t>
            </a:r>
          </a:p>
        </p:txBody>
      </p:sp>
      <p:sp>
        <p:nvSpPr>
          <p:cNvPr id="4" name="Slide Number Placeholder 3">
            <a:extLst>
              <a:ext uri="{FF2B5EF4-FFF2-40B4-BE49-F238E27FC236}">
                <a16:creationId xmlns:a16="http://schemas.microsoft.com/office/drawing/2014/main" id="{7FF805DA-5D63-C227-5FEE-ABA3E443E623}"/>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06098508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CEFC87-386E-464D-2342-75C5E74902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2EE850-8373-BEA7-BB60-BB766E2CE1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753737-5208-D9C9-72C9-5CB12D5E343F}"/>
              </a:ext>
            </a:extLst>
          </p:cNvPr>
          <p:cNvSpPr>
            <a:spLocks noGrp="1"/>
          </p:cNvSpPr>
          <p:nvPr>
            <p:ph type="body" idx="1"/>
          </p:nvPr>
        </p:nvSpPr>
        <p:spPr/>
        <p:txBody>
          <a:bodyPr/>
          <a:lstStyle/>
          <a:p>
            <a:r>
              <a:t>Tempo sugerido: 4 min</a:t>
            </a:r>
          </a:p>
          <a:p>
            <a:endParaRPr/>
          </a:p>
          <a:p>
            <a:r>
              <a:t>Compare somente os eixos técnicos da tabela. JavaScript não é uma versão de Java e não deriva semanticamente da plataforma Java. A semelhança histórica dos nomes e parte da sintaxe não altera a distinção entre padronização, sistema de tipos, modelo de objetos e ambientes de execução.</a:t>
            </a:r>
          </a:p>
          <a:p>
            <a:endParaRPr/>
          </a:p>
          <a:p>
            <a:r>
              <a:t>[Sources]</a:t>
            </a:r>
          </a:p>
          <a:p>
            <a:r>
              <a:t>- FLANAGAN, D. JavaScript: O Guia Definitivo. 6. ed. Capítulo 1, pp. 1-2.</a:t>
            </a:r>
          </a:p>
          <a:p>
            <a:r>
              <a:t>- JANDL JUNIOR, P. Java: Guia do Programador. 4. ed. Novatec, 2021.</a:t>
            </a:r>
          </a:p>
          <a:p>
            <a:r>
              <a:t>- Identidade visual e logotipo: Aula_03_Abstracao_Paradigmas_JVM_Unichristus.pptx, apresentação-base da disciplina.</a:t>
            </a:r>
          </a:p>
        </p:txBody>
      </p:sp>
      <p:sp>
        <p:nvSpPr>
          <p:cNvPr id="4" name="Slide Number Placeholder 3">
            <a:extLst>
              <a:ext uri="{FF2B5EF4-FFF2-40B4-BE49-F238E27FC236}">
                <a16:creationId xmlns:a16="http://schemas.microsoft.com/office/drawing/2014/main" id="{1EA0EC41-7113-54F9-AE2D-F437D4CC3D1F}"/>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6063512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Tempo </a:t>
            </a:r>
            <a:r>
              <a:rPr dirty="0" err="1"/>
              <a:t>sugerido</a:t>
            </a:r>
            <a:r>
              <a:rPr dirty="0"/>
              <a:t>: 4 min</a:t>
            </a:r>
          </a:p>
          <a:p>
            <a:endParaRPr dirty="0"/>
          </a:p>
          <a:p>
            <a:r>
              <a:rPr dirty="0"/>
              <a:t>Leia a </a:t>
            </a:r>
            <a:r>
              <a:rPr dirty="0" err="1"/>
              <a:t>figura</a:t>
            </a:r>
            <a:r>
              <a:rPr dirty="0"/>
              <a:t> da </a:t>
            </a:r>
            <a:r>
              <a:rPr dirty="0" err="1"/>
              <a:t>esquerda</a:t>
            </a:r>
            <a:r>
              <a:rPr dirty="0"/>
              <a:t> para a </a:t>
            </a:r>
            <a:r>
              <a:rPr dirty="0" err="1"/>
              <a:t>direita</a:t>
            </a:r>
            <a:r>
              <a:rPr dirty="0"/>
              <a:t>. MeuProg.java é o </a:t>
            </a:r>
            <a:r>
              <a:rPr dirty="0" err="1"/>
              <a:t>arquivo-fonte</a:t>
            </a:r>
            <a:r>
              <a:rPr dirty="0"/>
              <a:t>; </a:t>
            </a:r>
            <a:r>
              <a:rPr dirty="0" err="1"/>
              <a:t>javac</a:t>
            </a:r>
            <a:r>
              <a:rPr dirty="0"/>
              <a:t> </a:t>
            </a:r>
            <a:r>
              <a:rPr dirty="0" err="1"/>
              <a:t>produz</a:t>
            </a:r>
            <a:r>
              <a:rPr dirty="0"/>
              <a:t> </a:t>
            </a:r>
            <a:r>
              <a:rPr dirty="0" err="1"/>
              <a:t>MeuProg.class</a:t>
            </a:r>
            <a:r>
              <a:rPr dirty="0"/>
              <a:t>; a JVM </a:t>
            </a:r>
            <a:r>
              <a:rPr dirty="0" err="1"/>
              <a:t>carrega</a:t>
            </a:r>
            <a:r>
              <a:rPr dirty="0"/>
              <a:t> e </a:t>
            </a:r>
            <a:r>
              <a:rPr dirty="0" err="1"/>
              <a:t>executa</a:t>
            </a:r>
            <a:r>
              <a:rPr dirty="0"/>
              <a:t> o </a:t>
            </a:r>
            <a:r>
              <a:rPr dirty="0" err="1"/>
              <a:t>arquivo</a:t>
            </a:r>
            <a:r>
              <a:rPr dirty="0"/>
              <a:t> de </a:t>
            </a:r>
            <a:r>
              <a:rPr dirty="0" err="1"/>
              <a:t>classe</a:t>
            </a:r>
            <a:r>
              <a:rPr dirty="0"/>
              <a:t>; o </a:t>
            </a:r>
            <a:r>
              <a:rPr dirty="0" err="1"/>
              <a:t>processador</a:t>
            </a:r>
            <a:r>
              <a:rPr dirty="0"/>
              <a:t> </a:t>
            </a:r>
            <a:r>
              <a:rPr dirty="0" err="1"/>
              <a:t>recebe</a:t>
            </a:r>
            <a:r>
              <a:rPr dirty="0"/>
              <a:t> </a:t>
            </a:r>
            <a:r>
              <a:rPr dirty="0" err="1"/>
              <a:t>código</a:t>
            </a:r>
            <a:r>
              <a:rPr dirty="0"/>
              <a:t> </a:t>
            </a:r>
            <a:r>
              <a:rPr dirty="0" err="1"/>
              <a:t>nativo</a:t>
            </a:r>
            <a:r>
              <a:rPr dirty="0"/>
              <a:t>. A </a:t>
            </a:r>
            <a:r>
              <a:rPr dirty="0" err="1"/>
              <a:t>figura</a:t>
            </a:r>
            <a:r>
              <a:rPr dirty="0"/>
              <a:t> é </a:t>
            </a:r>
            <a:r>
              <a:rPr dirty="0" err="1"/>
              <a:t>histórica</a:t>
            </a:r>
            <a:r>
              <a:rPr dirty="0"/>
              <a:t> e </a:t>
            </a:r>
            <a:r>
              <a:rPr dirty="0" err="1"/>
              <a:t>simplifica</a:t>
            </a:r>
            <a:r>
              <a:rPr dirty="0"/>
              <a:t> </a:t>
            </a:r>
            <a:r>
              <a:rPr dirty="0" err="1"/>
              <a:t>etapas</a:t>
            </a:r>
            <a:r>
              <a:rPr dirty="0"/>
              <a:t> </a:t>
            </a:r>
            <a:r>
              <a:rPr dirty="0" err="1"/>
              <a:t>internas</a:t>
            </a:r>
            <a:r>
              <a:rPr dirty="0"/>
              <a:t>, mas </a:t>
            </a:r>
            <a:r>
              <a:rPr dirty="0" err="1"/>
              <a:t>representa</a:t>
            </a:r>
            <a:r>
              <a:rPr dirty="0"/>
              <a:t> </a:t>
            </a:r>
            <a:r>
              <a:rPr dirty="0" err="1"/>
              <a:t>corretamente</a:t>
            </a:r>
            <a:r>
              <a:rPr dirty="0"/>
              <a:t> o </a:t>
            </a:r>
            <a:r>
              <a:rPr dirty="0" err="1"/>
              <a:t>ciclo</a:t>
            </a:r>
            <a:r>
              <a:rPr dirty="0"/>
              <a:t> </a:t>
            </a:r>
            <a:r>
              <a:rPr dirty="0" err="1"/>
              <a:t>didático</a:t>
            </a:r>
            <a:r>
              <a:rPr dirty="0"/>
              <a:t> </a:t>
            </a:r>
            <a:r>
              <a:rPr dirty="0" err="1"/>
              <a:t>usado</a:t>
            </a:r>
            <a:r>
              <a:rPr dirty="0"/>
              <a:t> </a:t>
            </a:r>
            <a:r>
              <a:rPr dirty="0" err="1"/>
              <a:t>na</a:t>
            </a:r>
            <a:r>
              <a:rPr dirty="0"/>
              <a:t> aula.</a:t>
            </a:r>
          </a:p>
          <a:p>
            <a:endParaRPr dirty="0"/>
          </a:p>
          <a:p>
            <a:r>
              <a:rPr dirty="0"/>
              <a:t>[Sources]</a:t>
            </a:r>
          </a:p>
          <a:p>
            <a:r>
              <a:rPr dirty="0"/>
              <a:t>- ASCENCIO, A. F. G.; CAMPOS, E. A. V. </a:t>
            </a:r>
            <a:r>
              <a:rPr dirty="0" err="1"/>
              <a:t>Fundamentos</a:t>
            </a:r>
            <a:r>
              <a:rPr dirty="0"/>
              <a:t> da </a:t>
            </a:r>
            <a:r>
              <a:rPr dirty="0" err="1"/>
              <a:t>programação</a:t>
            </a:r>
            <a:r>
              <a:rPr dirty="0"/>
              <a:t> de </a:t>
            </a:r>
            <a:r>
              <a:rPr dirty="0" err="1"/>
              <a:t>computadores</a:t>
            </a:r>
            <a:r>
              <a:rPr dirty="0"/>
              <a:t>. 3. ed. Pearson, 2012. </a:t>
            </a:r>
            <a:r>
              <a:rPr dirty="0" err="1"/>
              <a:t>Figura</a:t>
            </a:r>
            <a:r>
              <a:rPr dirty="0"/>
              <a:t> 1.1, p. 11.</a:t>
            </a:r>
          </a:p>
          <a:p>
            <a:r>
              <a:rPr dirty="0"/>
              <a:t>- </a:t>
            </a:r>
            <a:r>
              <a:rPr dirty="0" err="1"/>
              <a:t>Identidade</a:t>
            </a:r>
            <a:r>
              <a:rPr dirty="0"/>
              <a:t> visual e </a:t>
            </a:r>
            <a:r>
              <a:rPr dirty="0" err="1"/>
              <a:t>logotipo</a:t>
            </a:r>
            <a:r>
              <a:rPr dirty="0"/>
              <a:t>: Aula_03_Abstracao_Paradigmas_JVM_Unichristus.pptx, </a:t>
            </a:r>
            <a:r>
              <a:rPr dirty="0" err="1"/>
              <a:t>apresentação</a:t>
            </a:r>
            <a:r>
              <a:rPr dirty="0"/>
              <a:t>-base da </a:t>
            </a:r>
            <a:r>
              <a:rPr dirty="0" err="1"/>
              <a:t>disciplina</a:t>
            </a:r>
            <a:r>
              <a:rPr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5.emf"/></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16.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Retângulo 7">
            <a:extLst>
              <a:ext uri="{FF2B5EF4-FFF2-40B4-BE49-F238E27FC236}">
                <a16:creationId xmlns:a16="http://schemas.microsoft.com/office/drawing/2014/main" id="{55E09F77-A77B-44E2-AD9F-67EF1CCD9292}"/>
              </a:ext>
            </a:extLst>
          </p:cNvPr>
          <p:cNvSpPr>
            <a:spLocks noGrp="1"/>
          </p:cNvSpPr>
          <p:nvPr/>
        </p:nvSpPr>
        <p:spPr>
          <a:xfrm>
            <a:off x="0" y="0"/>
            <a:ext cx="266700" cy="6858000"/>
          </a:xfrm>
          <a:prstGeom prst="rect">
            <a:avLst/>
          </a:prstGeom>
          <a:solidFill>
            <a:srgbClr val="1565C0"/>
          </a:solidFill>
          <a:ln w="0">
            <a:noFill/>
            <a:prstDash val="solid"/>
          </a:ln>
        </p:spPr>
        <p:txBody>
          <a:bodyPr/>
          <a:lstStyle/>
          <a:p>
            <a:endParaRPr/>
          </a:p>
        </p:txBody>
      </p:sp>
      <p:sp>
        <p:nvSpPr>
          <p:cNvPr id="2" name="Retângulo 1">
            <a:extLst>
              <a:ext uri="{FF2B5EF4-FFF2-40B4-BE49-F238E27FC236}">
                <a16:creationId xmlns:a16="http://schemas.microsoft.com/office/drawing/2014/main" id="{AEBE2B04-8187-407E-85E9-8FFDD4E0A743}"/>
              </a:ext>
            </a:extLst>
          </p:cNvPr>
          <p:cNvSpPr>
            <a:spLocks noGrp="1"/>
          </p:cNvSpPr>
          <p:nvPr/>
        </p:nvSpPr>
        <p:spPr>
          <a:xfrm>
            <a:off x="8382000" y="0"/>
            <a:ext cx="3810000" cy="6858000"/>
          </a:xfrm>
          <a:prstGeom prst="rect">
            <a:avLst/>
          </a:prstGeom>
          <a:solidFill>
            <a:srgbClr val="E8F4FA"/>
          </a:solidFill>
          <a:ln w="0">
            <a:noFill/>
            <a:prstDash val="solid"/>
          </a:ln>
        </p:spPr>
        <p:txBody>
          <a:bodyPr/>
          <a:lstStyle/>
          <a:p>
            <a:endParaRPr/>
          </a:p>
        </p:txBody>
      </p:sp>
      <p:sp>
        <p:nvSpPr>
          <p:cNvPr id="3" name="Retângulo 2">
            <a:extLst>
              <a:ext uri="{FF2B5EF4-FFF2-40B4-BE49-F238E27FC236}">
                <a16:creationId xmlns:a16="http://schemas.microsoft.com/office/drawing/2014/main" id="{323ADCE1-B7FD-4FAD-BC88-0A64E8C84FF7}"/>
              </a:ext>
            </a:extLst>
          </p:cNvPr>
          <p:cNvSpPr>
            <a:spLocks noGrp="1"/>
          </p:cNvSpPr>
          <p:nvPr/>
        </p:nvSpPr>
        <p:spPr>
          <a:xfrm>
            <a:off x="552450" y="514350"/>
            <a:ext cx="5905500" cy="285750"/>
          </a:xfrm>
          <a:prstGeom prst="rect">
            <a:avLst/>
          </a:prstGeom>
          <a:noFill/>
          <a:ln w="0">
            <a:noFill/>
            <a:prstDash val="solid"/>
          </a:ln>
        </p:spPr>
        <p:txBody>
          <a:bodyPr lIns="0" tIns="0" rIns="0" bIns="0" anchor="ctr">
            <a:noAutofit/>
          </a:bodyPr>
          <a:lstStyle/>
          <a:p>
            <a:pPr algn="l">
              <a:buNone/>
              <a:defRPr sz="1800" b="1">
                <a:solidFill>
                  <a:srgbClr val="1565C0"/>
                </a:solidFill>
                <a:latin typeface="Arial"/>
                <a:ea typeface="Arial"/>
                <a:cs typeface="Arial"/>
              </a:defRPr>
            </a:pPr>
            <a:r>
              <a:rPr sz="1800" b="1">
                <a:solidFill>
                  <a:srgbClr val="1565C0"/>
                </a:solidFill>
                <a:latin typeface="Arial"/>
                <a:ea typeface="Arial"/>
                <a:cs typeface="Arial"/>
              </a:rPr>
              <a:t>PROGRAMAÇÃO ESTRUTURADA • AULA 4</a:t>
            </a:r>
          </a:p>
        </p:txBody>
      </p:sp>
      <p:sp>
        <p:nvSpPr>
          <p:cNvPr id="4" name="Retângulo 3">
            <a:extLst>
              <a:ext uri="{FF2B5EF4-FFF2-40B4-BE49-F238E27FC236}">
                <a16:creationId xmlns:a16="http://schemas.microsoft.com/office/drawing/2014/main" id="{0378C5BA-5034-4E0A-82C6-942D53EF34D4}"/>
              </a:ext>
            </a:extLst>
          </p:cNvPr>
          <p:cNvSpPr>
            <a:spLocks noGrp="1"/>
          </p:cNvSpPr>
          <p:nvPr/>
        </p:nvSpPr>
        <p:spPr>
          <a:xfrm>
            <a:off x="552450" y="1562100"/>
            <a:ext cx="7048500" cy="1562100"/>
          </a:xfrm>
          <a:prstGeom prst="rect">
            <a:avLst/>
          </a:prstGeom>
          <a:noFill/>
          <a:ln w="0">
            <a:noFill/>
            <a:prstDash val="solid"/>
          </a:ln>
        </p:spPr>
        <p:txBody>
          <a:bodyPr lIns="0" tIns="0" rIns="0" bIns="0" anchor="ctr">
            <a:noAutofit/>
          </a:bodyPr>
          <a:lstStyle/>
          <a:p>
            <a:pPr algn="l">
              <a:buNone/>
              <a:defRPr sz="5100" b="1">
                <a:solidFill>
                  <a:srgbClr val="10212B"/>
                </a:solidFill>
                <a:latin typeface="Arial"/>
                <a:ea typeface="Arial"/>
                <a:cs typeface="Arial"/>
              </a:defRPr>
            </a:pPr>
            <a:r>
              <a:rPr sz="5100" b="1">
                <a:solidFill>
                  <a:srgbClr val="10212B"/>
                </a:solidFill>
                <a:latin typeface="Arial"/>
                <a:ea typeface="Arial"/>
                <a:cs typeface="Arial"/>
              </a:rPr>
              <a:t>Java: histórico, ambiente</a:t>
            </a:r>
          </a:p>
          <a:p>
            <a:pPr algn="l">
              <a:buNone/>
              <a:defRPr sz="5100" b="1">
                <a:solidFill>
                  <a:srgbClr val="10212B"/>
                </a:solidFill>
                <a:latin typeface="Arial"/>
                <a:ea typeface="Arial"/>
                <a:cs typeface="Arial"/>
              </a:defRPr>
            </a:pPr>
            <a:r>
              <a:rPr sz="5100" b="1">
                <a:solidFill>
                  <a:srgbClr val="10212B"/>
                </a:solidFill>
                <a:latin typeface="Arial"/>
                <a:ea typeface="Arial"/>
                <a:cs typeface="Arial"/>
              </a:rPr>
              <a:t>e primeiro programa</a:t>
            </a:r>
          </a:p>
        </p:txBody>
      </p:sp>
      <p:sp>
        <p:nvSpPr>
          <p:cNvPr id="5" name="Retângulo 4">
            <a:extLst>
              <a:ext uri="{FF2B5EF4-FFF2-40B4-BE49-F238E27FC236}">
                <a16:creationId xmlns:a16="http://schemas.microsoft.com/office/drawing/2014/main" id="{AE1D427F-5806-4324-A23E-6A3DEE6203D5}"/>
              </a:ext>
            </a:extLst>
          </p:cNvPr>
          <p:cNvSpPr>
            <a:spLocks noGrp="1"/>
          </p:cNvSpPr>
          <p:nvPr/>
        </p:nvSpPr>
        <p:spPr>
          <a:xfrm>
            <a:off x="552450" y="3476625"/>
            <a:ext cx="7239000" cy="666750"/>
          </a:xfrm>
          <a:prstGeom prst="rect">
            <a:avLst/>
          </a:prstGeom>
          <a:noFill/>
          <a:ln w="0">
            <a:noFill/>
            <a:prstDash val="solid"/>
          </a:ln>
        </p:spPr>
        <p:txBody>
          <a:bodyPr lIns="0" tIns="0" rIns="0" bIns="0" anchor="ctr">
            <a:noAutofit/>
          </a:bodyPr>
          <a:lstStyle/>
          <a:p>
            <a:pPr algn="l">
              <a:buNone/>
              <a:defRPr sz="2025" b="0">
                <a:solidFill>
                  <a:srgbClr val="5F6B72"/>
                </a:solidFill>
                <a:latin typeface="Arial"/>
                <a:ea typeface="Arial"/>
                <a:cs typeface="Arial"/>
              </a:defRPr>
            </a:pPr>
            <a:r>
              <a:rPr sz="2025" b="0" dirty="0" err="1">
                <a:solidFill>
                  <a:srgbClr val="5F6B72"/>
                </a:solidFill>
                <a:latin typeface="Arial"/>
                <a:ea typeface="Arial"/>
                <a:cs typeface="Arial"/>
              </a:rPr>
              <a:t>Linguagem</a:t>
            </a:r>
            <a:r>
              <a:rPr sz="2025" b="0" dirty="0">
                <a:solidFill>
                  <a:srgbClr val="5F6B72"/>
                </a:solidFill>
                <a:latin typeface="Arial"/>
                <a:ea typeface="Arial"/>
                <a:cs typeface="Arial"/>
              </a:rPr>
              <a:t> e </a:t>
            </a:r>
            <a:r>
              <a:rPr sz="2025" b="0" dirty="0" err="1">
                <a:solidFill>
                  <a:srgbClr val="5F6B72"/>
                </a:solidFill>
                <a:latin typeface="Arial"/>
                <a:ea typeface="Arial"/>
                <a:cs typeface="Arial"/>
              </a:rPr>
              <a:t>plataforma</a:t>
            </a:r>
            <a:r>
              <a:rPr sz="2025" b="0" dirty="0">
                <a:solidFill>
                  <a:srgbClr val="5F6B72"/>
                </a:solidFill>
                <a:latin typeface="Arial"/>
                <a:ea typeface="Arial"/>
                <a:cs typeface="Arial"/>
              </a:rPr>
              <a:t> • </a:t>
            </a:r>
            <a:r>
              <a:rPr sz="2025" b="0" dirty="0" err="1">
                <a:solidFill>
                  <a:srgbClr val="5F6B72"/>
                </a:solidFill>
                <a:latin typeface="Arial"/>
                <a:ea typeface="Arial"/>
                <a:cs typeface="Arial"/>
              </a:rPr>
              <a:t>compilação</a:t>
            </a:r>
            <a:r>
              <a:rPr sz="2025" b="0" dirty="0">
                <a:solidFill>
                  <a:srgbClr val="5F6B72"/>
                </a:solidFill>
                <a:latin typeface="Arial"/>
                <a:ea typeface="Arial"/>
                <a:cs typeface="Arial"/>
              </a:rPr>
              <a:t> e </a:t>
            </a:r>
            <a:r>
              <a:rPr sz="2025" b="0" dirty="0" err="1">
                <a:solidFill>
                  <a:srgbClr val="5F6B72"/>
                </a:solidFill>
                <a:latin typeface="Arial"/>
                <a:ea typeface="Arial"/>
                <a:cs typeface="Arial"/>
              </a:rPr>
              <a:t>execução</a:t>
            </a:r>
            <a:endParaRPr sz="2025" b="0" dirty="0">
              <a:solidFill>
                <a:srgbClr val="5F6B72"/>
              </a:solidFill>
              <a:latin typeface="Arial"/>
              <a:ea typeface="Arial"/>
              <a:cs typeface="Arial"/>
            </a:endParaRPr>
          </a:p>
        </p:txBody>
      </p:sp>
      <p:sp>
        <p:nvSpPr>
          <p:cNvPr id="6" name="Retângulo 5">
            <a:extLst>
              <a:ext uri="{FF2B5EF4-FFF2-40B4-BE49-F238E27FC236}">
                <a16:creationId xmlns:a16="http://schemas.microsoft.com/office/drawing/2014/main" id="{5C548D3F-12B9-4D5B-86D0-7FAF4E48A94C}"/>
              </a:ext>
            </a:extLst>
          </p:cNvPr>
          <p:cNvSpPr>
            <a:spLocks noGrp="1"/>
          </p:cNvSpPr>
          <p:nvPr/>
        </p:nvSpPr>
        <p:spPr>
          <a:xfrm>
            <a:off x="552450" y="5391150"/>
            <a:ext cx="4953000" cy="552450"/>
          </a:xfrm>
          <a:prstGeom prst="rect">
            <a:avLst/>
          </a:prstGeom>
          <a:noFill/>
          <a:ln w="0">
            <a:noFill/>
            <a:prstDash val="solid"/>
          </a:ln>
        </p:spPr>
        <p:txBody>
          <a:bodyPr lIns="0" tIns="0" rIns="0" bIns="0" anchor="ctr">
            <a:noAutofit/>
          </a:bodyPr>
          <a:lstStyle/>
          <a:p>
            <a:pPr algn="l">
              <a:buNone/>
              <a:defRPr sz="1800" b="1">
                <a:solidFill>
                  <a:srgbClr val="10212B"/>
                </a:solidFill>
                <a:latin typeface="Arial"/>
                <a:ea typeface="Arial"/>
                <a:cs typeface="Arial"/>
              </a:defRPr>
            </a:pPr>
            <a:r>
              <a:rPr sz="1800" b="1">
                <a:solidFill>
                  <a:srgbClr val="10212B"/>
                </a:solidFill>
                <a:latin typeface="Arial"/>
                <a:ea typeface="Arial"/>
                <a:cs typeface="Arial"/>
              </a:rPr>
              <a:t>Prof. Dionizio Porfírio</a:t>
            </a:r>
          </a:p>
          <a:p>
            <a:pPr algn="l">
              <a:buNone/>
              <a:defRPr sz="1800" b="1">
                <a:solidFill>
                  <a:srgbClr val="10212B"/>
                </a:solidFill>
                <a:latin typeface="Arial"/>
                <a:ea typeface="Arial"/>
                <a:cs typeface="Arial"/>
              </a:defRPr>
            </a:pPr>
            <a:r>
              <a:rPr sz="1800" b="1">
                <a:solidFill>
                  <a:srgbClr val="10212B"/>
                </a:solidFill>
                <a:latin typeface="Arial"/>
                <a:ea typeface="Arial"/>
                <a:cs typeface="Arial"/>
              </a:rPr>
              <a:t>Unichristus • 2026.2</a:t>
            </a:r>
          </a:p>
        </p:txBody>
      </p:sp>
      <p:sp>
        <p:nvSpPr>
          <p:cNvPr id="7" name="Retângulo 6">
            <a:extLst>
              <a:ext uri="{FF2B5EF4-FFF2-40B4-BE49-F238E27FC236}">
                <a16:creationId xmlns:a16="http://schemas.microsoft.com/office/drawing/2014/main" id="{62ABE8E3-1C56-47FA-B4DF-E85154722284}"/>
              </a:ext>
            </a:extLst>
          </p:cNvPr>
          <p:cNvSpPr>
            <a:spLocks noGrp="1"/>
          </p:cNvSpPr>
          <p:nvPr/>
        </p:nvSpPr>
        <p:spPr>
          <a:xfrm>
            <a:off x="11049000" y="6286500"/>
            <a:ext cx="571500" cy="304800"/>
          </a:xfrm>
          <a:prstGeom prst="rect">
            <a:avLst/>
          </a:prstGeom>
          <a:noFill/>
          <a:ln w="0">
            <a:noFill/>
            <a:prstDash val="solid"/>
          </a:ln>
        </p:spPr>
        <p:txBody>
          <a:bodyPr lIns="0" tIns="0" rIns="0" bIns="0" anchor="ctr">
            <a:noAutofit/>
          </a:bodyPr>
          <a:lstStyle/>
          <a:p>
            <a:pPr algn="r">
              <a:buNone/>
              <a:defRPr sz="1800" b="0">
                <a:solidFill>
                  <a:srgbClr val="5F6B72"/>
                </a:solidFill>
                <a:latin typeface="Arial"/>
                <a:ea typeface="Arial"/>
                <a:cs typeface="Arial"/>
              </a:defRPr>
            </a:pPr>
            <a:r>
              <a:rPr sz="1800" b="0">
                <a:solidFill>
                  <a:srgbClr val="5F6B72"/>
                </a:solidFill>
                <a:latin typeface="Arial"/>
                <a:ea typeface="Arial"/>
                <a:cs typeface="Arial"/>
              </a:rPr>
              <a:t>01</a:t>
            </a:r>
          </a:p>
        </p:txBody>
      </p:sp>
      <p:pic>
        <p:nvPicPr>
          <p:cNvPr id="17" name="Imagem 9"/>
          <p:cNvPicPr>
            <a:picLocks noChangeAspect="1"/>
          </p:cNvPicPr>
          <p:nvPr/>
        </p:nvPicPr>
        <p:blipFill>
          <a:blip r:embed="rId3"/>
          <a:stretch>
            <a:fillRect/>
          </a:stretch>
        </p:blipFill>
        <p:spPr>
          <a:xfrm>
            <a:off x="286365" y="6005457"/>
            <a:ext cx="2162477" cy="790685"/>
          </a:xfrm>
          <a:prstGeom prst="rect">
            <a:avLst/>
          </a:prstGeom>
        </p:spPr>
      </p:pic>
    </p:spTree>
    <p:extLst>
      <p:ext uri="{BB962C8B-B14F-4D97-AF65-F5344CB8AC3E}">
        <p14:creationId xmlns:p14="http://schemas.microsoft.com/office/powerpoint/2010/main" val="3924795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tângulo 6">
            <a:extLst>
              <a:ext uri="{FF2B5EF4-FFF2-40B4-BE49-F238E27FC236}">
                <a16:creationId xmlns:a16="http://schemas.microsoft.com/office/drawing/2014/main" id="{BE3F1717-BE1A-4C0D-AA82-21D6CAAB0391}"/>
              </a:ext>
            </a:extLst>
          </p:cNvPr>
          <p:cNvSpPr>
            <a:spLocks noGrp="1"/>
          </p:cNvSpPr>
          <p:nvPr/>
        </p:nvSpPr>
        <p:spPr>
          <a:xfrm>
            <a:off x="400050" y="266700"/>
            <a:ext cx="4762500" cy="285750"/>
          </a:xfrm>
          <a:prstGeom prst="rect">
            <a:avLst/>
          </a:prstGeom>
          <a:noFill/>
          <a:ln w="0">
            <a:noFill/>
            <a:prstDash val="solid"/>
          </a:ln>
        </p:spPr>
        <p:txBody>
          <a:bodyPr lIns="0" tIns="0" rIns="0" bIns="0" anchor="ctr">
            <a:noAutofit/>
          </a:bodyPr>
          <a:lstStyle/>
          <a:p>
            <a:pPr algn="l">
              <a:buNone/>
              <a:defRPr sz="1800" b="1">
                <a:solidFill>
                  <a:srgbClr val="1565C0"/>
                </a:solidFill>
                <a:latin typeface="Arial"/>
                <a:ea typeface="Arial"/>
                <a:cs typeface="Arial"/>
              </a:defRPr>
            </a:pPr>
            <a:r>
              <a:rPr sz="1800" b="1">
                <a:solidFill>
                  <a:srgbClr val="1565C0"/>
                </a:solidFill>
                <a:latin typeface="Arial"/>
                <a:ea typeface="Arial"/>
                <a:cs typeface="Arial"/>
              </a:rPr>
              <a:t>PROGRAMAÇÃO ESTRUTURADA • AULA 4</a:t>
            </a:r>
          </a:p>
        </p:txBody>
      </p:sp>
      <p:sp>
        <p:nvSpPr>
          <p:cNvPr id="2" name="Retângulo 1">
            <a:extLst>
              <a:ext uri="{FF2B5EF4-FFF2-40B4-BE49-F238E27FC236}">
                <a16:creationId xmlns:a16="http://schemas.microsoft.com/office/drawing/2014/main" id="{8848F4E0-5B80-4402-B336-B1A24D984A7D}"/>
              </a:ext>
            </a:extLst>
          </p:cNvPr>
          <p:cNvSpPr>
            <a:spLocks noGrp="1"/>
          </p:cNvSpPr>
          <p:nvPr/>
        </p:nvSpPr>
        <p:spPr>
          <a:xfrm>
            <a:off x="400050" y="552450"/>
            <a:ext cx="11049000" cy="666750"/>
          </a:xfrm>
          <a:prstGeom prst="rect">
            <a:avLst/>
          </a:prstGeom>
          <a:noFill/>
          <a:ln w="0">
            <a:noFill/>
            <a:prstDash val="solid"/>
          </a:ln>
        </p:spPr>
        <p:txBody>
          <a:bodyPr lIns="0" tIns="0" rIns="0" bIns="0" anchor="ctr">
            <a:noAutofit/>
          </a:bodyPr>
          <a:lstStyle/>
          <a:p>
            <a:pPr algn="l">
              <a:buNone/>
              <a:defRPr sz="3750" b="1">
                <a:solidFill>
                  <a:srgbClr val="10212B"/>
                </a:solidFill>
                <a:latin typeface="Arial"/>
                <a:ea typeface="Arial"/>
                <a:cs typeface="Arial"/>
              </a:defRPr>
            </a:pPr>
            <a:r>
              <a:rPr sz="3750" b="1">
                <a:solidFill>
                  <a:srgbClr val="10212B"/>
                </a:solidFill>
                <a:latin typeface="Arial"/>
                <a:ea typeface="Arial"/>
                <a:cs typeface="Arial"/>
              </a:rPr>
              <a:t>Objetivos de aprendizagem</a:t>
            </a:r>
          </a:p>
        </p:txBody>
      </p:sp>
      <p:sp>
        <p:nvSpPr>
          <p:cNvPr id="3" name="Retângulo 2">
            <a:extLst>
              <a:ext uri="{FF2B5EF4-FFF2-40B4-BE49-F238E27FC236}">
                <a16:creationId xmlns:a16="http://schemas.microsoft.com/office/drawing/2014/main" id="{37DF4AAD-C3B2-434A-9F95-3BEE55C87C22}"/>
              </a:ext>
            </a:extLst>
          </p:cNvPr>
          <p:cNvSpPr>
            <a:spLocks noGrp="1"/>
          </p:cNvSpPr>
          <p:nvPr/>
        </p:nvSpPr>
        <p:spPr>
          <a:xfrm>
            <a:off x="400050" y="1295400"/>
            <a:ext cx="11391900" cy="28575"/>
          </a:xfrm>
          <a:prstGeom prst="rect">
            <a:avLst/>
          </a:prstGeom>
          <a:solidFill>
            <a:srgbClr val="1565C0"/>
          </a:solidFill>
          <a:ln w="0">
            <a:noFill/>
            <a:prstDash val="solid"/>
          </a:ln>
        </p:spPr>
        <p:txBody>
          <a:bodyPr/>
          <a:lstStyle/>
          <a:p>
            <a:endParaRPr/>
          </a:p>
        </p:txBody>
      </p:sp>
      <p:sp>
        <p:nvSpPr>
          <p:cNvPr id="4" name="Retângulo 3">
            <a:extLst>
              <a:ext uri="{FF2B5EF4-FFF2-40B4-BE49-F238E27FC236}">
                <a16:creationId xmlns:a16="http://schemas.microsoft.com/office/drawing/2014/main" id="{C1A79A10-5985-4270-8EFD-5B602BFC646D}"/>
              </a:ext>
            </a:extLst>
          </p:cNvPr>
          <p:cNvSpPr>
            <a:spLocks noGrp="1"/>
          </p:cNvSpPr>
          <p:nvPr/>
        </p:nvSpPr>
        <p:spPr>
          <a:xfrm>
            <a:off x="11239500" y="6286500"/>
            <a:ext cx="552450" cy="304800"/>
          </a:xfrm>
          <a:prstGeom prst="rect">
            <a:avLst/>
          </a:prstGeom>
          <a:noFill/>
          <a:ln w="0">
            <a:noFill/>
            <a:prstDash val="solid"/>
          </a:ln>
        </p:spPr>
        <p:txBody>
          <a:bodyPr lIns="0" tIns="0" rIns="0" bIns="0" anchor="ctr">
            <a:noAutofit/>
          </a:bodyPr>
          <a:lstStyle/>
          <a:p>
            <a:pPr algn="r">
              <a:buNone/>
              <a:defRPr sz="1800" b="0">
                <a:solidFill>
                  <a:srgbClr val="5F6B72"/>
                </a:solidFill>
                <a:latin typeface="Arial"/>
                <a:ea typeface="Arial"/>
                <a:cs typeface="Arial"/>
              </a:defRPr>
            </a:pPr>
            <a:r>
              <a:rPr sz="1800" b="0">
                <a:solidFill>
                  <a:srgbClr val="5F6B72"/>
                </a:solidFill>
                <a:latin typeface="Arial"/>
                <a:ea typeface="Arial"/>
                <a:cs typeface="Arial"/>
              </a:rPr>
              <a:t>02</a:t>
            </a:r>
          </a:p>
        </p:txBody>
      </p:sp>
      <p:sp>
        <p:nvSpPr>
          <p:cNvPr id="5" name="Retângulo 4">
            <a:extLst>
              <a:ext uri="{FF2B5EF4-FFF2-40B4-BE49-F238E27FC236}">
                <a16:creationId xmlns:a16="http://schemas.microsoft.com/office/drawing/2014/main" id="{78735455-12F4-4A91-9D76-11C927059AE2}"/>
              </a:ext>
            </a:extLst>
          </p:cNvPr>
          <p:cNvSpPr>
            <a:spLocks noGrp="1"/>
          </p:cNvSpPr>
          <p:nvPr/>
        </p:nvSpPr>
        <p:spPr>
          <a:xfrm>
            <a:off x="400050" y="1581150"/>
            <a:ext cx="10953750" cy="685800"/>
          </a:xfrm>
          <a:prstGeom prst="rect">
            <a:avLst/>
          </a:prstGeom>
          <a:noFill/>
          <a:ln w="0">
            <a:noFill/>
            <a:prstDash val="solid"/>
          </a:ln>
        </p:spPr>
        <p:txBody>
          <a:bodyPr lIns="0" tIns="0" rIns="0" bIns="0" anchor="ctr">
            <a:noAutofit/>
          </a:bodyPr>
          <a:lstStyle/>
          <a:p>
            <a:pPr algn="l">
              <a:buNone/>
              <a:defRPr sz="2100" b="1">
                <a:solidFill>
                  <a:srgbClr val="10212B"/>
                </a:solidFill>
                <a:latin typeface="Arial"/>
                <a:ea typeface="Arial"/>
                <a:cs typeface="Arial"/>
              </a:defRPr>
            </a:pPr>
            <a:r>
              <a:rPr sz="2100" b="1" dirty="0">
                <a:solidFill>
                  <a:srgbClr val="10212B"/>
                </a:solidFill>
                <a:latin typeface="Arial"/>
                <a:ea typeface="Arial"/>
                <a:cs typeface="Arial"/>
              </a:rPr>
              <a:t>Ao final da aula, o </a:t>
            </a:r>
            <a:r>
              <a:rPr lang="pt-BR" sz="2100" b="1" dirty="0">
                <a:solidFill>
                  <a:srgbClr val="10212B"/>
                </a:solidFill>
                <a:latin typeface="Arial"/>
                <a:ea typeface="Arial"/>
                <a:cs typeface="Arial"/>
              </a:rPr>
              <a:t>você</a:t>
            </a:r>
            <a:r>
              <a:rPr sz="2100" b="1" dirty="0">
                <a:solidFill>
                  <a:srgbClr val="10212B"/>
                </a:solidFill>
                <a:latin typeface="Arial"/>
                <a:ea typeface="Arial"/>
                <a:cs typeface="Arial"/>
              </a:rPr>
              <a:t> </a:t>
            </a:r>
            <a:r>
              <a:rPr sz="2100" b="1" dirty="0" err="1">
                <a:solidFill>
                  <a:srgbClr val="10212B"/>
                </a:solidFill>
                <a:latin typeface="Arial"/>
                <a:ea typeface="Arial"/>
                <a:cs typeface="Arial"/>
              </a:rPr>
              <a:t>deverá</a:t>
            </a:r>
            <a:r>
              <a:rPr sz="2100" b="1" dirty="0">
                <a:solidFill>
                  <a:srgbClr val="10212B"/>
                </a:solidFill>
                <a:latin typeface="Arial"/>
                <a:ea typeface="Arial"/>
                <a:cs typeface="Arial"/>
              </a:rPr>
              <a:t> ser </a:t>
            </a:r>
            <a:r>
              <a:rPr sz="2100" b="1" dirty="0" err="1">
                <a:solidFill>
                  <a:srgbClr val="10212B"/>
                </a:solidFill>
                <a:latin typeface="Arial"/>
                <a:ea typeface="Arial"/>
                <a:cs typeface="Arial"/>
              </a:rPr>
              <a:t>capaz</a:t>
            </a:r>
            <a:r>
              <a:rPr sz="2100" b="1" dirty="0">
                <a:solidFill>
                  <a:srgbClr val="10212B"/>
                </a:solidFill>
                <a:latin typeface="Arial"/>
                <a:ea typeface="Arial"/>
                <a:cs typeface="Arial"/>
              </a:rPr>
              <a:t> de:</a:t>
            </a:r>
          </a:p>
        </p:txBody>
      </p:sp>
      <p:sp>
        <p:nvSpPr>
          <p:cNvPr id="6" name="Retângulo 5">
            <a:extLst>
              <a:ext uri="{FF2B5EF4-FFF2-40B4-BE49-F238E27FC236}">
                <a16:creationId xmlns:a16="http://schemas.microsoft.com/office/drawing/2014/main" id="{41D31640-48B8-417E-9BDF-7E5104875838}"/>
              </a:ext>
            </a:extLst>
          </p:cNvPr>
          <p:cNvSpPr>
            <a:spLocks noGrp="1"/>
          </p:cNvSpPr>
          <p:nvPr/>
        </p:nvSpPr>
        <p:spPr>
          <a:xfrm>
            <a:off x="666750" y="2266950"/>
            <a:ext cx="11279444" cy="3899719"/>
          </a:xfrm>
          <a:prstGeom prst="rect">
            <a:avLst/>
          </a:prstGeom>
          <a:noFill/>
          <a:ln w="0">
            <a:noFill/>
            <a:prstDash val="solid"/>
          </a:ln>
        </p:spPr>
        <p:txBody>
          <a:bodyPr lIns="0" tIns="0" rIns="0" bIns="0" anchor="t">
            <a:noAutofit/>
          </a:bodyPr>
          <a:lstStyle/>
          <a:p>
            <a:pPr algn="l">
              <a:buNone/>
              <a:defRPr sz="1800" b="0">
                <a:solidFill>
                  <a:srgbClr val="10212B"/>
                </a:solidFill>
                <a:latin typeface="Arial"/>
                <a:ea typeface="Arial"/>
                <a:cs typeface="Arial"/>
              </a:defRPr>
            </a:pPr>
            <a:r>
              <a:rPr sz="1800" b="0" dirty="0">
                <a:solidFill>
                  <a:srgbClr val="10212B"/>
                </a:solidFill>
                <a:latin typeface="Arial"/>
                <a:ea typeface="Arial"/>
                <a:cs typeface="Arial"/>
              </a:rPr>
              <a:t>• </a:t>
            </a:r>
            <a:r>
              <a:rPr sz="1800" b="0" dirty="0" err="1">
                <a:solidFill>
                  <a:srgbClr val="10212B"/>
                </a:solidFill>
                <a:latin typeface="Arial"/>
                <a:ea typeface="Arial"/>
                <a:cs typeface="Arial"/>
              </a:rPr>
              <a:t>distinguir</a:t>
            </a:r>
            <a:r>
              <a:rPr sz="1800" b="0" dirty="0">
                <a:solidFill>
                  <a:srgbClr val="10212B"/>
                </a:solidFill>
                <a:latin typeface="Arial"/>
                <a:ea typeface="Arial"/>
                <a:cs typeface="Arial"/>
              </a:rPr>
              <a:t> </a:t>
            </a:r>
            <a:r>
              <a:rPr sz="1800" b="0" dirty="0" err="1">
                <a:solidFill>
                  <a:srgbClr val="10212B"/>
                </a:solidFill>
                <a:latin typeface="Arial"/>
                <a:ea typeface="Arial"/>
                <a:cs typeface="Arial"/>
              </a:rPr>
              <a:t>linguagem</a:t>
            </a:r>
            <a:r>
              <a:rPr sz="1800" b="0" dirty="0">
                <a:solidFill>
                  <a:srgbClr val="10212B"/>
                </a:solidFill>
                <a:latin typeface="Arial"/>
                <a:ea typeface="Arial"/>
                <a:cs typeface="Arial"/>
              </a:rPr>
              <a:t> Java e </a:t>
            </a:r>
            <a:r>
              <a:rPr sz="1800" b="0" dirty="0" err="1">
                <a:solidFill>
                  <a:srgbClr val="10212B"/>
                </a:solidFill>
                <a:latin typeface="Arial"/>
                <a:ea typeface="Arial"/>
                <a:cs typeface="Arial"/>
              </a:rPr>
              <a:t>plataforma</a:t>
            </a:r>
            <a:r>
              <a:rPr sz="1800" b="0" dirty="0">
                <a:solidFill>
                  <a:srgbClr val="10212B"/>
                </a:solidFill>
                <a:latin typeface="Arial"/>
                <a:ea typeface="Arial"/>
                <a:cs typeface="Arial"/>
              </a:rPr>
              <a:t> Java;</a:t>
            </a:r>
          </a:p>
          <a:p>
            <a:pPr algn="l">
              <a:buNone/>
              <a:defRPr sz="1575" b="0">
                <a:solidFill>
                  <a:srgbClr val="10212B"/>
                </a:solidFill>
                <a:latin typeface="Arial"/>
                <a:ea typeface="Arial"/>
                <a:cs typeface="Arial"/>
              </a:defRPr>
            </a:pPr>
            <a:endParaRPr sz="1800" b="0" dirty="0">
              <a:solidFill>
                <a:srgbClr val="10212B"/>
              </a:solidFill>
              <a:latin typeface="Arial"/>
              <a:ea typeface="Arial"/>
              <a:cs typeface="Arial"/>
            </a:endParaRPr>
          </a:p>
          <a:p>
            <a:pPr algn="l">
              <a:buNone/>
              <a:defRPr sz="1800" b="0">
                <a:solidFill>
                  <a:srgbClr val="10212B"/>
                </a:solidFill>
                <a:latin typeface="Arial"/>
                <a:ea typeface="Arial"/>
                <a:cs typeface="Arial"/>
              </a:defRPr>
            </a:pPr>
            <a:r>
              <a:rPr sz="1800" b="0" dirty="0">
                <a:solidFill>
                  <a:srgbClr val="10212B"/>
                </a:solidFill>
                <a:latin typeface="Arial"/>
                <a:ea typeface="Arial"/>
                <a:cs typeface="Arial"/>
              </a:rPr>
              <a:t>• </a:t>
            </a:r>
            <a:r>
              <a:rPr sz="1800" b="0" dirty="0" err="1">
                <a:solidFill>
                  <a:srgbClr val="10212B"/>
                </a:solidFill>
                <a:latin typeface="Arial"/>
                <a:ea typeface="Arial"/>
                <a:cs typeface="Arial"/>
              </a:rPr>
              <a:t>resumir</a:t>
            </a:r>
            <a:r>
              <a:rPr sz="1800" b="0" dirty="0">
                <a:solidFill>
                  <a:srgbClr val="10212B"/>
                </a:solidFill>
                <a:latin typeface="Arial"/>
                <a:ea typeface="Arial"/>
                <a:cs typeface="Arial"/>
              </a:rPr>
              <a:t> </a:t>
            </a:r>
            <a:r>
              <a:rPr sz="1800" b="0" dirty="0" err="1">
                <a:solidFill>
                  <a:srgbClr val="10212B"/>
                </a:solidFill>
                <a:latin typeface="Arial"/>
                <a:ea typeface="Arial"/>
                <a:cs typeface="Arial"/>
              </a:rPr>
              <a:t>os</a:t>
            </a:r>
            <a:r>
              <a:rPr sz="1800" b="0" dirty="0">
                <a:solidFill>
                  <a:srgbClr val="10212B"/>
                </a:solidFill>
                <a:latin typeface="Arial"/>
                <a:ea typeface="Arial"/>
                <a:cs typeface="Arial"/>
              </a:rPr>
              <a:t> </a:t>
            </a:r>
            <a:r>
              <a:rPr sz="1800" b="0" dirty="0" err="1">
                <a:solidFill>
                  <a:srgbClr val="10212B"/>
                </a:solidFill>
                <a:latin typeface="Arial"/>
                <a:ea typeface="Arial"/>
                <a:cs typeface="Arial"/>
              </a:rPr>
              <a:t>principais</a:t>
            </a:r>
            <a:r>
              <a:rPr sz="1800" b="0" dirty="0">
                <a:solidFill>
                  <a:srgbClr val="10212B"/>
                </a:solidFill>
                <a:latin typeface="Arial"/>
                <a:ea typeface="Arial"/>
                <a:cs typeface="Arial"/>
              </a:rPr>
              <a:t> </a:t>
            </a:r>
            <a:r>
              <a:rPr sz="1800" b="0" dirty="0" err="1">
                <a:solidFill>
                  <a:srgbClr val="10212B"/>
                </a:solidFill>
                <a:latin typeface="Arial"/>
                <a:ea typeface="Arial"/>
                <a:cs typeface="Arial"/>
              </a:rPr>
              <a:t>marcos</a:t>
            </a:r>
            <a:r>
              <a:rPr sz="1800" b="0" dirty="0">
                <a:solidFill>
                  <a:srgbClr val="10212B"/>
                </a:solidFill>
                <a:latin typeface="Arial"/>
                <a:ea typeface="Arial"/>
                <a:cs typeface="Arial"/>
              </a:rPr>
              <a:t> </a:t>
            </a:r>
            <a:r>
              <a:rPr sz="1800" b="0" dirty="0" err="1">
                <a:solidFill>
                  <a:srgbClr val="10212B"/>
                </a:solidFill>
                <a:latin typeface="Arial"/>
                <a:ea typeface="Arial"/>
                <a:cs typeface="Arial"/>
              </a:rPr>
              <a:t>históricos</a:t>
            </a:r>
            <a:r>
              <a:rPr sz="1800" b="0" dirty="0">
                <a:solidFill>
                  <a:srgbClr val="10212B"/>
                </a:solidFill>
                <a:latin typeface="Arial"/>
                <a:ea typeface="Arial"/>
                <a:cs typeface="Arial"/>
              </a:rPr>
              <a:t> da </a:t>
            </a:r>
            <a:r>
              <a:rPr sz="1800" b="0" dirty="0" err="1">
                <a:solidFill>
                  <a:srgbClr val="10212B"/>
                </a:solidFill>
                <a:latin typeface="Arial"/>
                <a:ea typeface="Arial"/>
                <a:cs typeface="Arial"/>
              </a:rPr>
              <a:t>tecnologia</a:t>
            </a:r>
            <a:r>
              <a:rPr sz="1800" b="0" dirty="0">
                <a:solidFill>
                  <a:srgbClr val="10212B"/>
                </a:solidFill>
                <a:latin typeface="Arial"/>
                <a:ea typeface="Arial"/>
                <a:cs typeface="Arial"/>
              </a:rPr>
              <a:t>;</a:t>
            </a:r>
          </a:p>
          <a:p>
            <a:pPr algn="l">
              <a:buNone/>
              <a:defRPr sz="1575" b="0">
                <a:solidFill>
                  <a:srgbClr val="10212B"/>
                </a:solidFill>
                <a:latin typeface="Arial"/>
                <a:ea typeface="Arial"/>
                <a:cs typeface="Arial"/>
              </a:defRPr>
            </a:pPr>
            <a:endParaRPr sz="1800" b="0" dirty="0">
              <a:solidFill>
                <a:srgbClr val="10212B"/>
              </a:solidFill>
              <a:latin typeface="Arial"/>
              <a:ea typeface="Arial"/>
              <a:cs typeface="Arial"/>
            </a:endParaRPr>
          </a:p>
          <a:p>
            <a:pPr algn="l">
              <a:buNone/>
              <a:defRPr sz="1800" b="0">
                <a:solidFill>
                  <a:srgbClr val="10212B"/>
                </a:solidFill>
                <a:latin typeface="Arial"/>
                <a:ea typeface="Arial"/>
                <a:cs typeface="Arial"/>
              </a:defRPr>
            </a:pPr>
            <a:r>
              <a:rPr sz="1800" b="0" dirty="0">
                <a:solidFill>
                  <a:srgbClr val="10212B"/>
                </a:solidFill>
                <a:latin typeface="Arial"/>
                <a:ea typeface="Arial"/>
                <a:cs typeface="Arial"/>
              </a:rPr>
              <a:t>• </a:t>
            </a:r>
            <a:r>
              <a:rPr sz="1800" b="0" dirty="0" err="1">
                <a:solidFill>
                  <a:srgbClr val="10212B"/>
                </a:solidFill>
                <a:latin typeface="Arial"/>
                <a:ea typeface="Arial"/>
                <a:cs typeface="Arial"/>
              </a:rPr>
              <a:t>diferenciar</a:t>
            </a:r>
            <a:r>
              <a:rPr sz="1800" b="0" dirty="0">
                <a:solidFill>
                  <a:srgbClr val="10212B"/>
                </a:solidFill>
                <a:latin typeface="Arial"/>
                <a:ea typeface="Arial"/>
                <a:cs typeface="Arial"/>
              </a:rPr>
              <a:t> JVM, JRE e JDK;</a:t>
            </a:r>
          </a:p>
          <a:p>
            <a:pPr algn="l">
              <a:buNone/>
              <a:defRPr sz="1575" b="0">
                <a:solidFill>
                  <a:srgbClr val="10212B"/>
                </a:solidFill>
                <a:latin typeface="Arial"/>
                <a:ea typeface="Arial"/>
                <a:cs typeface="Arial"/>
              </a:defRPr>
            </a:pPr>
            <a:endParaRPr sz="1800" b="0" dirty="0">
              <a:solidFill>
                <a:srgbClr val="10212B"/>
              </a:solidFill>
              <a:latin typeface="Arial"/>
              <a:ea typeface="Arial"/>
              <a:cs typeface="Arial"/>
            </a:endParaRPr>
          </a:p>
          <a:p>
            <a:pPr algn="l">
              <a:buNone/>
              <a:defRPr sz="1800" b="0">
                <a:solidFill>
                  <a:srgbClr val="10212B"/>
                </a:solidFill>
                <a:latin typeface="Arial"/>
                <a:ea typeface="Arial"/>
                <a:cs typeface="Arial"/>
              </a:defRPr>
            </a:pPr>
            <a:r>
              <a:rPr sz="1800" b="0" dirty="0">
                <a:solidFill>
                  <a:srgbClr val="10212B"/>
                </a:solidFill>
                <a:latin typeface="Arial"/>
                <a:ea typeface="Arial"/>
                <a:cs typeface="Arial"/>
              </a:rPr>
              <a:t>• </a:t>
            </a:r>
            <a:r>
              <a:rPr sz="1800" b="0" dirty="0" err="1">
                <a:solidFill>
                  <a:srgbClr val="10212B"/>
                </a:solidFill>
                <a:latin typeface="Arial"/>
                <a:ea typeface="Arial"/>
                <a:cs typeface="Arial"/>
              </a:rPr>
              <a:t>instalar</a:t>
            </a:r>
            <a:r>
              <a:rPr sz="1800" b="0" dirty="0">
                <a:solidFill>
                  <a:srgbClr val="10212B"/>
                </a:solidFill>
                <a:latin typeface="Arial"/>
                <a:ea typeface="Arial"/>
                <a:cs typeface="Arial"/>
              </a:rPr>
              <a:t> e </a:t>
            </a:r>
            <a:r>
              <a:rPr sz="1800" b="0" dirty="0" err="1">
                <a:solidFill>
                  <a:srgbClr val="10212B"/>
                </a:solidFill>
                <a:latin typeface="Arial"/>
                <a:ea typeface="Arial"/>
                <a:cs typeface="Arial"/>
              </a:rPr>
              <a:t>verificar</a:t>
            </a:r>
            <a:r>
              <a:rPr sz="1800" b="0" dirty="0">
                <a:solidFill>
                  <a:srgbClr val="10212B"/>
                </a:solidFill>
                <a:latin typeface="Arial"/>
                <a:ea typeface="Arial"/>
                <a:cs typeface="Arial"/>
              </a:rPr>
              <a:t> o JDK no </a:t>
            </a:r>
            <a:r>
              <a:rPr sz="1800" b="0" dirty="0" err="1">
                <a:solidFill>
                  <a:srgbClr val="10212B"/>
                </a:solidFill>
                <a:latin typeface="Arial"/>
                <a:ea typeface="Arial"/>
                <a:cs typeface="Arial"/>
              </a:rPr>
              <a:t>ambiente</a:t>
            </a:r>
            <a:r>
              <a:rPr sz="1800" b="0" dirty="0">
                <a:solidFill>
                  <a:srgbClr val="10212B"/>
                </a:solidFill>
                <a:latin typeface="Arial"/>
                <a:ea typeface="Arial"/>
                <a:cs typeface="Arial"/>
              </a:rPr>
              <a:t> da </a:t>
            </a:r>
            <a:r>
              <a:rPr sz="1800" b="0" dirty="0" err="1">
                <a:solidFill>
                  <a:srgbClr val="10212B"/>
                </a:solidFill>
                <a:latin typeface="Arial"/>
                <a:ea typeface="Arial"/>
                <a:cs typeface="Arial"/>
              </a:rPr>
              <a:t>disciplina</a:t>
            </a:r>
            <a:r>
              <a:rPr sz="1800" b="0" dirty="0">
                <a:solidFill>
                  <a:srgbClr val="10212B"/>
                </a:solidFill>
                <a:latin typeface="Arial"/>
                <a:ea typeface="Arial"/>
                <a:cs typeface="Arial"/>
              </a:rPr>
              <a:t>;</a:t>
            </a:r>
          </a:p>
          <a:p>
            <a:pPr algn="l">
              <a:buNone/>
              <a:defRPr sz="1575" b="0">
                <a:solidFill>
                  <a:srgbClr val="10212B"/>
                </a:solidFill>
                <a:latin typeface="Arial"/>
                <a:ea typeface="Arial"/>
                <a:cs typeface="Arial"/>
              </a:defRPr>
            </a:pPr>
            <a:endParaRPr sz="1800" b="0" dirty="0">
              <a:solidFill>
                <a:srgbClr val="10212B"/>
              </a:solidFill>
              <a:latin typeface="Arial"/>
              <a:ea typeface="Arial"/>
              <a:cs typeface="Arial"/>
            </a:endParaRPr>
          </a:p>
          <a:p>
            <a:pPr algn="l">
              <a:buNone/>
              <a:defRPr sz="1800" b="0">
                <a:solidFill>
                  <a:srgbClr val="10212B"/>
                </a:solidFill>
                <a:latin typeface="Arial"/>
                <a:ea typeface="Arial"/>
                <a:cs typeface="Arial"/>
              </a:defRPr>
            </a:pPr>
            <a:r>
              <a:rPr sz="1800" b="0" dirty="0">
                <a:solidFill>
                  <a:srgbClr val="10212B"/>
                </a:solidFill>
                <a:latin typeface="Arial"/>
                <a:ea typeface="Arial"/>
                <a:cs typeface="Arial"/>
              </a:rPr>
              <a:t>• </a:t>
            </a:r>
            <a:r>
              <a:rPr sz="1800" b="0" dirty="0" err="1">
                <a:solidFill>
                  <a:srgbClr val="10212B"/>
                </a:solidFill>
                <a:latin typeface="Arial"/>
                <a:ea typeface="Arial"/>
                <a:cs typeface="Arial"/>
              </a:rPr>
              <a:t>reconhecer</a:t>
            </a:r>
            <a:r>
              <a:rPr sz="1800" b="0" dirty="0">
                <a:solidFill>
                  <a:srgbClr val="10212B"/>
                </a:solidFill>
                <a:latin typeface="Arial"/>
                <a:ea typeface="Arial"/>
                <a:cs typeface="Arial"/>
              </a:rPr>
              <a:t> a </a:t>
            </a:r>
            <a:r>
              <a:rPr sz="1800" b="0" dirty="0" err="1">
                <a:solidFill>
                  <a:srgbClr val="10212B"/>
                </a:solidFill>
                <a:latin typeface="Arial"/>
                <a:ea typeface="Arial"/>
                <a:cs typeface="Arial"/>
              </a:rPr>
              <a:t>estrutura</a:t>
            </a:r>
            <a:r>
              <a:rPr sz="1800" b="0" dirty="0">
                <a:solidFill>
                  <a:srgbClr val="10212B"/>
                </a:solidFill>
                <a:latin typeface="Arial"/>
                <a:ea typeface="Arial"/>
                <a:cs typeface="Arial"/>
              </a:rPr>
              <a:t> </a:t>
            </a:r>
            <a:r>
              <a:rPr sz="1800" b="0" dirty="0" err="1">
                <a:solidFill>
                  <a:srgbClr val="10212B"/>
                </a:solidFill>
                <a:latin typeface="Arial"/>
                <a:ea typeface="Arial"/>
                <a:cs typeface="Arial"/>
              </a:rPr>
              <a:t>mínima</a:t>
            </a:r>
            <a:r>
              <a:rPr sz="1800" b="0" dirty="0">
                <a:solidFill>
                  <a:srgbClr val="10212B"/>
                </a:solidFill>
                <a:latin typeface="Arial"/>
                <a:ea typeface="Arial"/>
                <a:cs typeface="Arial"/>
              </a:rPr>
              <a:t> de um </a:t>
            </a:r>
            <a:r>
              <a:rPr sz="1800" b="0" dirty="0" err="1">
                <a:solidFill>
                  <a:srgbClr val="10212B"/>
                </a:solidFill>
                <a:latin typeface="Arial"/>
                <a:ea typeface="Arial"/>
                <a:cs typeface="Arial"/>
              </a:rPr>
              <a:t>programa</a:t>
            </a:r>
            <a:r>
              <a:rPr sz="1800" b="0" dirty="0">
                <a:solidFill>
                  <a:srgbClr val="10212B"/>
                </a:solidFill>
                <a:latin typeface="Arial"/>
                <a:ea typeface="Arial"/>
                <a:cs typeface="Arial"/>
              </a:rPr>
              <a:t> Java;</a:t>
            </a:r>
          </a:p>
          <a:p>
            <a:pPr algn="l">
              <a:buNone/>
              <a:defRPr sz="1800" b="0">
                <a:solidFill>
                  <a:srgbClr val="10212B"/>
                </a:solidFill>
                <a:latin typeface="Arial"/>
                <a:ea typeface="Arial"/>
                <a:cs typeface="Arial"/>
              </a:defRPr>
            </a:pPr>
            <a:endParaRPr sz="1800" b="0" dirty="0">
              <a:solidFill>
                <a:srgbClr val="10212B"/>
              </a:solidFill>
              <a:latin typeface="Arial"/>
              <a:ea typeface="Arial"/>
              <a:cs typeface="Arial"/>
            </a:endParaRPr>
          </a:p>
          <a:p>
            <a:pPr algn="l">
              <a:buNone/>
              <a:defRPr sz="1800" b="0">
                <a:solidFill>
                  <a:srgbClr val="10212B"/>
                </a:solidFill>
                <a:latin typeface="Arial"/>
                <a:ea typeface="Arial"/>
                <a:cs typeface="Arial"/>
              </a:defRPr>
            </a:pPr>
            <a:r>
              <a:rPr sz="1800" b="0" dirty="0">
                <a:solidFill>
                  <a:srgbClr val="10212B"/>
                </a:solidFill>
                <a:latin typeface="Arial"/>
                <a:ea typeface="Arial"/>
                <a:cs typeface="Arial"/>
              </a:rPr>
              <a:t>• </a:t>
            </a:r>
            <a:r>
              <a:rPr sz="1800" b="0" dirty="0" err="1">
                <a:solidFill>
                  <a:srgbClr val="10212B"/>
                </a:solidFill>
                <a:latin typeface="Arial"/>
                <a:ea typeface="Arial"/>
                <a:cs typeface="Arial"/>
              </a:rPr>
              <a:t>compilar</a:t>
            </a:r>
            <a:r>
              <a:rPr sz="1800" b="0" dirty="0">
                <a:solidFill>
                  <a:srgbClr val="10212B"/>
                </a:solidFill>
                <a:latin typeface="Arial"/>
                <a:ea typeface="Arial"/>
                <a:cs typeface="Arial"/>
              </a:rPr>
              <a:t> e </a:t>
            </a:r>
            <a:r>
              <a:rPr sz="1800" b="0" dirty="0" err="1">
                <a:solidFill>
                  <a:srgbClr val="10212B"/>
                </a:solidFill>
                <a:latin typeface="Arial"/>
                <a:ea typeface="Arial"/>
                <a:cs typeface="Arial"/>
              </a:rPr>
              <a:t>executar</a:t>
            </a:r>
            <a:r>
              <a:rPr sz="1800" b="0" dirty="0">
                <a:solidFill>
                  <a:srgbClr val="10212B"/>
                </a:solidFill>
                <a:latin typeface="Arial"/>
                <a:ea typeface="Arial"/>
                <a:cs typeface="Arial"/>
              </a:rPr>
              <a:t> um </a:t>
            </a:r>
            <a:r>
              <a:rPr sz="1800" b="0" dirty="0" err="1">
                <a:solidFill>
                  <a:srgbClr val="10212B"/>
                </a:solidFill>
                <a:latin typeface="Arial"/>
                <a:ea typeface="Arial"/>
                <a:cs typeface="Arial"/>
              </a:rPr>
              <a:t>programa</a:t>
            </a:r>
            <a:r>
              <a:rPr sz="1800" b="0" dirty="0">
                <a:solidFill>
                  <a:srgbClr val="10212B"/>
                </a:solidFill>
                <a:latin typeface="Arial"/>
                <a:ea typeface="Arial"/>
                <a:cs typeface="Arial"/>
              </a:rPr>
              <a:t> </a:t>
            </a:r>
            <a:r>
              <a:rPr sz="1800" b="0" dirty="0" err="1">
                <a:solidFill>
                  <a:srgbClr val="10212B"/>
                </a:solidFill>
                <a:latin typeface="Arial"/>
                <a:ea typeface="Arial"/>
                <a:cs typeface="Arial"/>
              </a:rPr>
              <a:t>pelo</a:t>
            </a:r>
            <a:r>
              <a:rPr sz="1800" b="0" dirty="0">
                <a:solidFill>
                  <a:srgbClr val="10212B"/>
                </a:solidFill>
                <a:latin typeface="Arial"/>
                <a:ea typeface="Arial"/>
                <a:cs typeface="Arial"/>
              </a:rPr>
              <a:t> terminal.</a:t>
            </a:r>
          </a:p>
        </p:txBody>
      </p:sp>
      <p:pic>
        <p:nvPicPr>
          <p:cNvPr id="15" name="Imagem 8"/>
          <p:cNvPicPr>
            <a:picLocks noChangeAspect="1"/>
          </p:cNvPicPr>
          <p:nvPr/>
        </p:nvPicPr>
        <p:blipFill>
          <a:blip r:embed="rId3"/>
          <a:stretch>
            <a:fillRect/>
          </a:stretch>
        </p:blipFill>
        <p:spPr>
          <a:xfrm>
            <a:off x="0" y="6061784"/>
            <a:ext cx="2162477" cy="790685"/>
          </a:xfrm>
          <a:prstGeom prst="rect">
            <a:avLst/>
          </a:prstGeom>
        </p:spPr>
      </p:pic>
    </p:spTree>
    <p:extLst>
      <p:ext uri="{BB962C8B-B14F-4D97-AF65-F5344CB8AC3E}">
        <p14:creationId xmlns:p14="http://schemas.microsoft.com/office/powerpoint/2010/main" val="21456612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 name="Retângulo 25">
            <a:extLst>
              <a:ext uri="{FF2B5EF4-FFF2-40B4-BE49-F238E27FC236}">
                <a16:creationId xmlns:a16="http://schemas.microsoft.com/office/drawing/2014/main" id="{6607DC1E-DFA3-4608-857A-A401F7916868}"/>
              </a:ext>
            </a:extLst>
          </p:cNvPr>
          <p:cNvSpPr>
            <a:spLocks noGrp="1"/>
          </p:cNvSpPr>
          <p:nvPr/>
        </p:nvSpPr>
        <p:spPr>
          <a:xfrm>
            <a:off x="400050" y="266700"/>
            <a:ext cx="4762500" cy="285750"/>
          </a:xfrm>
          <a:prstGeom prst="rect">
            <a:avLst/>
          </a:prstGeom>
          <a:noFill/>
          <a:ln w="0">
            <a:noFill/>
            <a:prstDash val="solid"/>
          </a:ln>
        </p:spPr>
        <p:txBody>
          <a:bodyPr lIns="0" tIns="0" rIns="0" bIns="0" anchor="ctr">
            <a:noAutofit/>
          </a:bodyPr>
          <a:lstStyle/>
          <a:p>
            <a:pPr algn="l">
              <a:buNone/>
              <a:defRPr sz="1800" b="1">
                <a:solidFill>
                  <a:srgbClr val="1565C0"/>
                </a:solidFill>
                <a:latin typeface="Arial"/>
                <a:ea typeface="Arial"/>
                <a:cs typeface="Arial"/>
              </a:defRPr>
            </a:pPr>
            <a:r>
              <a:rPr sz="1800" b="1">
                <a:solidFill>
                  <a:srgbClr val="1565C0"/>
                </a:solidFill>
                <a:latin typeface="Arial"/>
                <a:ea typeface="Arial"/>
                <a:cs typeface="Arial"/>
              </a:rPr>
              <a:t>PROGRAMAÇÃO ESTRUTURADA • AULA 4</a:t>
            </a:r>
          </a:p>
        </p:txBody>
      </p:sp>
      <p:sp>
        <p:nvSpPr>
          <p:cNvPr id="2" name="Retângulo 1">
            <a:extLst>
              <a:ext uri="{FF2B5EF4-FFF2-40B4-BE49-F238E27FC236}">
                <a16:creationId xmlns:a16="http://schemas.microsoft.com/office/drawing/2014/main" id="{DBCE607E-CE84-4715-8191-AD184D4ABD8C}"/>
              </a:ext>
            </a:extLst>
          </p:cNvPr>
          <p:cNvSpPr>
            <a:spLocks noGrp="1"/>
          </p:cNvSpPr>
          <p:nvPr/>
        </p:nvSpPr>
        <p:spPr>
          <a:xfrm>
            <a:off x="400050" y="552450"/>
            <a:ext cx="11049000" cy="666750"/>
          </a:xfrm>
          <a:prstGeom prst="rect">
            <a:avLst/>
          </a:prstGeom>
          <a:noFill/>
          <a:ln w="0">
            <a:noFill/>
            <a:prstDash val="solid"/>
          </a:ln>
        </p:spPr>
        <p:txBody>
          <a:bodyPr lIns="0" tIns="0" rIns="0" bIns="0" anchor="ctr">
            <a:noAutofit/>
          </a:bodyPr>
          <a:lstStyle/>
          <a:p>
            <a:pPr algn="l">
              <a:buNone/>
              <a:defRPr sz="3600" b="1">
                <a:solidFill>
                  <a:srgbClr val="10212B"/>
                </a:solidFill>
                <a:latin typeface="Arial"/>
                <a:ea typeface="Arial"/>
                <a:cs typeface="Arial"/>
              </a:defRPr>
            </a:pPr>
            <a:r>
              <a:rPr sz="3600" b="1">
                <a:solidFill>
                  <a:srgbClr val="10212B"/>
                </a:solidFill>
                <a:latin typeface="Arial"/>
                <a:ea typeface="Arial"/>
                <a:cs typeface="Arial"/>
              </a:rPr>
              <a:t>Organização da aula</a:t>
            </a:r>
          </a:p>
        </p:txBody>
      </p:sp>
      <p:sp>
        <p:nvSpPr>
          <p:cNvPr id="3" name="Retângulo 2">
            <a:extLst>
              <a:ext uri="{FF2B5EF4-FFF2-40B4-BE49-F238E27FC236}">
                <a16:creationId xmlns:a16="http://schemas.microsoft.com/office/drawing/2014/main" id="{0F2E1FCC-9D1D-41F9-B9B6-BFBA6975E4CA}"/>
              </a:ext>
            </a:extLst>
          </p:cNvPr>
          <p:cNvSpPr>
            <a:spLocks noGrp="1"/>
          </p:cNvSpPr>
          <p:nvPr/>
        </p:nvSpPr>
        <p:spPr>
          <a:xfrm>
            <a:off x="400050" y="1295400"/>
            <a:ext cx="11391900" cy="28575"/>
          </a:xfrm>
          <a:prstGeom prst="rect">
            <a:avLst/>
          </a:prstGeom>
          <a:solidFill>
            <a:srgbClr val="1565C0"/>
          </a:solidFill>
          <a:ln w="0">
            <a:noFill/>
            <a:prstDash val="solid"/>
          </a:ln>
        </p:spPr>
        <p:txBody>
          <a:bodyPr/>
          <a:lstStyle/>
          <a:p>
            <a:endParaRPr/>
          </a:p>
        </p:txBody>
      </p:sp>
      <p:sp>
        <p:nvSpPr>
          <p:cNvPr id="4" name="Retângulo 3">
            <a:extLst>
              <a:ext uri="{FF2B5EF4-FFF2-40B4-BE49-F238E27FC236}">
                <a16:creationId xmlns:a16="http://schemas.microsoft.com/office/drawing/2014/main" id="{C0936FD9-02D5-423B-90D7-53DBDF3AB651}"/>
              </a:ext>
            </a:extLst>
          </p:cNvPr>
          <p:cNvSpPr>
            <a:spLocks noGrp="1"/>
          </p:cNvSpPr>
          <p:nvPr/>
        </p:nvSpPr>
        <p:spPr>
          <a:xfrm>
            <a:off x="11239500" y="6286500"/>
            <a:ext cx="552450" cy="304800"/>
          </a:xfrm>
          <a:prstGeom prst="rect">
            <a:avLst/>
          </a:prstGeom>
          <a:noFill/>
          <a:ln w="0">
            <a:noFill/>
            <a:prstDash val="solid"/>
          </a:ln>
        </p:spPr>
        <p:txBody>
          <a:bodyPr lIns="0" tIns="0" rIns="0" bIns="0" anchor="ctr">
            <a:noAutofit/>
          </a:bodyPr>
          <a:lstStyle/>
          <a:p>
            <a:pPr algn="r">
              <a:buNone/>
              <a:defRPr sz="1800" b="0">
                <a:solidFill>
                  <a:srgbClr val="5F6B72"/>
                </a:solidFill>
                <a:latin typeface="Arial"/>
                <a:ea typeface="Arial"/>
                <a:cs typeface="Arial"/>
              </a:defRPr>
            </a:pPr>
            <a:r>
              <a:rPr sz="1800" b="0">
                <a:solidFill>
                  <a:srgbClr val="5F6B72"/>
                </a:solidFill>
                <a:latin typeface="Arial"/>
                <a:ea typeface="Arial"/>
                <a:cs typeface="Arial"/>
              </a:rPr>
              <a:t>03</a:t>
            </a:r>
          </a:p>
        </p:txBody>
      </p:sp>
      <p:sp>
        <p:nvSpPr>
          <p:cNvPr id="5" name="Retângulo 4">
            <a:extLst>
              <a:ext uri="{FF2B5EF4-FFF2-40B4-BE49-F238E27FC236}">
                <a16:creationId xmlns:a16="http://schemas.microsoft.com/office/drawing/2014/main" id="{19BA0092-8D1A-409D-BD57-BDD5DDF481EE}"/>
              </a:ext>
            </a:extLst>
          </p:cNvPr>
          <p:cNvSpPr>
            <a:spLocks noGrp="1"/>
          </p:cNvSpPr>
          <p:nvPr/>
        </p:nvSpPr>
        <p:spPr>
          <a:xfrm>
            <a:off x="400050" y="2190750"/>
            <a:ext cx="2141220" cy="2381250"/>
          </a:xfrm>
          <a:prstGeom prst="rect">
            <a:avLst/>
          </a:prstGeom>
          <a:solidFill>
            <a:srgbClr val="EEF3F5"/>
          </a:solidFill>
          <a:ln w="0">
            <a:noFill/>
            <a:prstDash val="solid"/>
          </a:ln>
        </p:spPr>
        <p:txBody>
          <a:bodyPr/>
          <a:lstStyle/>
          <a:p>
            <a:endParaRPr/>
          </a:p>
        </p:txBody>
      </p:sp>
      <p:sp>
        <p:nvSpPr>
          <p:cNvPr id="6" name="Retângulo 5">
            <a:extLst>
              <a:ext uri="{FF2B5EF4-FFF2-40B4-BE49-F238E27FC236}">
                <a16:creationId xmlns:a16="http://schemas.microsoft.com/office/drawing/2014/main" id="{192885E6-E3DC-4727-9A77-8A4E5FCCB2F2}"/>
              </a:ext>
            </a:extLst>
          </p:cNvPr>
          <p:cNvSpPr>
            <a:spLocks noGrp="1"/>
          </p:cNvSpPr>
          <p:nvPr/>
        </p:nvSpPr>
        <p:spPr>
          <a:xfrm>
            <a:off x="590550" y="2381250"/>
            <a:ext cx="1760220" cy="285750"/>
          </a:xfrm>
          <a:prstGeom prst="rect">
            <a:avLst/>
          </a:prstGeom>
          <a:noFill/>
          <a:ln w="0">
            <a:noFill/>
            <a:prstDash val="solid"/>
          </a:ln>
        </p:spPr>
        <p:txBody>
          <a:bodyPr lIns="0" tIns="0" rIns="0" bIns="0" anchor="t">
            <a:noAutofit/>
          </a:bodyPr>
          <a:lstStyle/>
          <a:p>
            <a:pPr algn="l">
              <a:buNone/>
              <a:defRPr sz="1800" b="1">
                <a:solidFill>
                  <a:srgbClr val="1565C0"/>
                </a:solidFill>
                <a:latin typeface="Arial"/>
                <a:ea typeface="Arial"/>
                <a:cs typeface="Arial"/>
              </a:defRPr>
            </a:pPr>
            <a:r>
              <a:rPr sz="1800" b="1">
                <a:solidFill>
                  <a:srgbClr val="1565C0"/>
                </a:solidFill>
                <a:latin typeface="Arial"/>
                <a:ea typeface="Arial"/>
                <a:cs typeface="Arial"/>
              </a:rPr>
              <a:t>01</a:t>
            </a:r>
          </a:p>
        </p:txBody>
      </p:sp>
      <p:sp>
        <p:nvSpPr>
          <p:cNvPr id="7" name="Retângulo 6">
            <a:extLst>
              <a:ext uri="{FF2B5EF4-FFF2-40B4-BE49-F238E27FC236}">
                <a16:creationId xmlns:a16="http://schemas.microsoft.com/office/drawing/2014/main" id="{CDAE2EBA-1726-49BE-8C8D-0FFEDD99D646}"/>
              </a:ext>
            </a:extLst>
          </p:cNvPr>
          <p:cNvSpPr>
            <a:spLocks noGrp="1"/>
          </p:cNvSpPr>
          <p:nvPr/>
        </p:nvSpPr>
        <p:spPr>
          <a:xfrm>
            <a:off x="590550" y="2857500"/>
            <a:ext cx="1760220" cy="552450"/>
          </a:xfrm>
          <a:prstGeom prst="rect">
            <a:avLst/>
          </a:prstGeom>
          <a:noFill/>
          <a:ln w="0">
            <a:noFill/>
            <a:prstDash val="solid"/>
          </a:ln>
        </p:spPr>
        <p:txBody>
          <a:bodyPr lIns="0" tIns="0" rIns="0" bIns="0" anchor="ctr">
            <a:noAutofit/>
          </a:bodyPr>
          <a:lstStyle/>
          <a:p>
            <a:pPr algn="l">
              <a:buNone/>
              <a:defRPr sz="2025" b="1">
                <a:solidFill>
                  <a:srgbClr val="10212B"/>
                </a:solidFill>
                <a:latin typeface="Arial"/>
                <a:ea typeface="Arial"/>
                <a:cs typeface="Arial"/>
              </a:defRPr>
            </a:pPr>
            <a:r>
              <a:rPr sz="2025" b="1">
                <a:solidFill>
                  <a:srgbClr val="10212B"/>
                </a:solidFill>
                <a:latin typeface="Arial"/>
                <a:ea typeface="Arial"/>
                <a:cs typeface="Arial"/>
              </a:rPr>
              <a:t>Histórico</a:t>
            </a:r>
          </a:p>
        </p:txBody>
      </p:sp>
      <p:sp>
        <p:nvSpPr>
          <p:cNvPr id="8" name="Retângulo 7">
            <a:extLst>
              <a:ext uri="{FF2B5EF4-FFF2-40B4-BE49-F238E27FC236}">
                <a16:creationId xmlns:a16="http://schemas.microsoft.com/office/drawing/2014/main" id="{778BF2AC-DFB0-4238-BFF3-B3BB2B057DD4}"/>
              </a:ext>
            </a:extLst>
          </p:cNvPr>
          <p:cNvSpPr>
            <a:spLocks noGrp="1"/>
          </p:cNvSpPr>
          <p:nvPr/>
        </p:nvSpPr>
        <p:spPr>
          <a:xfrm>
            <a:off x="590550" y="3524250"/>
            <a:ext cx="1760220" cy="876300"/>
          </a:xfrm>
          <a:prstGeom prst="rect">
            <a:avLst/>
          </a:prstGeom>
          <a:noFill/>
          <a:ln w="0">
            <a:noFill/>
            <a:prstDash val="solid"/>
          </a:ln>
        </p:spPr>
        <p:txBody>
          <a:bodyPr lIns="0" tIns="0" rIns="0" bIns="0" anchor="ctr">
            <a:noAutofit/>
          </a:bodyPr>
          <a:lstStyle/>
          <a:p>
            <a:pPr algn="l">
              <a:buNone/>
              <a:defRPr sz="1800" b="0">
                <a:solidFill>
                  <a:srgbClr val="5F6B72"/>
                </a:solidFill>
                <a:latin typeface="Arial"/>
                <a:ea typeface="Arial"/>
                <a:cs typeface="Arial"/>
              </a:defRPr>
            </a:pPr>
            <a:r>
              <a:rPr sz="1800" b="0">
                <a:solidFill>
                  <a:srgbClr val="5F6B72"/>
                </a:solidFill>
                <a:latin typeface="Arial"/>
                <a:ea typeface="Arial"/>
                <a:cs typeface="Arial"/>
              </a:rPr>
              <a:t>Origem e evolução inicial</a:t>
            </a:r>
          </a:p>
        </p:txBody>
      </p:sp>
      <p:sp>
        <p:nvSpPr>
          <p:cNvPr id="9" name="Retângulo 8">
            <a:extLst>
              <a:ext uri="{FF2B5EF4-FFF2-40B4-BE49-F238E27FC236}">
                <a16:creationId xmlns:a16="http://schemas.microsoft.com/office/drawing/2014/main" id="{7692C081-25D2-4CC7-BE31-6917CD06647F}"/>
              </a:ext>
            </a:extLst>
          </p:cNvPr>
          <p:cNvSpPr>
            <a:spLocks noGrp="1"/>
          </p:cNvSpPr>
          <p:nvPr/>
        </p:nvSpPr>
        <p:spPr>
          <a:xfrm>
            <a:off x="2712720" y="2190750"/>
            <a:ext cx="2141220" cy="2381250"/>
          </a:xfrm>
          <a:prstGeom prst="rect">
            <a:avLst/>
          </a:prstGeom>
          <a:solidFill>
            <a:srgbClr val="E8F4FA"/>
          </a:solidFill>
          <a:ln w="0">
            <a:noFill/>
            <a:prstDash val="solid"/>
          </a:ln>
        </p:spPr>
        <p:txBody>
          <a:bodyPr/>
          <a:lstStyle/>
          <a:p>
            <a:endParaRPr/>
          </a:p>
        </p:txBody>
      </p:sp>
      <p:sp>
        <p:nvSpPr>
          <p:cNvPr id="10" name="Retângulo 9">
            <a:extLst>
              <a:ext uri="{FF2B5EF4-FFF2-40B4-BE49-F238E27FC236}">
                <a16:creationId xmlns:a16="http://schemas.microsoft.com/office/drawing/2014/main" id="{D1CC35EB-895B-4010-92AB-F6AE9F2223C6}"/>
              </a:ext>
            </a:extLst>
          </p:cNvPr>
          <p:cNvSpPr>
            <a:spLocks noGrp="1"/>
          </p:cNvSpPr>
          <p:nvPr/>
        </p:nvSpPr>
        <p:spPr>
          <a:xfrm>
            <a:off x="2903220" y="2381250"/>
            <a:ext cx="1760220" cy="285750"/>
          </a:xfrm>
          <a:prstGeom prst="rect">
            <a:avLst/>
          </a:prstGeom>
          <a:noFill/>
          <a:ln w="0">
            <a:noFill/>
            <a:prstDash val="solid"/>
          </a:ln>
        </p:spPr>
        <p:txBody>
          <a:bodyPr lIns="0" tIns="0" rIns="0" bIns="0" anchor="t">
            <a:noAutofit/>
          </a:bodyPr>
          <a:lstStyle/>
          <a:p>
            <a:pPr algn="l">
              <a:buNone/>
              <a:defRPr sz="1800" b="1">
                <a:solidFill>
                  <a:srgbClr val="1565C0"/>
                </a:solidFill>
                <a:latin typeface="Arial"/>
                <a:ea typeface="Arial"/>
                <a:cs typeface="Arial"/>
              </a:defRPr>
            </a:pPr>
            <a:r>
              <a:rPr sz="1800" b="1">
                <a:solidFill>
                  <a:srgbClr val="1565C0"/>
                </a:solidFill>
                <a:latin typeface="Arial"/>
                <a:ea typeface="Arial"/>
                <a:cs typeface="Arial"/>
              </a:rPr>
              <a:t>02</a:t>
            </a:r>
          </a:p>
        </p:txBody>
      </p:sp>
      <p:sp>
        <p:nvSpPr>
          <p:cNvPr id="11" name="Retângulo 10">
            <a:extLst>
              <a:ext uri="{FF2B5EF4-FFF2-40B4-BE49-F238E27FC236}">
                <a16:creationId xmlns:a16="http://schemas.microsoft.com/office/drawing/2014/main" id="{4C98D8A0-B49C-462F-B560-4CD6EBDA0932}"/>
              </a:ext>
            </a:extLst>
          </p:cNvPr>
          <p:cNvSpPr>
            <a:spLocks noGrp="1"/>
          </p:cNvSpPr>
          <p:nvPr/>
        </p:nvSpPr>
        <p:spPr>
          <a:xfrm>
            <a:off x="2903220" y="2857500"/>
            <a:ext cx="1760220" cy="552450"/>
          </a:xfrm>
          <a:prstGeom prst="rect">
            <a:avLst/>
          </a:prstGeom>
          <a:noFill/>
          <a:ln w="0">
            <a:noFill/>
            <a:prstDash val="solid"/>
          </a:ln>
        </p:spPr>
        <p:txBody>
          <a:bodyPr lIns="0" tIns="0" rIns="0" bIns="0" anchor="ctr">
            <a:noAutofit/>
          </a:bodyPr>
          <a:lstStyle/>
          <a:p>
            <a:pPr algn="l">
              <a:buNone/>
              <a:defRPr sz="2025" b="1">
                <a:solidFill>
                  <a:srgbClr val="10212B"/>
                </a:solidFill>
                <a:latin typeface="Arial"/>
                <a:ea typeface="Arial"/>
                <a:cs typeface="Arial"/>
              </a:defRPr>
            </a:pPr>
            <a:r>
              <a:rPr sz="2025" b="1">
                <a:solidFill>
                  <a:srgbClr val="10212B"/>
                </a:solidFill>
                <a:latin typeface="Arial"/>
                <a:ea typeface="Arial"/>
                <a:cs typeface="Arial"/>
              </a:rPr>
              <a:t>Plataforma</a:t>
            </a:r>
          </a:p>
        </p:txBody>
      </p:sp>
      <p:sp>
        <p:nvSpPr>
          <p:cNvPr id="12" name="Retângulo 11">
            <a:extLst>
              <a:ext uri="{FF2B5EF4-FFF2-40B4-BE49-F238E27FC236}">
                <a16:creationId xmlns:a16="http://schemas.microsoft.com/office/drawing/2014/main" id="{8F5527BD-7455-46E7-A9AC-1E3978200B23}"/>
              </a:ext>
            </a:extLst>
          </p:cNvPr>
          <p:cNvSpPr>
            <a:spLocks noGrp="1"/>
          </p:cNvSpPr>
          <p:nvPr/>
        </p:nvSpPr>
        <p:spPr>
          <a:xfrm>
            <a:off x="2903220" y="3524250"/>
            <a:ext cx="1760220" cy="876300"/>
          </a:xfrm>
          <a:prstGeom prst="rect">
            <a:avLst/>
          </a:prstGeom>
          <a:noFill/>
          <a:ln w="0">
            <a:noFill/>
            <a:prstDash val="solid"/>
          </a:ln>
        </p:spPr>
        <p:txBody>
          <a:bodyPr lIns="0" tIns="0" rIns="0" bIns="0" anchor="ctr">
            <a:noAutofit/>
          </a:bodyPr>
          <a:lstStyle/>
          <a:p>
            <a:pPr algn="l">
              <a:buNone/>
              <a:defRPr sz="1800" b="0">
                <a:solidFill>
                  <a:srgbClr val="5F6B72"/>
                </a:solidFill>
                <a:latin typeface="Arial"/>
                <a:ea typeface="Arial"/>
                <a:cs typeface="Arial"/>
              </a:defRPr>
            </a:pPr>
            <a:r>
              <a:rPr sz="1800" b="0">
                <a:solidFill>
                  <a:srgbClr val="5F6B72"/>
                </a:solidFill>
                <a:latin typeface="Arial"/>
                <a:ea typeface="Arial"/>
                <a:cs typeface="Arial"/>
              </a:rPr>
              <a:t>JVM, JRE, JDK e API</a:t>
            </a:r>
          </a:p>
        </p:txBody>
      </p:sp>
      <p:sp>
        <p:nvSpPr>
          <p:cNvPr id="13" name="Retângulo 12">
            <a:extLst>
              <a:ext uri="{FF2B5EF4-FFF2-40B4-BE49-F238E27FC236}">
                <a16:creationId xmlns:a16="http://schemas.microsoft.com/office/drawing/2014/main" id="{7288461B-1D2B-4E77-81F8-9C3F36E99953}"/>
              </a:ext>
            </a:extLst>
          </p:cNvPr>
          <p:cNvSpPr>
            <a:spLocks noGrp="1"/>
          </p:cNvSpPr>
          <p:nvPr/>
        </p:nvSpPr>
        <p:spPr>
          <a:xfrm>
            <a:off x="5025390" y="2190750"/>
            <a:ext cx="2141220" cy="2381250"/>
          </a:xfrm>
          <a:prstGeom prst="rect">
            <a:avLst/>
          </a:prstGeom>
          <a:solidFill>
            <a:srgbClr val="EEF3F5"/>
          </a:solidFill>
          <a:ln w="0">
            <a:noFill/>
            <a:prstDash val="solid"/>
          </a:ln>
        </p:spPr>
        <p:txBody>
          <a:bodyPr/>
          <a:lstStyle/>
          <a:p>
            <a:endParaRPr/>
          </a:p>
        </p:txBody>
      </p:sp>
      <p:sp>
        <p:nvSpPr>
          <p:cNvPr id="14" name="Retângulo 13">
            <a:extLst>
              <a:ext uri="{FF2B5EF4-FFF2-40B4-BE49-F238E27FC236}">
                <a16:creationId xmlns:a16="http://schemas.microsoft.com/office/drawing/2014/main" id="{44BE3ED6-D7BF-498B-842B-0E88614C2DB7}"/>
              </a:ext>
            </a:extLst>
          </p:cNvPr>
          <p:cNvSpPr>
            <a:spLocks noGrp="1"/>
          </p:cNvSpPr>
          <p:nvPr/>
        </p:nvSpPr>
        <p:spPr>
          <a:xfrm>
            <a:off x="5215890" y="2381250"/>
            <a:ext cx="1760220" cy="285750"/>
          </a:xfrm>
          <a:prstGeom prst="rect">
            <a:avLst/>
          </a:prstGeom>
          <a:noFill/>
          <a:ln w="0">
            <a:noFill/>
            <a:prstDash val="solid"/>
          </a:ln>
        </p:spPr>
        <p:txBody>
          <a:bodyPr lIns="0" tIns="0" rIns="0" bIns="0" anchor="t">
            <a:noAutofit/>
          </a:bodyPr>
          <a:lstStyle/>
          <a:p>
            <a:pPr algn="l">
              <a:buNone/>
              <a:defRPr sz="1800" b="1">
                <a:solidFill>
                  <a:srgbClr val="1565C0"/>
                </a:solidFill>
                <a:latin typeface="Arial"/>
                <a:ea typeface="Arial"/>
                <a:cs typeface="Arial"/>
              </a:defRPr>
            </a:pPr>
            <a:r>
              <a:rPr sz="1800" b="1">
                <a:solidFill>
                  <a:srgbClr val="1565C0"/>
                </a:solidFill>
                <a:latin typeface="Arial"/>
                <a:ea typeface="Arial"/>
                <a:cs typeface="Arial"/>
              </a:rPr>
              <a:t>03</a:t>
            </a:r>
          </a:p>
        </p:txBody>
      </p:sp>
      <p:sp>
        <p:nvSpPr>
          <p:cNvPr id="15" name="Retângulo 14">
            <a:extLst>
              <a:ext uri="{FF2B5EF4-FFF2-40B4-BE49-F238E27FC236}">
                <a16:creationId xmlns:a16="http://schemas.microsoft.com/office/drawing/2014/main" id="{94DCCED5-68AA-4302-AA6F-F8BE7FF19DBE}"/>
              </a:ext>
            </a:extLst>
          </p:cNvPr>
          <p:cNvSpPr>
            <a:spLocks noGrp="1"/>
          </p:cNvSpPr>
          <p:nvPr/>
        </p:nvSpPr>
        <p:spPr>
          <a:xfrm>
            <a:off x="5215890" y="2857500"/>
            <a:ext cx="1760220" cy="552450"/>
          </a:xfrm>
          <a:prstGeom prst="rect">
            <a:avLst/>
          </a:prstGeom>
          <a:noFill/>
          <a:ln w="0">
            <a:noFill/>
            <a:prstDash val="solid"/>
          </a:ln>
        </p:spPr>
        <p:txBody>
          <a:bodyPr lIns="0" tIns="0" rIns="0" bIns="0" anchor="ctr">
            <a:noAutofit/>
          </a:bodyPr>
          <a:lstStyle/>
          <a:p>
            <a:pPr algn="l">
              <a:buNone/>
              <a:defRPr sz="2025" b="1">
                <a:solidFill>
                  <a:srgbClr val="10212B"/>
                </a:solidFill>
                <a:latin typeface="Arial"/>
                <a:ea typeface="Arial"/>
                <a:cs typeface="Arial"/>
              </a:defRPr>
            </a:pPr>
            <a:r>
              <a:rPr sz="2025" b="1">
                <a:solidFill>
                  <a:srgbClr val="10212B"/>
                </a:solidFill>
                <a:latin typeface="Arial"/>
                <a:ea typeface="Arial"/>
                <a:cs typeface="Arial"/>
              </a:rPr>
              <a:t>Ambiente</a:t>
            </a:r>
          </a:p>
        </p:txBody>
      </p:sp>
      <p:sp>
        <p:nvSpPr>
          <p:cNvPr id="16" name="Retângulo 15">
            <a:extLst>
              <a:ext uri="{FF2B5EF4-FFF2-40B4-BE49-F238E27FC236}">
                <a16:creationId xmlns:a16="http://schemas.microsoft.com/office/drawing/2014/main" id="{598C5849-6FF0-4B2E-A6C0-1217E34E8F69}"/>
              </a:ext>
            </a:extLst>
          </p:cNvPr>
          <p:cNvSpPr>
            <a:spLocks noGrp="1"/>
          </p:cNvSpPr>
          <p:nvPr/>
        </p:nvSpPr>
        <p:spPr>
          <a:xfrm>
            <a:off x="5215890" y="3524250"/>
            <a:ext cx="1760220" cy="876300"/>
          </a:xfrm>
          <a:prstGeom prst="rect">
            <a:avLst/>
          </a:prstGeom>
          <a:noFill/>
          <a:ln w="0">
            <a:noFill/>
            <a:prstDash val="solid"/>
          </a:ln>
        </p:spPr>
        <p:txBody>
          <a:bodyPr lIns="0" tIns="0" rIns="0" bIns="0" anchor="ctr">
            <a:noAutofit/>
          </a:bodyPr>
          <a:lstStyle/>
          <a:p>
            <a:pPr algn="l">
              <a:buNone/>
              <a:defRPr sz="1800" b="0">
                <a:solidFill>
                  <a:srgbClr val="5F6B72"/>
                </a:solidFill>
                <a:latin typeface="Arial"/>
                <a:ea typeface="Arial"/>
                <a:cs typeface="Arial"/>
              </a:defRPr>
            </a:pPr>
            <a:r>
              <a:rPr sz="1800" b="0">
                <a:solidFill>
                  <a:srgbClr val="5F6B72"/>
                </a:solidFill>
                <a:latin typeface="Arial"/>
                <a:ea typeface="Arial"/>
                <a:cs typeface="Arial"/>
              </a:rPr>
              <a:t>JDK, terminal e VS Code</a:t>
            </a:r>
          </a:p>
        </p:txBody>
      </p:sp>
      <p:sp>
        <p:nvSpPr>
          <p:cNvPr id="17" name="Retângulo 16">
            <a:extLst>
              <a:ext uri="{FF2B5EF4-FFF2-40B4-BE49-F238E27FC236}">
                <a16:creationId xmlns:a16="http://schemas.microsoft.com/office/drawing/2014/main" id="{9B54C8D6-A5CE-42D2-AD10-378E278228FA}"/>
              </a:ext>
            </a:extLst>
          </p:cNvPr>
          <p:cNvSpPr>
            <a:spLocks noGrp="1"/>
          </p:cNvSpPr>
          <p:nvPr/>
        </p:nvSpPr>
        <p:spPr>
          <a:xfrm>
            <a:off x="7338060" y="2190750"/>
            <a:ext cx="2141220" cy="2381250"/>
          </a:xfrm>
          <a:prstGeom prst="rect">
            <a:avLst/>
          </a:prstGeom>
          <a:solidFill>
            <a:srgbClr val="E8F4FA"/>
          </a:solidFill>
          <a:ln w="0">
            <a:noFill/>
            <a:prstDash val="solid"/>
          </a:ln>
        </p:spPr>
        <p:txBody>
          <a:bodyPr/>
          <a:lstStyle/>
          <a:p>
            <a:endParaRPr/>
          </a:p>
        </p:txBody>
      </p:sp>
      <p:sp>
        <p:nvSpPr>
          <p:cNvPr id="18" name="Retângulo 17">
            <a:extLst>
              <a:ext uri="{FF2B5EF4-FFF2-40B4-BE49-F238E27FC236}">
                <a16:creationId xmlns:a16="http://schemas.microsoft.com/office/drawing/2014/main" id="{91D33BAB-1743-4F5C-AD8B-FE5DB4683FB8}"/>
              </a:ext>
            </a:extLst>
          </p:cNvPr>
          <p:cNvSpPr>
            <a:spLocks noGrp="1"/>
          </p:cNvSpPr>
          <p:nvPr/>
        </p:nvSpPr>
        <p:spPr>
          <a:xfrm>
            <a:off x="7528560" y="2381250"/>
            <a:ext cx="1760220" cy="285750"/>
          </a:xfrm>
          <a:prstGeom prst="rect">
            <a:avLst/>
          </a:prstGeom>
          <a:noFill/>
          <a:ln w="0">
            <a:noFill/>
            <a:prstDash val="solid"/>
          </a:ln>
        </p:spPr>
        <p:txBody>
          <a:bodyPr lIns="0" tIns="0" rIns="0" bIns="0" anchor="t">
            <a:noAutofit/>
          </a:bodyPr>
          <a:lstStyle/>
          <a:p>
            <a:pPr algn="l">
              <a:buNone/>
              <a:defRPr sz="1800" b="1">
                <a:solidFill>
                  <a:srgbClr val="1565C0"/>
                </a:solidFill>
                <a:latin typeface="Arial"/>
                <a:ea typeface="Arial"/>
                <a:cs typeface="Arial"/>
              </a:defRPr>
            </a:pPr>
            <a:r>
              <a:rPr sz="1800" b="1">
                <a:solidFill>
                  <a:srgbClr val="1565C0"/>
                </a:solidFill>
                <a:latin typeface="Arial"/>
                <a:ea typeface="Arial"/>
                <a:cs typeface="Arial"/>
              </a:rPr>
              <a:t>04</a:t>
            </a:r>
          </a:p>
        </p:txBody>
      </p:sp>
      <p:sp>
        <p:nvSpPr>
          <p:cNvPr id="19" name="Retângulo 18">
            <a:extLst>
              <a:ext uri="{FF2B5EF4-FFF2-40B4-BE49-F238E27FC236}">
                <a16:creationId xmlns:a16="http://schemas.microsoft.com/office/drawing/2014/main" id="{B914C6BE-8BBD-4017-BDBD-FDA64429840A}"/>
              </a:ext>
            </a:extLst>
          </p:cNvPr>
          <p:cNvSpPr>
            <a:spLocks noGrp="1"/>
          </p:cNvSpPr>
          <p:nvPr/>
        </p:nvSpPr>
        <p:spPr>
          <a:xfrm>
            <a:off x="7528560" y="2857500"/>
            <a:ext cx="1760220" cy="552450"/>
          </a:xfrm>
          <a:prstGeom prst="rect">
            <a:avLst/>
          </a:prstGeom>
          <a:noFill/>
          <a:ln w="0">
            <a:noFill/>
            <a:prstDash val="solid"/>
          </a:ln>
        </p:spPr>
        <p:txBody>
          <a:bodyPr lIns="0" tIns="0" rIns="0" bIns="0" anchor="ctr">
            <a:noAutofit/>
          </a:bodyPr>
          <a:lstStyle/>
          <a:p>
            <a:pPr algn="l">
              <a:buNone/>
              <a:defRPr sz="2025" b="1">
                <a:solidFill>
                  <a:srgbClr val="10212B"/>
                </a:solidFill>
                <a:latin typeface="Arial"/>
                <a:ea typeface="Arial"/>
                <a:cs typeface="Arial"/>
              </a:defRPr>
            </a:pPr>
            <a:r>
              <a:rPr sz="2025" b="1">
                <a:solidFill>
                  <a:srgbClr val="10212B"/>
                </a:solidFill>
                <a:latin typeface="Arial"/>
                <a:ea typeface="Arial"/>
                <a:cs typeface="Arial"/>
              </a:rPr>
              <a:t>Sintaxe mínima</a:t>
            </a:r>
          </a:p>
        </p:txBody>
      </p:sp>
      <p:sp>
        <p:nvSpPr>
          <p:cNvPr id="20" name="Retângulo 19">
            <a:extLst>
              <a:ext uri="{FF2B5EF4-FFF2-40B4-BE49-F238E27FC236}">
                <a16:creationId xmlns:a16="http://schemas.microsoft.com/office/drawing/2014/main" id="{2AD8BBAB-E26D-4613-9E74-851AFC386E72}"/>
              </a:ext>
            </a:extLst>
          </p:cNvPr>
          <p:cNvSpPr>
            <a:spLocks noGrp="1"/>
          </p:cNvSpPr>
          <p:nvPr/>
        </p:nvSpPr>
        <p:spPr>
          <a:xfrm>
            <a:off x="7528560" y="3524250"/>
            <a:ext cx="1760220" cy="876300"/>
          </a:xfrm>
          <a:prstGeom prst="rect">
            <a:avLst/>
          </a:prstGeom>
          <a:noFill/>
          <a:ln w="0">
            <a:noFill/>
            <a:prstDash val="solid"/>
          </a:ln>
        </p:spPr>
        <p:txBody>
          <a:bodyPr lIns="0" tIns="0" rIns="0" bIns="0" anchor="ctr">
            <a:noAutofit/>
          </a:bodyPr>
          <a:lstStyle/>
          <a:p>
            <a:pPr algn="l">
              <a:buNone/>
              <a:defRPr sz="1800" b="0">
                <a:solidFill>
                  <a:srgbClr val="5F6B72"/>
                </a:solidFill>
                <a:latin typeface="Arial"/>
                <a:ea typeface="Arial"/>
                <a:cs typeface="Arial"/>
              </a:defRPr>
            </a:pPr>
            <a:r>
              <a:rPr sz="1800" b="0">
                <a:solidFill>
                  <a:srgbClr val="5F6B72"/>
                </a:solidFill>
                <a:latin typeface="Arial"/>
                <a:ea typeface="Arial"/>
                <a:cs typeface="Arial"/>
              </a:rPr>
              <a:t>Classe, main e saída</a:t>
            </a:r>
          </a:p>
        </p:txBody>
      </p:sp>
      <p:sp>
        <p:nvSpPr>
          <p:cNvPr id="21" name="Retângulo 20">
            <a:extLst>
              <a:ext uri="{FF2B5EF4-FFF2-40B4-BE49-F238E27FC236}">
                <a16:creationId xmlns:a16="http://schemas.microsoft.com/office/drawing/2014/main" id="{6E18E985-B38D-4AED-8871-BC54AB6A8B74}"/>
              </a:ext>
            </a:extLst>
          </p:cNvPr>
          <p:cNvSpPr>
            <a:spLocks noGrp="1"/>
          </p:cNvSpPr>
          <p:nvPr/>
        </p:nvSpPr>
        <p:spPr>
          <a:xfrm>
            <a:off x="9650730" y="2190750"/>
            <a:ext cx="2141220" cy="2381250"/>
          </a:xfrm>
          <a:prstGeom prst="rect">
            <a:avLst/>
          </a:prstGeom>
          <a:solidFill>
            <a:srgbClr val="EEF3F5"/>
          </a:solidFill>
          <a:ln w="0">
            <a:noFill/>
            <a:prstDash val="solid"/>
          </a:ln>
        </p:spPr>
        <p:txBody>
          <a:bodyPr/>
          <a:lstStyle/>
          <a:p>
            <a:endParaRPr/>
          </a:p>
        </p:txBody>
      </p:sp>
      <p:sp>
        <p:nvSpPr>
          <p:cNvPr id="22" name="Retângulo 21">
            <a:extLst>
              <a:ext uri="{FF2B5EF4-FFF2-40B4-BE49-F238E27FC236}">
                <a16:creationId xmlns:a16="http://schemas.microsoft.com/office/drawing/2014/main" id="{19198341-BE73-4338-ADB0-42D28D3C2431}"/>
              </a:ext>
            </a:extLst>
          </p:cNvPr>
          <p:cNvSpPr>
            <a:spLocks noGrp="1"/>
          </p:cNvSpPr>
          <p:nvPr/>
        </p:nvSpPr>
        <p:spPr>
          <a:xfrm>
            <a:off x="9841230" y="2381250"/>
            <a:ext cx="1760220" cy="285750"/>
          </a:xfrm>
          <a:prstGeom prst="rect">
            <a:avLst/>
          </a:prstGeom>
          <a:noFill/>
          <a:ln w="0">
            <a:noFill/>
            <a:prstDash val="solid"/>
          </a:ln>
        </p:spPr>
        <p:txBody>
          <a:bodyPr lIns="0" tIns="0" rIns="0" bIns="0" anchor="t">
            <a:noAutofit/>
          </a:bodyPr>
          <a:lstStyle/>
          <a:p>
            <a:pPr algn="l">
              <a:buNone/>
              <a:defRPr sz="1800" b="1">
                <a:solidFill>
                  <a:srgbClr val="1565C0"/>
                </a:solidFill>
                <a:latin typeface="Arial"/>
                <a:ea typeface="Arial"/>
                <a:cs typeface="Arial"/>
              </a:defRPr>
            </a:pPr>
            <a:r>
              <a:rPr sz="1800" b="1">
                <a:solidFill>
                  <a:srgbClr val="1565C0"/>
                </a:solidFill>
                <a:latin typeface="Arial"/>
                <a:ea typeface="Arial"/>
                <a:cs typeface="Arial"/>
              </a:rPr>
              <a:t>05</a:t>
            </a:r>
          </a:p>
        </p:txBody>
      </p:sp>
      <p:sp>
        <p:nvSpPr>
          <p:cNvPr id="23" name="Retângulo 22">
            <a:extLst>
              <a:ext uri="{FF2B5EF4-FFF2-40B4-BE49-F238E27FC236}">
                <a16:creationId xmlns:a16="http://schemas.microsoft.com/office/drawing/2014/main" id="{21000471-357A-48C6-A07E-54772B08E50D}"/>
              </a:ext>
            </a:extLst>
          </p:cNvPr>
          <p:cNvSpPr>
            <a:spLocks noGrp="1"/>
          </p:cNvSpPr>
          <p:nvPr/>
        </p:nvSpPr>
        <p:spPr>
          <a:xfrm>
            <a:off x="9841230" y="2857500"/>
            <a:ext cx="1760220" cy="552450"/>
          </a:xfrm>
          <a:prstGeom prst="rect">
            <a:avLst/>
          </a:prstGeom>
          <a:noFill/>
          <a:ln w="0">
            <a:noFill/>
            <a:prstDash val="solid"/>
          </a:ln>
        </p:spPr>
        <p:txBody>
          <a:bodyPr lIns="0" tIns="0" rIns="0" bIns="0" anchor="ctr">
            <a:noAutofit/>
          </a:bodyPr>
          <a:lstStyle/>
          <a:p>
            <a:pPr algn="l">
              <a:buNone/>
              <a:defRPr sz="2025" b="1">
                <a:solidFill>
                  <a:srgbClr val="10212B"/>
                </a:solidFill>
                <a:latin typeface="Arial"/>
                <a:ea typeface="Arial"/>
                <a:cs typeface="Arial"/>
              </a:defRPr>
            </a:pPr>
            <a:r>
              <a:rPr sz="2025" b="1">
                <a:solidFill>
                  <a:srgbClr val="10212B"/>
                </a:solidFill>
                <a:latin typeface="Arial"/>
                <a:ea typeface="Arial"/>
                <a:cs typeface="Arial"/>
              </a:rPr>
              <a:t>Execução</a:t>
            </a:r>
          </a:p>
        </p:txBody>
      </p:sp>
      <p:sp>
        <p:nvSpPr>
          <p:cNvPr id="24" name="Retângulo 23">
            <a:extLst>
              <a:ext uri="{FF2B5EF4-FFF2-40B4-BE49-F238E27FC236}">
                <a16:creationId xmlns:a16="http://schemas.microsoft.com/office/drawing/2014/main" id="{0730F07C-CC42-497D-9364-9132DDEACF40}"/>
              </a:ext>
            </a:extLst>
          </p:cNvPr>
          <p:cNvSpPr>
            <a:spLocks noGrp="1"/>
          </p:cNvSpPr>
          <p:nvPr/>
        </p:nvSpPr>
        <p:spPr>
          <a:xfrm>
            <a:off x="9841230" y="3524250"/>
            <a:ext cx="1760220" cy="876300"/>
          </a:xfrm>
          <a:prstGeom prst="rect">
            <a:avLst/>
          </a:prstGeom>
          <a:noFill/>
          <a:ln w="0">
            <a:noFill/>
            <a:prstDash val="solid"/>
          </a:ln>
        </p:spPr>
        <p:txBody>
          <a:bodyPr lIns="0" tIns="0" rIns="0" bIns="0" anchor="ctr">
            <a:noAutofit/>
          </a:bodyPr>
          <a:lstStyle/>
          <a:p>
            <a:pPr algn="l">
              <a:buNone/>
              <a:defRPr sz="1800" b="0">
                <a:solidFill>
                  <a:srgbClr val="5F6B72"/>
                </a:solidFill>
                <a:latin typeface="Arial"/>
                <a:ea typeface="Arial"/>
                <a:cs typeface="Arial"/>
              </a:defRPr>
            </a:pPr>
            <a:r>
              <a:rPr sz="1800" b="0">
                <a:solidFill>
                  <a:srgbClr val="5F6B72"/>
                </a:solidFill>
                <a:latin typeface="Arial"/>
                <a:ea typeface="Arial"/>
                <a:cs typeface="Arial"/>
              </a:rPr>
              <a:t>javac, java e diagnóstico</a:t>
            </a:r>
          </a:p>
        </p:txBody>
      </p:sp>
      <p:sp>
        <p:nvSpPr>
          <p:cNvPr id="25" name="Retângulo 24">
            <a:extLst>
              <a:ext uri="{FF2B5EF4-FFF2-40B4-BE49-F238E27FC236}">
                <a16:creationId xmlns:a16="http://schemas.microsoft.com/office/drawing/2014/main" id="{F3A57462-D13A-4C30-8FD6-4EDA5349D0B5}"/>
              </a:ext>
            </a:extLst>
          </p:cNvPr>
          <p:cNvSpPr>
            <a:spLocks noGrp="1"/>
          </p:cNvSpPr>
          <p:nvPr/>
        </p:nvSpPr>
        <p:spPr>
          <a:xfrm>
            <a:off x="400050" y="5029200"/>
            <a:ext cx="11391900" cy="742950"/>
          </a:xfrm>
          <a:prstGeom prst="rect">
            <a:avLst/>
          </a:prstGeom>
          <a:noFill/>
          <a:ln w="0">
            <a:noFill/>
            <a:prstDash val="solid"/>
          </a:ln>
        </p:spPr>
        <p:txBody>
          <a:bodyPr lIns="0" tIns="0" rIns="0" bIns="0" anchor="ctr">
            <a:noAutofit/>
          </a:bodyPr>
          <a:lstStyle/>
          <a:p>
            <a:pPr algn="ctr">
              <a:buNone/>
              <a:defRPr sz="1800" b="1">
                <a:solidFill>
                  <a:srgbClr val="5F6B72"/>
                </a:solidFill>
                <a:latin typeface="Arial"/>
                <a:ea typeface="Arial"/>
                <a:cs typeface="Arial"/>
              </a:defRPr>
            </a:pPr>
            <a:r>
              <a:rPr sz="1800" b="1">
                <a:solidFill>
                  <a:srgbClr val="5F6B72"/>
                </a:solidFill>
                <a:latin typeface="Arial"/>
                <a:ea typeface="Arial"/>
                <a:cs typeface="Arial"/>
              </a:rPr>
              <a:t>A aula termina com uma compilação manual e uma prática de fixação.</a:t>
            </a:r>
          </a:p>
        </p:txBody>
      </p:sp>
      <p:pic>
        <p:nvPicPr>
          <p:cNvPr id="53" name="Imagem 27"/>
          <p:cNvPicPr>
            <a:picLocks noChangeAspect="1"/>
          </p:cNvPicPr>
          <p:nvPr/>
        </p:nvPicPr>
        <p:blipFill>
          <a:blip r:embed="rId3"/>
          <a:stretch>
            <a:fillRect/>
          </a:stretch>
        </p:blipFill>
        <p:spPr>
          <a:xfrm>
            <a:off x="0" y="6100707"/>
            <a:ext cx="2162477" cy="790685"/>
          </a:xfrm>
          <a:prstGeom prst="rect">
            <a:avLst/>
          </a:prstGeom>
        </p:spPr>
      </p:pic>
    </p:spTree>
    <p:extLst>
      <p:ext uri="{BB962C8B-B14F-4D97-AF65-F5344CB8AC3E}">
        <p14:creationId xmlns:p14="http://schemas.microsoft.com/office/powerpoint/2010/main" val="9510327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tângulo 10">
            <a:extLst>
              <a:ext uri="{FF2B5EF4-FFF2-40B4-BE49-F238E27FC236}">
                <a16:creationId xmlns:a16="http://schemas.microsoft.com/office/drawing/2014/main" id="{B54BF102-0996-4FEE-9A7C-406FC912C8A9}"/>
              </a:ext>
            </a:extLst>
          </p:cNvPr>
          <p:cNvSpPr>
            <a:spLocks noGrp="1"/>
          </p:cNvSpPr>
          <p:nvPr/>
        </p:nvSpPr>
        <p:spPr>
          <a:xfrm>
            <a:off x="400050" y="266700"/>
            <a:ext cx="4762500" cy="285750"/>
          </a:xfrm>
          <a:prstGeom prst="rect">
            <a:avLst/>
          </a:prstGeom>
          <a:noFill/>
          <a:ln w="0">
            <a:noFill/>
            <a:prstDash val="solid"/>
          </a:ln>
        </p:spPr>
        <p:txBody>
          <a:bodyPr lIns="0" tIns="0" rIns="0" bIns="0" anchor="ctr">
            <a:noAutofit/>
          </a:bodyPr>
          <a:lstStyle/>
          <a:p>
            <a:pPr algn="l">
              <a:buNone/>
              <a:defRPr sz="1800" b="1">
                <a:solidFill>
                  <a:srgbClr val="1565C0"/>
                </a:solidFill>
                <a:latin typeface="Arial"/>
                <a:ea typeface="Arial"/>
                <a:cs typeface="Arial"/>
              </a:defRPr>
            </a:pPr>
            <a:r>
              <a:rPr sz="1800" b="1">
                <a:solidFill>
                  <a:srgbClr val="1565C0"/>
                </a:solidFill>
                <a:latin typeface="Arial"/>
                <a:ea typeface="Arial"/>
                <a:cs typeface="Arial"/>
              </a:rPr>
              <a:t>PROGRAMAÇÃO ESTRUTURADA • AULA 4</a:t>
            </a:r>
          </a:p>
        </p:txBody>
      </p:sp>
      <p:sp>
        <p:nvSpPr>
          <p:cNvPr id="2" name="Retângulo 1">
            <a:extLst>
              <a:ext uri="{FF2B5EF4-FFF2-40B4-BE49-F238E27FC236}">
                <a16:creationId xmlns:a16="http://schemas.microsoft.com/office/drawing/2014/main" id="{8E841354-EA15-4E4A-B258-C89F42FE92AC}"/>
              </a:ext>
            </a:extLst>
          </p:cNvPr>
          <p:cNvSpPr>
            <a:spLocks noGrp="1"/>
          </p:cNvSpPr>
          <p:nvPr/>
        </p:nvSpPr>
        <p:spPr>
          <a:xfrm>
            <a:off x="400050" y="552450"/>
            <a:ext cx="11049000" cy="666750"/>
          </a:xfrm>
          <a:prstGeom prst="rect">
            <a:avLst/>
          </a:prstGeom>
          <a:noFill/>
          <a:ln w="0">
            <a:noFill/>
            <a:prstDash val="solid"/>
          </a:ln>
        </p:spPr>
        <p:txBody>
          <a:bodyPr lIns="0" tIns="0" rIns="0" bIns="0" anchor="ctr">
            <a:noAutofit/>
          </a:bodyPr>
          <a:lstStyle/>
          <a:p>
            <a:pPr algn="l">
              <a:buNone/>
              <a:defRPr sz="3750" b="1">
                <a:solidFill>
                  <a:srgbClr val="10212B"/>
                </a:solidFill>
                <a:latin typeface="Arial"/>
                <a:ea typeface="Arial"/>
                <a:cs typeface="Arial"/>
              </a:defRPr>
            </a:pPr>
            <a:r>
              <a:rPr sz="3750" b="1">
                <a:solidFill>
                  <a:srgbClr val="10212B"/>
                </a:solidFill>
                <a:latin typeface="Arial"/>
                <a:ea typeface="Arial"/>
                <a:cs typeface="Arial"/>
              </a:rPr>
              <a:t>Java: linguagem e plataforma</a:t>
            </a:r>
          </a:p>
        </p:txBody>
      </p:sp>
      <p:sp>
        <p:nvSpPr>
          <p:cNvPr id="3" name="Retângulo 2">
            <a:extLst>
              <a:ext uri="{FF2B5EF4-FFF2-40B4-BE49-F238E27FC236}">
                <a16:creationId xmlns:a16="http://schemas.microsoft.com/office/drawing/2014/main" id="{DC7DFF74-1421-42EF-B9EE-68BB2517D16A}"/>
              </a:ext>
            </a:extLst>
          </p:cNvPr>
          <p:cNvSpPr>
            <a:spLocks noGrp="1"/>
          </p:cNvSpPr>
          <p:nvPr/>
        </p:nvSpPr>
        <p:spPr>
          <a:xfrm>
            <a:off x="400050" y="1295400"/>
            <a:ext cx="11391900" cy="28575"/>
          </a:xfrm>
          <a:prstGeom prst="rect">
            <a:avLst/>
          </a:prstGeom>
          <a:solidFill>
            <a:srgbClr val="1565C0"/>
          </a:solidFill>
          <a:ln w="0">
            <a:noFill/>
            <a:prstDash val="solid"/>
          </a:ln>
        </p:spPr>
        <p:txBody>
          <a:bodyPr/>
          <a:lstStyle/>
          <a:p>
            <a:endParaRPr/>
          </a:p>
        </p:txBody>
      </p:sp>
      <p:sp>
        <p:nvSpPr>
          <p:cNvPr id="4" name="Retângulo 3">
            <a:extLst>
              <a:ext uri="{FF2B5EF4-FFF2-40B4-BE49-F238E27FC236}">
                <a16:creationId xmlns:a16="http://schemas.microsoft.com/office/drawing/2014/main" id="{820D2ED0-E502-4822-B3E5-91F19A92DE57}"/>
              </a:ext>
            </a:extLst>
          </p:cNvPr>
          <p:cNvSpPr>
            <a:spLocks noGrp="1"/>
          </p:cNvSpPr>
          <p:nvPr/>
        </p:nvSpPr>
        <p:spPr>
          <a:xfrm>
            <a:off x="11239500" y="6286500"/>
            <a:ext cx="552450" cy="304800"/>
          </a:xfrm>
          <a:prstGeom prst="rect">
            <a:avLst/>
          </a:prstGeom>
          <a:noFill/>
          <a:ln w="0">
            <a:noFill/>
            <a:prstDash val="solid"/>
          </a:ln>
        </p:spPr>
        <p:txBody>
          <a:bodyPr lIns="0" tIns="0" rIns="0" bIns="0" anchor="ctr">
            <a:noAutofit/>
          </a:bodyPr>
          <a:lstStyle/>
          <a:p>
            <a:pPr algn="r">
              <a:buNone/>
              <a:defRPr sz="1800" b="0">
                <a:solidFill>
                  <a:srgbClr val="5F6B72"/>
                </a:solidFill>
                <a:latin typeface="Arial"/>
                <a:ea typeface="Arial"/>
                <a:cs typeface="Arial"/>
              </a:defRPr>
            </a:pPr>
            <a:r>
              <a:rPr sz="1800" b="0">
                <a:solidFill>
                  <a:srgbClr val="5F6B72"/>
                </a:solidFill>
                <a:latin typeface="Arial"/>
                <a:ea typeface="Arial"/>
                <a:cs typeface="Arial"/>
              </a:rPr>
              <a:t>04</a:t>
            </a:r>
          </a:p>
        </p:txBody>
      </p:sp>
      <p:sp>
        <p:nvSpPr>
          <p:cNvPr id="5" name="Retângulo 4">
            <a:extLst>
              <a:ext uri="{FF2B5EF4-FFF2-40B4-BE49-F238E27FC236}">
                <a16:creationId xmlns:a16="http://schemas.microsoft.com/office/drawing/2014/main" id="{7637478D-318C-497B-82FF-18CBABB004C9}"/>
              </a:ext>
            </a:extLst>
          </p:cNvPr>
          <p:cNvSpPr>
            <a:spLocks noGrp="1"/>
          </p:cNvSpPr>
          <p:nvPr/>
        </p:nvSpPr>
        <p:spPr>
          <a:xfrm>
            <a:off x="400050" y="1685925"/>
            <a:ext cx="11144250" cy="4286250"/>
          </a:xfrm>
          <a:prstGeom prst="rect">
            <a:avLst/>
          </a:prstGeom>
          <a:solidFill>
            <a:srgbClr val="EEF3F5"/>
          </a:solidFill>
          <a:ln w="0">
            <a:noFill/>
            <a:prstDash val="solid"/>
          </a:ln>
        </p:spPr>
        <p:txBody>
          <a:bodyPr/>
          <a:lstStyle/>
          <a:p>
            <a:endParaRPr/>
          </a:p>
        </p:txBody>
      </p:sp>
      <p:sp>
        <p:nvSpPr>
          <p:cNvPr id="7" name="Retângulo 6">
            <a:extLst>
              <a:ext uri="{FF2B5EF4-FFF2-40B4-BE49-F238E27FC236}">
                <a16:creationId xmlns:a16="http://schemas.microsoft.com/office/drawing/2014/main" id="{F1FC815F-78EE-4CA6-AD9E-7D1AD5426CD8}"/>
              </a:ext>
            </a:extLst>
          </p:cNvPr>
          <p:cNvSpPr>
            <a:spLocks noGrp="1"/>
          </p:cNvSpPr>
          <p:nvPr/>
        </p:nvSpPr>
        <p:spPr>
          <a:xfrm>
            <a:off x="647700" y="1924050"/>
            <a:ext cx="4857750" cy="381000"/>
          </a:xfrm>
          <a:prstGeom prst="rect">
            <a:avLst/>
          </a:prstGeom>
          <a:noFill/>
          <a:ln w="0">
            <a:noFill/>
            <a:prstDash val="solid"/>
          </a:ln>
        </p:spPr>
        <p:txBody>
          <a:bodyPr lIns="0" tIns="0" rIns="0" bIns="0" anchor="ctr">
            <a:noAutofit/>
          </a:bodyPr>
          <a:lstStyle/>
          <a:p>
            <a:pPr algn="l">
              <a:buNone/>
              <a:defRPr sz="2025" b="1">
                <a:solidFill>
                  <a:srgbClr val="1565C0"/>
                </a:solidFill>
                <a:latin typeface="Arial"/>
                <a:ea typeface="Arial"/>
                <a:cs typeface="Arial"/>
              </a:defRPr>
            </a:pPr>
            <a:r>
              <a:rPr sz="2025" b="1">
                <a:solidFill>
                  <a:srgbClr val="1565C0"/>
                </a:solidFill>
                <a:latin typeface="Arial"/>
                <a:ea typeface="Arial"/>
                <a:cs typeface="Arial"/>
              </a:rPr>
              <a:t>Linguagem Java</a:t>
            </a:r>
          </a:p>
        </p:txBody>
      </p:sp>
      <p:pic>
        <p:nvPicPr>
          <p:cNvPr id="23" name="Imagem 12"/>
          <p:cNvPicPr>
            <a:picLocks noChangeAspect="1"/>
          </p:cNvPicPr>
          <p:nvPr/>
        </p:nvPicPr>
        <p:blipFill>
          <a:blip r:embed="rId3"/>
          <a:stretch>
            <a:fillRect/>
          </a:stretch>
        </p:blipFill>
        <p:spPr>
          <a:xfrm>
            <a:off x="0" y="6100707"/>
            <a:ext cx="2162477" cy="790685"/>
          </a:xfrm>
          <a:prstGeom prst="rect">
            <a:avLst/>
          </a:prstGeom>
        </p:spPr>
      </p:pic>
      <p:sp>
        <p:nvSpPr>
          <p:cNvPr id="12" name="CaixaDeTexto 11">
            <a:extLst>
              <a:ext uri="{FF2B5EF4-FFF2-40B4-BE49-F238E27FC236}">
                <a16:creationId xmlns:a16="http://schemas.microsoft.com/office/drawing/2014/main" id="{BE2CD0EF-241B-A346-CC7C-4365B2D6511F}"/>
              </a:ext>
            </a:extLst>
          </p:cNvPr>
          <p:cNvSpPr txBox="1"/>
          <p:nvPr/>
        </p:nvSpPr>
        <p:spPr>
          <a:xfrm>
            <a:off x="628650" y="2419115"/>
            <a:ext cx="10591800" cy="1015663"/>
          </a:xfrm>
          <a:prstGeom prst="rect">
            <a:avLst/>
          </a:prstGeom>
          <a:noFill/>
        </p:spPr>
        <p:txBody>
          <a:bodyPr wrap="square" rtlCol="0">
            <a:spAutoFit/>
          </a:bodyPr>
          <a:lstStyle/>
          <a:p>
            <a:pPr algn="just"/>
            <a:r>
              <a:rPr lang="pt-BR" sz="2000" dirty="0"/>
              <a:t>Java é uma linguagem completamente orientada a objetos, robusta, muito portátil, que permite operação em rede (com destaque à internet), a distribuição de aplicações e que incorpora diversas características voltadas à segurança.</a:t>
            </a:r>
          </a:p>
        </p:txBody>
      </p:sp>
      <p:sp>
        <p:nvSpPr>
          <p:cNvPr id="14" name="CaixaDeTexto 13">
            <a:extLst>
              <a:ext uri="{FF2B5EF4-FFF2-40B4-BE49-F238E27FC236}">
                <a16:creationId xmlns:a16="http://schemas.microsoft.com/office/drawing/2014/main" id="{1FCD51EB-C243-AA29-7FFC-C977C5318C93}"/>
              </a:ext>
            </a:extLst>
          </p:cNvPr>
          <p:cNvSpPr txBox="1"/>
          <p:nvPr/>
        </p:nvSpPr>
        <p:spPr>
          <a:xfrm>
            <a:off x="628650" y="3623608"/>
            <a:ext cx="10591800" cy="1631216"/>
          </a:xfrm>
          <a:prstGeom prst="rect">
            <a:avLst/>
          </a:prstGeom>
          <a:noFill/>
        </p:spPr>
        <p:txBody>
          <a:bodyPr wrap="square" rtlCol="0">
            <a:spAutoFit/>
          </a:bodyPr>
          <a:lstStyle/>
          <a:p>
            <a:r>
              <a:rPr lang="pt-BR" sz="2000" dirty="0"/>
              <a:t>Segundo sua especificação, o Java foi caracterizado assim:</a:t>
            </a:r>
          </a:p>
          <a:p>
            <a:r>
              <a:rPr lang="pt-BR" sz="2000" i="1" dirty="0"/>
              <a:t>“O Java é uma linguagem de programação de propósito geral, concorrente, baseada em classes e orientada a objetos. Projetada para ser simples o bastante para que a maioria dos programadores se torne fluente na linguagem. Java tem relação com C e C++, porém é organizada de forma diferente, com vários aspectos de C e C++ omitidos e algumas ideias de outras linguagens incluídas”</a:t>
            </a:r>
            <a:endParaRPr lang="pt-BR" sz="2800" dirty="0"/>
          </a:p>
        </p:txBody>
      </p:sp>
    </p:spTree>
    <p:extLst>
      <p:ext uri="{BB962C8B-B14F-4D97-AF65-F5344CB8AC3E}">
        <p14:creationId xmlns:p14="http://schemas.microsoft.com/office/powerpoint/2010/main" val="13396230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 name="Retângulo 25">
            <a:extLst>
              <a:ext uri="{FF2B5EF4-FFF2-40B4-BE49-F238E27FC236}">
                <a16:creationId xmlns:a16="http://schemas.microsoft.com/office/drawing/2014/main" id="{6607DC1E-DFA3-4608-857A-A401F7916868}"/>
              </a:ext>
            </a:extLst>
          </p:cNvPr>
          <p:cNvSpPr>
            <a:spLocks noGrp="1"/>
          </p:cNvSpPr>
          <p:nvPr/>
        </p:nvSpPr>
        <p:spPr>
          <a:xfrm>
            <a:off x="400050" y="266700"/>
            <a:ext cx="4762500" cy="285750"/>
          </a:xfrm>
          <a:prstGeom prst="rect">
            <a:avLst/>
          </a:prstGeom>
          <a:noFill/>
          <a:ln w="0">
            <a:noFill/>
            <a:prstDash val="solid"/>
          </a:ln>
        </p:spPr>
        <p:txBody>
          <a:bodyPr lIns="0" tIns="0" rIns="0" bIns="0" anchor="ctr">
            <a:noAutofit/>
          </a:bodyPr>
          <a:lstStyle/>
          <a:p>
            <a:pPr algn="l">
              <a:buNone/>
              <a:defRPr sz="1800" b="1">
                <a:solidFill>
                  <a:srgbClr val="1565C0"/>
                </a:solidFill>
                <a:latin typeface="Arial"/>
                <a:ea typeface="Arial"/>
                <a:cs typeface="Arial"/>
              </a:defRPr>
            </a:pPr>
            <a:r>
              <a:rPr sz="1800" b="1">
                <a:solidFill>
                  <a:srgbClr val="1565C0"/>
                </a:solidFill>
                <a:latin typeface="Arial"/>
                <a:ea typeface="Arial"/>
                <a:cs typeface="Arial"/>
              </a:rPr>
              <a:t>PROGRAMAÇÃO ESTRUTURADA • AULA 4</a:t>
            </a:r>
          </a:p>
        </p:txBody>
      </p:sp>
      <p:sp>
        <p:nvSpPr>
          <p:cNvPr id="2" name="Retângulo 1">
            <a:extLst>
              <a:ext uri="{FF2B5EF4-FFF2-40B4-BE49-F238E27FC236}">
                <a16:creationId xmlns:a16="http://schemas.microsoft.com/office/drawing/2014/main" id="{DBCE607E-CE84-4715-8191-AD184D4ABD8C}"/>
              </a:ext>
            </a:extLst>
          </p:cNvPr>
          <p:cNvSpPr>
            <a:spLocks noGrp="1"/>
          </p:cNvSpPr>
          <p:nvPr/>
        </p:nvSpPr>
        <p:spPr>
          <a:xfrm>
            <a:off x="400050" y="552450"/>
            <a:ext cx="11049000" cy="666750"/>
          </a:xfrm>
          <a:prstGeom prst="rect">
            <a:avLst/>
          </a:prstGeom>
          <a:noFill/>
          <a:ln w="0">
            <a:noFill/>
            <a:prstDash val="solid"/>
          </a:ln>
        </p:spPr>
        <p:txBody>
          <a:bodyPr lIns="0" tIns="0" rIns="0" bIns="0" anchor="ctr">
            <a:noAutofit/>
          </a:bodyPr>
          <a:lstStyle/>
          <a:p>
            <a:pPr algn="l">
              <a:buNone/>
              <a:defRPr sz="3600" b="1">
                <a:solidFill>
                  <a:srgbClr val="10212B"/>
                </a:solidFill>
                <a:latin typeface="Arial"/>
                <a:ea typeface="Arial"/>
                <a:cs typeface="Arial"/>
              </a:defRPr>
            </a:pPr>
            <a:r>
              <a:rPr sz="3600" b="1">
                <a:solidFill>
                  <a:srgbClr val="10212B"/>
                </a:solidFill>
                <a:latin typeface="Arial"/>
                <a:ea typeface="Arial"/>
                <a:cs typeface="Arial"/>
              </a:rPr>
              <a:t>Histórico sintético do Java</a:t>
            </a:r>
          </a:p>
        </p:txBody>
      </p:sp>
      <p:sp>
        <p:nvSpPr>
          <p:cNvPr id="3" name="Retângulo 2">
            <a:extLst>
              <a:ext uri="{FF2B5EF4-FFF2-40B4-BE49-F238E27FC236}">
                <a16:creationId xmlns:a16="http://schemas.microsoft.com/office/drawing/2014/main" id="{0F2E1FCC-9D1D-41F9-B9B6-BFBA6975E4CA}"/>
              </a:ext>
            </a:extLst>
          </p:cNvPr>
          <p:cNvSpPr>
            <a:spLocks noGrp="1"/>
          </p:cNvSpPr>
          <p:nvPr/>
        </p:nvSpPr>
        <p:spPr>
          <a:xfrm>
            <a:off x="400050" y="1295400"/>
            <a:ext cx="11391900" cy="28575"/>
          </a:xfrm>
          <a:prstGeom prst="rect">
            <a:avLst/>
          </a:prstGeom>
          <a:solidFill>
            <a:srgbClr val="1565C0"/>
          </a:solidFill>
          <a:ln w="0">
            <a:noFill/>
            <a:prstDash val="solid"/>
          </a:ln>
        </p:spPr>
        <p:txBody>
          <a:bodyPr/>
          <a:lstStyle/>
          <a:p>
            <a:endParaRPr/>
          </a:p>
        </p:txBody>
      </p:sp>
      <p:sp>
        <p:nvSpPr>
          <p:cNvPr id="4" name="Retângulo 3">
            <a:extLst>
              <a:ext uri="{FF2B5EF4-FFF2-40B4-BE49-F238E27FC236}">
                <a16:creationId xmlns:a16="http://schemas.microsoft.com/office/drawing/2014/main" id="{C0936FD9-02D5-423B-90D7-53DBDF3AB651}"/>
              </a:ext>
            </a:extLst>
          </p:cNvPr>
          <p:cNvSpPr>
            <a:spLocks noGrp="1"/>
          </p:cNvSpPr>
          <p:nvPr/>
        </p:nvSpPr>
        <p:spPr>
          <a:xfrm>
            <a:off x="11239500" y="6286500"/>
            <a:ext cx="552450" cy="304800"/>
          </a:xfrm>
          <a:prstGeom prst="rect">
            <a:avLst/>
          </a:prstGeom>
          <a:noFill/>
          <a:ln w="0">
            <a:noFill/>
            <a:prstDash val="solid"/>
          </a:ln>
        </p:spPr>
        <p:txBody>
          <a:bodyPr lIns="0" tIns="0" rIns="0" bIns="0" anchor="ctr">
            <a:noAutofit/>
          </a:bodyPr>
          <a:lstStyle/>
          <a:p>
            <a:pPr algn="r">
              <a:buNone/>
              <a:defRPr sz="1800" b="0">
                <a:solidFill>
                  <a:srgbClr val="5F6B72"/>
                </a:solidFill>
                <a:latin typeface="Arial"/>
                <a:ea typeface="Arial"/>
                <a:cs typeface="Arial"/>
              </a:defRPr>
            </a:pPr>
            <a:r>
              <a:rPr sz="1800" b="0">
                <a:solidFill>
                  <a:srgbClr val="5F6B72"/>
                </a:solidFill>
                <a:latin typeface="Arial"/>
                <a:ea typeface="Arial"/>
                <a:cs typeface="Arial"/>
              </a:rPr>
              <a:t>05</a:t>
            </a:r>
          </a:p>
        </p:txBody>
      </p:sp>
      <p:pic>
        <p:nvPicPr>
          <p:cNvPr id="53" name="Imagem 27"/>
          <p:cNvPicPr>
            <a:picLocks noChangeAspect="1"/>
          </p:cNvPicPr>
          <p:nvPr/>
        </p:nvPicPr>
        <p:blipFill>
          <a:blip r:embed="rId3"/>
          <a:stretch>
            <a:fillRect/>
          </a:stretch>
        </p:blipFill>
        <p:spPr>
          <a:xfrm>
            <a:off x="0" y="6100707"/>
            <a:ext cx="2162477" cy="790685"/>
          </a:xfrm>
          <a:prstGeom prst="rect">
            <a:avLst/>
          </a:prstGeom>
        </p:spPr>
      </p:pic>
      <p:pic>
        <p:nvPicPr>
          <p:cNvPr id="28" name="Imagem 27">
            <a:extLst>
              <a:ext uri="{FF2B5EF4-FFF2-40B4-BE49-F238E27FC236}">
                <a16:creationId xmlns:a16="http://schemas.microsoft.com/office/drawing/2014/main" id="{112869D2-F7C9-0B56-4419-F47D0E8261FE}"/>
              </a:ext>
            </a:extLst>
          </p:cNvPr>
          <p:cNvPicPr>
            <a:picLocks noChangeAspect="1"/>
          </p:cNvPicPr>
          <p:nvPr/>
        </p:nvPicPr>
        <p:blipFill>
          <a:blip r:embed="rId4"/>
          <a:stretch>
            <a:fillRect/>
          </a:stretch>
        </p:blipFill>
        <p:spPr>
          <a:xfrm>
            <a:off x="1383276" y="1504950"/>
            <a:ext cx="8203176" cy="4090288"/>
          </a:xfrm>
          <a:prstGeom prst="rect">
            <a:avLst/>
          </a:prstGeom>
        </p:spPr>
      </p:pic>
    </p:spTree>
    <p:extLst>
      <p:ext uri="{BB962C8B-B14F-4D97-AF65-F5344CB8AC3E}">
        <p14:creationId xmlns:p14="http://schemas.microsoft.com/office/powerpoint/2010/main" val="9510327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E9E5E72-AACA-ADF9-A682-20049047DF87}"/>
            </a:ext>
          </a:extLst>
        </p:cNvPr>
        <p:cNvGrpSpPr/>
        <p:nvPr/>
      </p:nvGrpSpPr>
      <p:grpSpPr>
        <a:xfrm>
          <a:off x="0" y="0"/>
          <a:ext cx="0" cy="0"/>
          <a:chOff x="0" y="0"/>
          <a:chExt cx="0" cy="0"/>
        </a:xfrm>
      </p:grpSpPr>
      <p:sp>
        <p:nvSpPr>
          <p:cNvPr id="26" name="Retângulo 25">
            <a:extLst>
              <a:ext uri="{FF2B5EF4-FFF2-40B4-BE49-F238E27FC236}">
                <a16:creationId xmlns:a16="http://schemas.microsoft.com/office/drawing/2014/main" id="{C86A33B9-E186-36BF-71BF-3A1DAA4DA800}"/>
              </a:ext>
            </a:extLst>
          </p:cNvPr>
          <p:cNvSpPr>
            <a:spLocks noGrp="1"/>
          </p:cNvSpPr>
          <p:nvPr/>
        </p:nvSpPr>
        <p:spPr>
          <a:xfrm>
            <a:off x="400050" y="266700"/>
            <a:ext cx="4762500" cy="285750"/>
          </a:xfrm>
          <a:prstGeom prst="rect">
            <a:avLst/>
          </a:prstGeom>
          <a:noFill/>
          <a:ln w="0">
            <a:noFill/>
            <a:prstDash val="solid"/>
          </a:ln>
        </p:spPr>
        <p:txBody>
          <a:bodyPr lIns="0" tIns="0" rIns="0" bIns="0" anchor="ctr">
            <a:noAutofit/>
          </a:bodyPr>
          <a:lstStyle/>
          <a:p>
            <a:pPr algn="l">
              <a:buNone/>
              <a:defRPr sz="1800" b="1">
                <a:solidFill>
                  <a:srgbClr val="1565C0"/>
                </a:solidFill>
                <a:latin typeface="Arial"/>
                <a:ea typeface="Arial"/>
                <a:cs typeface="Arial"/>
              </a:defRPr>
            </a:pPr>
            <a:r>
              <a:rPr sz="1800" b="1">
                <a:solidFill>
                  <a:srgbClr val="1565C0"/>
                </a:solidFill>
                <a:latin typeface="Arial"/>
                <a:ea typeface="Arial"/>
                <a:cs typeface="Arial"/>
              </a:rPr>
              <a:t>PROGRAMAÇÃO ESTRUTURADA • AULA 4</a:t>
            </a:r>
          </a:p>
        </p:txBody>
      </p:sp>
      <p:sp>
        <p:nvSpPr>
          <p:cNvPr id="2" name="Retângulo 1">
            <a:extLst>
              <a:ext uri="{FF2B5EF4-FFF2-40B4-BE49-F238E27FC236}">
                <a16:creationId xmlns:a16="http://schemas.microsoft.com/office/drawing/2014/main" id="{4A43B035-E47F-626B-03E6-60B3116F5E95}"/>
              </a:ext>
            </a:extLst>
          </p:cNvPr>
          <p:cNvSpPr>
            <a:spLocks noGrp="1"/>
          </p:cNvSpPr>
          <p:nvPr/>
        </p:nvSpPr>
        <p:spPr>
          <a:xfrm>
            <a:off x="400050" y="552450"/>
            <a:ext cx="11049000" cy="666750"/>
          </a:xfrm>
          <a:prstGeom prst="rect">
            <a:avLst/>
          </a:prstGeom>
          <a:noFill/>
          <a:ln w="0">
            <a:noFill/>
            <a:prstDash val="solid"/>
          </a:ln>
        </p:spPr>
        <p:txBody>
          <a:bodyPr lIns="0" tIns="0" rIns="0" bIns="0" anchor="ctr">
            <a:noAutofit/>
          </a:bodyPr>
          <a:lstStyle/>
          <a:p>
            <a:pPr algn="l">
              <a:buNone/>
              <a:defRPr sz="3600" b="1">
                <a:solidFill>
                  <a:srgbClr val="10212B"/>
                </a:solidFill>
                <a:latin typeface="Arial"/>
                <a:ea typeface="Arial"/>
                <a:cs typeface="Arial"/>
              </a:defRPr>
            </a:pPr>
            <a:r>
              <a:rPr sz="3600" b="1">
                <a:solidFill>
                  <a:srgbClr val="10212B"/>
                </a:solidFill>
                <a:latin typeface="Arial"/>
                <a:ea typeface="Arial"/>
                <a:cs typeface="Arial"/>
              </a:rPr>
              <a:t>Histórico sintético do Java</a:t>
            </a:r>
          </a:p>
        </p:txBody>
      </p:sp>
      <p:sp>
        <p:nvSpPr>
          <p:cNvPr id="3" name="Retângulo 2">
            <a:extLst>
              <a:ext uri="{FF2B5EF4-FFF2-40B4-BE49-F238E27FC236}">
                <a16:creationId xmlns:a16="http://schemas.microsoft.com/office/drawing/2014/main" id="{3A618EED-BEC1-0953-CA57-CB624856FA6C}"/>
              </a:ext>
            </a:extLst>
          </p:cNvPr>
          <p:cNvSpPr>
            <a:spLocks noGrp="1"/>
          </p:cNvSpPr>
          <p:nvPr/>
        </p:nvSpPr>
        <p:spPr>
          <a:xfrm>
            <a:off x="400050" y="1295400"/>
            <a:ext cx="11391900" cy="28575"/>
          </a:xfrm>
          <a:prstGeom prst="rect">
            <a:avLst/>
          </a:prstGeom>
          <a:solidFill>
            <a:srgbClr val="1565C0"/>
          </a:solidFill>
          <a:ln w="0">
            <a:noFill/>
            <a:prstDash val="solid"/>
          </a:ln>
        </p:spPr>
        <p:txBody>
          <a:bodyPr/>
          <a:lstStyle/>
          <a:p>
            <a:endParaRPr/>
          </a:p>
        </p:txBody>
      </p:sp>
      <p:sp>
        <p:nvSpPr>
          <p:cNvPr id="4" name="Retângulo 3">
            <a:extLst>
              <a:ext uri="{FF2B5EF4-FFF2-40B4-BE49-F238E27FC236}">
                <a16:creationId xmlns:a16="http://schemas.microsoft.com/office/drawing/2014/main" id="{BCEF56CD-7826-142C-C860-6F3E37A9EAA3}"/>
              </a:ext>
            </a:extLst>
          </p:cNvPr>
          <p:cNvSpPr>
            <a:spLocks noGrp="1"/>
          </p:cNvSpPr>
          <p:nvPr/>
        </p:nvSpPr>
        <p:spPr>
          <a:xfrm>
            <a:off x="11239500" y="6286500"/>
            <a:ext cx="552450" cy="304800"/>
          </a:xfrm>
          <a:prstGeom prst="rect">
            <a:avLst/>
          </a:prstGeom>
          <a:noFill/>
          <a:ln w="0">
            <a:noFill/>
            <a:prstDash val="solid"/>
          </a:ln>
        </p:spPr>
        <p:txBody>
          <a:bodyPr lIns="0" tIns="0" rIns="0" bIns="0" anchor="ctr">
            <a:noAutofit/>
          </a:bodyPr>
          <a:lstStyle/>
          <a:p>
            <a:pPr algn="r">
              <a:buNone/>
              <a:defRPr sz="1800" b="0">
                <a:solidFill>
                  <a:srgbClr val="5F6B72"/>
                </a:solidFill>
                <a:latin typeface="Arial"/>
                <a:ea typeface="Arial"/>
                <a:cs typeface="Arial"/>
              </a:defRPr>
            </a:pPr>
            <a:r>
              <a:rPr sz="1800" b="0">
                <a:solidFill>
                  <a:srgbClr val="5F6B72"/>
                </a:solidFill>
                <a:latin typeface="Arial"/>
                <a:ea typeface="Arial"/>
                <a:cs typeface="Arial"/>
              </a:rPr>
              <a:t>05</a:t>
            </a:r>
          </a:p>
        </p:txBody>
      </p:sp>
      <p:pic>
        <p:nvPicPr>
          <p:cNvPr id="53" name="Imagem 27">
            <a:extLst>
              <a:ext uri="{FF2B5EF4-FFF2-40B4-BE49-F238E27FC236}">
                <a16:creationId xmlns:a16="http://schemas.microsoft.com/office/drawing/2014/main" id="{086ED43C-C8FB-B05A-6134-6B71A7CA9716}"/>
              </a:ext>
            </a:extLst>
          </p:cNvPr>
          <p:cNvPicPr>
            <a:picLocks noChangeAspect="1"/>
          </p:cNvPicPr>
          <p:nvPr/>
        </p:nvPicPr>
        <p:blipFill>
          <a:blip r:embed="rId3"/>
          <a:stretch>
            <a:fillRect/>
          </a:stretch>
        </p:blipFill>
        <p:spPr>
          <a:xfrm>
            <a:off x="0" y="6100707"/>
            <a:ext cx="2162477" cy="790685"/>
          </a:xfrm>
          <a:prstGeom prst="rect">
            <a:avLst/>
          </a:prstGeom>
        </p:spPr>
      </p:pic>
      <p:pic>
        <p:nvPicPr>
          <p:cNvPr id="6" name="Imagem 5">
            <a:extLst>
              <a:ext uri="{FF2B5EF4-FFF2-40B4-BE49-F238E27FC236}">
                <a16:creationId xmlns:a16="http://schemas.microsoft.com/office/drawing/2014/main" id="{C91FB105-5F3A-D742-0A77-C0A513056537}"/>
              </a:ext>
            </a:extLst>
          </p:cNvPr>
          <p:cNvPicPr>
            <a:picLocks noChangeAspect="1"/>
          </p:cNvPicPr>
          <p:nvPr/>
        </p:nvPicPr>
        <p:blipFill>
          <a:blip r:embed="rId4"/>
          <a:stretch>
            <a:fillRect/>
          </a:stretch>
        </p:blipFill>
        <p:spPr>
          <a:xfrm>
            <a:off x="1163409" y="1442815"/>
            <a:ext cx="9071971" cy="4162140"/>
          </a:xfrm>
          <a:prstGeom prst="rect">
            <a:avLst/>
          </a:prstGeom>
        </p:spPr>
      </p:pic>
    </p:spTree>
    <p:extLst>
      <p:ext uri="{BB962C8B-B14F-4D97-AF65-F5344CB8AC3E}">
        <p14:creationId xmlns:p14="http://schemas.microsoft.com/office/powerpoint/2010/main" val="2616499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4CAC594C-40D5-0BBF-0543-4172CE99CA97}"/>
            </a:ext>
          </a:extLst>
        </p:cNvPr>
        <p:cNvGrpSpPr/>
        <p:nvPr/>
      </p:nvGrpSpPr>
      <p:grpSpPr>
        <a:xfrm>
          <a:off x="0" y="0"/>
          <a:ext cx="0" cy="0"/>
          <a:chOff x="0" y="0"/>
          <a:chExt cx="0" cy="0"/>
        </a:xfrm>
      </p:grpSpPr>
      <p:sp>
        <p:nvSpPr>
          <p:cNvPr id="26" name="Retângulo 25">
            <a:extLst>
              <a:ext uri="{FF2B5EF4-FFF2-40B4-BE49-F238E27FC236}">
                <a16:creationId xmlns:a16="http://schemas.microsoft.com/office/drawing/2014/main" id="{3F73FD58-7EBA-9904-9D13-9577F9D0DB89}"/>
              </a:ext>
            </a:extLst>
          </p:cNvPr>
          <p:cNvSpPr>
            <a:spLocks noGrp="1"/>
          </p:cNvSpPr>
          <p:nvPr/>
        </p:nvSpPr>
        <p:spPr>
          <a:xfrm>
            <a:off x="400050" y="266700"/>
            <a:ext cx="4762500" cy="285750"/>
          </a:xfrm>
          <a:prstGeom prst="rect">
            <a:avLst/>
          </a:prstGeom>
          <a:noFill/>
          <a:ln w="0">
            <a:noFill/>
            <a:prstDash val="solid"/>
          </a:ln>
        </p:spPr>
        <p:txBody>
          <a:bodyPr lIns="0" tIns="0" rIns="0" bIns="0" anchor="ctr">
            <a:noAutofit/>
          </a:bodyPr>
          <a:lstStyle/>
          <a:p>
            <a:pPr algn="l">
              <a:buNone/>
              <a:defRPr sz="1800" b="1">
                <a:solidFill>
                  <a:srgbClr val="1565C0"/>
                </a:solidFill>
                <a:latin typeface="Arial"/>
                <a:ea typeface="Arial"/>
                <a:cs typeface="Arial"/>
              </a:defRPr>
            </a:pPr>
            <a:r>
              <a:rPr sz="1800" b="1">
                <a:solidFill>
                  <a:srgbClr val="1565C0"/>
                </a:solidFill>
                <a:latin typeface="Arial"/>
                <a:ea typeface="Arial"/>
                <a:cs typeface="Arial"/>
              </a:rPr>
              <a:t>PROGRAMAÇÃO ESTRUTURADA • AULA 4</a:t>
            </a:r>
          </a:p>
        </p:txBody>
      </p:sp>
      <p:sp>
        <p:nvSpPr>
          <p:cNvPr id="2" name="Retângulo 1">
            <a:extLst>
              <a:ext uri="{FF2B5EF4-FFF2-40B4-BE49-F238E27FC236}">
                <a16:creationId xmlns:a16="http://schemas.microsoft.com/office/drawing/2014/main" id="{235ABCC3-8B67-E060-9FDE-F48E2FB5E89D}"/>
              </a:ext>
            </a:extLst>
          </p:cNvPr>
          <p:cNvSpPr>
            <a:spLocks noGrp="1"/>
          </p:cNvSpPr>
          <p:nvPr/>
        </p:nvSpPr>
        <p:spPr>
          <a:xfrm>
            <a:off x="400050" y="552450"/>
            <a:ext cx="11049000" cy="666750"/>
          </a:xfrm>
          <a:prstGeom prst="rect">
            <a:avLst/>
          </a:prstGeom>
          <a:noFill/>
          <a:ln w="0">
            <a:noFill/>
            <a:prstDash val="solid"/>
          </a:ln>
        </p:spPr>
        <p:txBody>
          <a:bodyPr lIns="0" tIns="0" rIns="0" bIns="0" anchor="ctr">
            <a:noAutofit/>
          </a:bodyPr>
          <a:lstStyle/>
          <a:p>
            <a:pPr algn="l">
              <a:buNone/>
              <a:defRPr sz="3600" b="1">
                <a:solidFill>
                  <a:srgbClr val="10212B"/>
                </a:solidFill>
                <a:latin typeface="Arial"/>
                <a:ea typeface="Arial"/>
                <a:cs typeface="Arial"/>
              </a:defRPr>
            </a:pPr>
            <a:r>
              <a:rPr sz="3600" b="1">
                <a:solidFill>
                  <a:srgbClr val="10212B"/>
                </a:solidFill>
                <a:latin typeface="Arial"/>
                <a:ea typeface="Arial"/>
                <a:cs typeface="Arial"/>
              </a:rPr>
              <a:t>Histórico sintético do Java</a:t>
            </a:r>
          </a:p>
        </p:txBody>
      </p:sp>
      <p:sp>
        <p:nvSpPr>
          <p:cNvPr id="3" name="Retângulo 2">
            <a:extLst>
              <a:ext uri="{FF2B5EF4-FFF2-40B4-BE49-F238E27FC236}">
                <a16:creationId xmlns:a16="http://schemas.microsoft.com/office/drawing/2014/main" id="{081BD5FF-61BC-D3D6-2743-EF592C4DEC37}"/>
              </a:ext>
            </a:extLst>
          </p:cNvPr>
          <p:cNvSpPr>
            <a:spLocks noGrp="1"/>
          </p:cNvSpPr>
          <p:nvPr/>
        </p:nvSpPr>
        <p:spPr>
          <a:xfrm>
            <a:off x="400050" y="1295400"/>
            <a:ext cx="11391900" cy="28575"/>
          </a:xfrm>
          <a:prstGeom prst="rect">
            <a:avLst/>
          </a:prstGeom>
          <a:solidFill>
            <a:srgbClr val="1565C0"/>
          </a:solidFill>
          <a:ln w="0">
            <a:noFill/>
            <a:prstDash val="solid"/>
          </a:ln>
        </p:spPr>
        <p:txBody>
          <a:bodyPr/>
          <a:lstStyle/>
          <a:p>
            <a:endParaRPr/>
          </a:p>
        </p:txBody>
      </p:sp>
      <p:sp>
        <p:nvSpPr>
          <p:cNvPr id="4" name="Retângulo 3">
            <a:extLst>
              <a:ext uri="{FF2B5EF4-FFF2-40B4-BE49-F238E27FC236}">
                <a16:creationId xmlns:a16="http://schemas.microsoft.com/office/drawing/2014/main" id="{8A414472-96E0-202A-C424-0F6DAEE47E3E}"/>
              </a:ext>
            </a:extLst>
          </p:cNvPr>
          <p:cNvSpPr>
            <a:spLocks noGrp="1"/>
          </p:cNvSpPr>
          <p:nvPr/>
        </p:nvSpPr>
        <p:spPr>
          <a:xfrm>
            <a:off x="11239500" y="6286500"/>
            <a:ext cx="552450" cy="304800"/>
          </a:xfrm>
          <a:prstGeom prst="rect">
            <a:avLst/>
          </a:prstGeom>
          <a:noFill/>
          <a:ln w="0">
            <a:noFill/>
            <a:prstDash val="solid"/>
          </a:ln>
        </p:spPr>
        <p:txBody>
          <a:bodyPr lIns="0" tIns="0" rIns="0" bIns="0" anchor="ctr">
            <a:noAutofit/>
          </a:bodyPr>
          <a:lstStyle/>
          <a:p>
            <a:pPr algn="r">
              <a:buNone/>
              <a:defRPr sz="1800" b="0">
                <a:solidFill>
                  <a:srgbClr val="5F6B72"/>
                </a:solidFill>
                <a:latin typeface="Arial"/>
                <a:ea typeface="Arial"/>
                <a:cs typeface="Arial"/>
              </a:defRPr>
            </a:pPr>
            <a:r>
              <a:rPr sz="1800" b="0">
                <a:solidFill>
                  <a:srgbClr val="5F6B72"/>
                </a:solidFill>
                <a:latin typeface="Arial"/>
                <a:ea typeface="Arial"/>
                <a:cs typeface="Arial"/>
              </a:rPr>
              <a:t>05</a:t>
            </a:r>
          </a:p>
        </p:txBody>
      </p:sp>
      <p:pic>
        <p:nvPicPr>
          <p:cNvPr id="53" name="Imagem 27">
            <a:extLst>
              <a:ext uri="{FF2B5EF4-FFF2-40B4-BE49-F238E27FC236}">
                <a16:creationId xmlns:a16="http://schemas.microsoft.com/office/drawing/2014/main" id="{A3CA13B4-4C85-FD83-4431-0854E5E247E8}"/>
              </a:ext>
            </a:extLst>
          </p:cNvPr>
          <p:cNvPicPr>
            <a:picLocks noChangeAspect="1"/>
          </p:cNvPicPr>
          <p:nvPr/>
        </p:nvPicPr>
        <p:blipFill>
          <a:blip r:embed="rId3"/>
          <a:stretch>
            <a:fillRect/>
          </a:stretch>
        </p:blipFill>
        <p:spPr>
          <a:xfrm>
            <a:off x="0" y="6100707"/>
            <a:ext cx="2162477" cy="790685"/>
          </a:xfrm>
          <a:prstGeom prst="rect">
            <a:avLst/>
          </a:prstGeom>
        </p:spPr>
      </p:pic>
      <p:pic>
        <p:nvPicPr>
          <p:cNvPr id="7" name="Imagem 6">
            <a:extLst>
              <a:ext uri="{FF2B5EF4-FFF2-40B4-BE49-F238E27FC236}">
                <a16:creationId xmlns:a16="http://schemas.microsoft.com/office/drawing/2014/main" id="{920CFA7F-072C-CC1D-9676-4C945853242E}"/>
              </a:ext>
            </a:extLst>
          </p:cNvPr>
          <p:cNvPicPr>
            <a:picLocks noChangeAspect="1"/>
          </p:cNvPicPr>
          <p:nvPr/>
        </p:nvPicPr>
        <p:blipFill>
          <a:blip r:embed="rId4"/>
          <a:stretch>
            <a:fillRect/>
          </a:stretch>
        </p:blipFill>
        <p:spPr>
          <a:xfrm>
            <a:off x="1347324" y="1602846"/>
            <a:ext cx="9094534" cy="3274032"/>
          </a:xfrm>
          <a:prstGeom prst="rect">
            <a:avLst/>
          </a:prstGeom>
        </p:spPr>
      </p:pic>
      <p:sp>
        <p:nvSpPr>
          <p:cNvPr id="8" name="CaixaDeTexto 7">
            <a:extLst>
              <a:ext uri="{FF2B5EF4-FFF2-40B4-BE49-F238E27FC236}">
                <a16:creationId xmlns:a16="http://schemas.microsoft.com/office/drawing/2014/main" id="{CB85D0E6-CC21-4914-6CB1-C975CC35174A}"/>
              </a:ext>
            </a:extLst>
          </p:cNvPr>
          <p:cNvSpPr txBox="1"/>
          <p:nvPr/>
        </p:nvSpPr>
        <p:spPr>
          <a:xfrm>
            <a:off x="2335466" y="4876878"/>
            <a:ext cx="8731045" cy="1200329"/>
          </a:xfrm>
          <a:prstGeom prst="rect">
            <a:avLst/>
          </a:prstGeom>
          <a:noFill/>
        </p:spPr>
        <p:txBody>
          <a:bodyPr wrap="square" rtlCol="0">
            <a:spAutoFit/>
          </a:bodyPr>
          <a:lstStyle/>
          <a:p>
            <a:r>
              <a:rPr lang="pt-BR" dirty="0"/>
              <a:t>O modelo de lançamentos a cada 6 meses foi adotado a partir do </a:t>
            </a:r>
            <a:r>
              <a:rPr lang="pt-BR" b="1" dirty="0"/>
              <a:t>Java 9/10</a:t>
            </a:r>
            <a:r>
              <a:rPr lang="pt-BR" dirty="0"/>
              <a:t> (entre 2017 e 2018), e não em 2014 (ano do Java 8). A cada três anos (agora a cada dois), uma versão recebe o selo </a:t>
            </a:r>
            <a:r>
              <a:rPr lang="pt-BR" b="1" dirty="0"/>
              <a:t>LTS</a:t>
            </a:r>
            <a:r>
              <a:rPr lang="pt-BR" dirty="0"/>
              <a:t> (</a:t>
            </a:r>
            <a:r>
              <a:rPr lang="pt-BR" dirty="0" err="1"/>
              <a:t>Long</a:t>
            </a:r>
            <a:r>
              <a:rPr lang="pt-BR" dirty="0"/>
              <a:t> </a:t>
            </a:r>
            <a:r>
              <a:rPr lang="pt-BR" dirty="0" err="1"/>
              <a:t>Term</a:t>
            </a:r>
            <a:r>
              <a:rPr lang="pt-BR" dirty="0"/>
              <a:t> </a:t>
            </a:r>
            <a:r>
              <a:rPr lang="pt-BR" dirty="0" err="1"/>
              <a:t>Support</a:t>
            </a:r>
            <a:r>
              <a:rPr lang="pt-BR" dirty="0"/>
              <a:t>) para empresas que buscam estabilidade a longo prazo.</a:t>
            </a:r>
          </a:p>
        </p:txBody>
      </p:sp>
    </p:spTree>
    <p:extLst>
      <p:ext uri="{BB962C8B-B14F-4D97-AF65-F5344CB8AC3E}">
        <p14:creationId xmlns:p14="http://schemas.microsoft.com/office/powerpoint/2010/main" val="12153470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tângulo 4">
            <a:extLst>
              <a:ext uri="{FF2B5EF4-FFF2-40B4-BE49-F238E27FC236}">
                <a16:creationId xmlns:a16="http://schemas.microsoft.com/office/drawing/2014/main" id="{F122D8E2-DDF6-4220-98FF-9EA6E2ABCBA0}"/>
              </a:ext>
            </a:extLst>
          </p:cNvPr>
          <p:cNvSpPr>
            <a:spLocks noGrp="1"/>
          </p:cNvSpPr>
          <p:nvPr/>
        </p:nvSpPr>
        <p:spPr>
          <a:xfrm>
            <a:off x="400050" y="266700"/>
            <a:ext cx="4762500" cy="285750"/>
          </a:xfrm>
          <a:prstGeom prst="rect">
            <a:avLst/>
          </a:prstGeom>
          <a:noFill/>
          <a:ln w="0">
            <a:noFill/>
            <a:prstDash val="solid"/>
          </a:ln>
        </p:spPr>
        <p:txBody>
          <a:bodyPr lIns="0" tIns="0" rIns="0" bIns="0" anchor="ctr">
            <a:noAutofit/>
          </a:bodyPr>
          <a:lstStyle/>
          <a:p>
            <a:pPr algn="l">
              <a:buNone/>
              <a:defRPr sz="1800" b="1">
                <a:solidFill>
                  <a:srgbClr val="1565C0"/>
                </a:solidFill>
                <a:latin typeface="Arial"/>
                <a:ea typeface="Arial"/>
                <a:cs typeface="Arial"/>
              </a:defRPr>
            </a:pPr>
            <a:r>
              <a:rPr sz="1800" b="1">
                <a:solidFill>
                  <a:srgbClr val="1565C0"/>
                </a:solidFill>
                <a:latin typeface="Arial"/>
                <a:ea typeface="Arial"/>
                <a:cs typeface="Arial"/>
              </a:rPr>
              <a:t>PROGRAMAÇÃO ESTRUTURADA • AULA 4</a:t>
            </a:r>
          </a:p>
        </p:txBody>
      </p:sp>
      <p:sp>
        <p:nvSpPr>
          <p:cNvPr id="2" name="Retângulo 1">
            <a:extLst>
              <a:ext uri="{FF2B5EF4-FFF2-40B4-BE49-F238E27FC236}">
                <a16:creationId xmlns:a16="http://schemas.microsoft.com/office/drawing/2014/main" id="{0075BF57-9013-412B-8343-408236193924}"/>
              </a:ext>
            </a:extLst>
          </p:cNvPr>
          <p:cNvSpPr>
            <a:spLocks noGrp="1"/>
          </p:cNvSpPr>
          <p:nvPr/>
        </p:nvSpPr>
        <p:spPr>
          <a:xfrm>
            <a:off x="400050" y="552450"/>
            <a:ext cx="11049000" cy="666750"/>
          </a:xfrm>
          <a:prstGeom prst="rect">
            <a:avLst/>
          </a:prstGeom>
          <a:noFill/>
          <a:ln w="0">
            <a:noFill/>
            <a:prstDash val="solid"/>
          </a:ln>
        </p:spPr>
        <p:txBody>
          <a:bodyPr lIns="0" tIns="0" rIns="0" bIns="0" anchor="ctr">
            <a:noAutofit/>
          </a:bodyPr>
          <a:lstStyle/>
          <a:p>
            <a:pPr algn="l">
              <a:buNone/>
              <a:defRPr sz="3750" b="1">
                <a:solidFill>
                  <a:srgbClr val="10212B"/>
                </a:solidFill>
                <a:latin typeface="Arial"/>
                <a:ea typeface="Arial"/>
                <a:cs typeface="Arial"/>
              </a:defRPr>
            </a:pPr>
            <a:r>
              <a:rPr sz="3750" b="1">
                <a:solidFill>
                  <a:srgbClr val="10212B"/>
                </a:solidFill>
                <a:latin typeface="Arial"/>
                <a:ea typeface="Arial"/>
                <a:cs typeface="Arial"/>
              </a:rPr>
              <a:t>Características técnicas da linguagem Java</a:t>
            </a:r>
          </a:p>
        </p:txBody>
      </p:sp>
      <p:sp>
        <p:nvSpPr>
          <p:cNvPr id="3" name="Retângulo 2">
            <a:extLst>
              <a:ext uri="{FF2B5EF4-FFF2-40B4-BE49-F238E27FC236}">
                <a16:creationId xmlns:a16="http://schemas.microsoft.com/office/drawing/2014/main" id="{B420A40E-033C-4220-BBD6-5668615BCA46}"/>
              </a:ext>
            </a:extLst>
          </p:cNvPr>
          <p:cNvSpPr>
            <a:spLocks noGrp="1"/>
          </p:cNvSpPr>
          <p:nvPr/>
        </p:nvSpPr>
        <p:spPr>
          <a:xfrm>
            <a:off x="400050" y="1295400"/>
            <a:ext cx="11391900" cy="28575"/>
          </a:xfrm>
          <a:prstGeom prst="rect">
            <a:avLst/>
          </a:prstGeom>
          <a:solidFill>
            <a:srgbClr val="1565C0"/>
          </a:solidFill>
          <a:ln w="0">
            <a:noFill/>
            <a:prstDash val="solid"/>
          </a:ln>
        </p:spPr>
        <p:txBody>
          <a:bodyPr/>
          <a:lstStyle/>
          <a:p>
            <a:endParaRPr/>
          </a:p>
        </p:txBody>
      </p:sp>
      <p:sp>
        <p:nvSpPr>
          <p:cNvPr id="4" name="Retângulo 3">
            <a:extLst>
              <a:ext uri="{FF2B5EF4-FFF2-40B4-BE49-F238E27FC236}">
                <a16:creationId xmlns:a16="http://schemas.microsoft.com/office/drawing/2014/main" id="{E66CF043-859C-4E28-A06D-5F6E285E7B2C}"/>
              </a:ext>
            </a:extLst>
          </p:cNvPr>
          <p:cNvSpPr>
            <a:spLocks noGrp="1"/>
          </p:cNvSpPr>
          <p:nvPr/>
        </p:nvSpPr>
        <p:spPr>
          <a:xfrm>
            <a:off x="11239500" y="6286500"/>
            <a:ext cx="552450" cy="304800"/>
          </a:xfrm>
          <a:prstGeom prst="rect">
            <a:avLst/>
          </a:prstGeom>
          <a:noFill/>
          <a:ln w="0">
            <a:noFill/>
            <a:prstDash val="solid"/>
          </a:ln>
        </p:spPr>
        <p:txBody>
          <a:bodyPr lIns="0" tIns="0" rIns="0" bIns="0" anchor="ctr">
            <a:noAutofit/>
          </a:bodyPr>
          <a:lstStyle/>
          <a:p>
            <a:pPr algn="r">
              <a:buNone/>
              <a:defRPr sz="1800" b="0">
                <a:solidFill>
                  <a:srgbClr val="5F6B72"/>
                </a:solidFill>
                <a:latin typeface="Arial"/>
                <a:ea typeface="Arial"/>
                <a:cs typeface="Arial"/>
              </a:defRPr>
            </a:pPr>
            <a:r>
              <a:rPr sz="1800" b="0">
                <a:solidFill>
                  <a:srgbClr val="5F6B72"/>
                </a:solidFill>
                <a:latin typeface="Arial"/>
                <a:ea typeface="Arial"/>
                <a:cs typeface="Arial"/>
              </a:rPr>
              <a:t>06</a:t>
            </a:r>
          </a:p>
        </p:txBody>
      </p:sp>
      <p:pic>
        <p:nvPicPr>
          <p:cNvPr id="13" name="Imagem 6"/>
          <p:cNvPicPr>
            <a:picLocks noChangeAspect="1"/>
          </p:cNvPicPr>
          <p:nvPr/>
        </p:nvPicPr>
        <p:blipFill>
          <a:blip r:embed="rId3"/>
          <a:stretch>
            <a:fillRect/>
          </a:stretch>
        </p:blipFill>
        <p:spPr>
          <a:xfrm>
            <a:off x="0" y="6005457"/>
            <a:ext cx="2162477" cy="790685"/>
          </a:xfrm>
          <a:prstGeom prst="rect">
            <a:avLst/>
          </a:prstGeom>
        </p:spPr>
      </p:pic>
      <p:sp>
        <p:nvSpPr>
          <p:cNvPr id="6" name="CaixaDeTexto 5">
            <a:extLst>
              <a:ext uri="{FF2B5EF4-FFF2-40B4-BE49-F238E27FC236}">
                <a16:creationId xmlns:a16="http://schemas.microsoft.com/office/drawing/2014/main" id="{4CFD4EF2-F0A1-C385-90EC-94B63307B973}"/>
              </a:ext>
            </a:extLst>
          </p:cNvPr>
          <p:cNvSpPr txBox="1"/>
          <p:nvPr/>
        </p:nvSpPr>
        <p:spPr>
          <a:xfrm>
            <a:off x="540774" y="1769806"/>
            <a:ext cx="10491020" cy="3170099"/>
          </a:xfrm>
          <a:prstGeom prst="rect">
            <a:avLst/>
          </a:prstGeom>
          <a:noFill/>
        </p:spPr>
        <p:txBody>
          <a:bodyPr wrap="square" rtlCol="0">
            <a:spAutoFit/>
          </a:bodyPr>
          <a:lstStyle/>
          <a:p>
            <a:pPr lvl="0"/>
            <a:r>
              <a:rPr lang="pt-BR" sz="2000" b="1" dirty="0"/>
              <a:t>Orientação a Objetos:</a:t>
            </a:r>
            <a:r>
              <a:rPr lang="pt-BR" sz="2000" dirty="0"/>
              <a:t> Baseado em abstração, encapsulamento e herança. Com exceção dos tipos primitivos, todo a estrutura do código é organizada em classes e objetos.</a:t>
            </a:r>
          </a:p>
          <a:p>
            <a:pPr lvl="0"/>
            <a:endParaRPr lang="pt-BR" sz="2000" dirty="0"/>
          </a:p>
          <a:p>
            <a:pPr lvl="0"/>
            <a:r>
              <a:rPr lang="pt-BR" sz="2000" b="1" dirty="0"/>
              <a:t>Independência de Plataforma:</a:t>
            </a:r>
            <a:r>
              <a:rPr lang="pt-BR" sz="2000" dirty="0"/>
              <a:t> O código é traduzido para </a:t>
            </a:r>
            <a:r>
              <a:rPr lang="pt-BR" sz="2000" i="1" dirty="0" err="1"/>
              <a:t>bytecodes</a:t>
            </a:r>
            <a:r>
              <a:rPr lang="pt-BR" sz="2000" dirty="0"/>
              <a:t> (intermediário) e executado por uma </a:t>
            </a:r>
            <a:r>
              <a:rPr lang="pt-BR" sz="2000" b="1" dirty="0"/>
              <a:t>JVM</a:t>
            </a:r>
            <a:r>
              <a:rPr lang="pt-BR" sz="2000" dirty="0"/>
              <a:t> (Java Virtual Machine), permitindo rodar a mesma aplicação em qualquer sistema operacional.</a:t>
            </a:r>
          </a:p>
          <a:p>
            <a:pPr lvl="0"/>
            <a:endParaRPr lang="pt-BR" sz="2000" dirty="0"/>
          </a:p>
          <a:p>
            <a:pPr lvl="0"/>
            <a:r>
              <a:rPr lang="pt-BR" sz="2000" b="1" dirty="0"/>
              <a:t>Concorrência e </a:t>
            </a:r>
            <a:r>
              <a:rPr lang="pt-BR" sz="2000" b="1" dirty="0" err="1"/>
              <a:t>Multithreading</a:t>
            </a:r>
            <a:r>
              <a:rPr lang="pt-BR" sz="2000" b="1" dirty="0"/>
              <a:t>:</a:t>
            </a:r>
            <a:r>
              <a:rPr lang="pt-BR" sz="2000" dirty="0"/>
              <a:t> Possui suporte nativo a </a:t>
            </a:r>
            <a:r>
              <a:rPr lang="pt-BR" sz="2000" i="1" dirty="0"/>
              <a:t>threads</a:t>
            </a:r>
            <a:r>
              <a:rPr lang="pt-BR" sz="2000" dirty="0"/>
              <a:t>, permitindo executar múltiplos fluxos de tarefas em paralelo e otimizar o uso de processadores </a:t>
            </a:r>
            <a:r>
              <a:rPr lang="pt-BR" sz="2000" dirty="0" err="1"/>
              <a:t>multinúcleo</a:t>
            </a:r>
            <a:r>
              <a:rPr lang="pt-BR" sz="2000" dirty="0"/>
              <a:t>.</a:t>
            </a:r>
          </a:p>
          <a:p>
            <a:pPr lvl="0"/>
            <a:endParaRPr lang="pt-BR" sz="2000" dirty="0"/>
          </a:p>
        </p:txBody>
      </p:sp>
    </p:spTree>
    <p:extLst>
      <p:ext uri="{BB962C8B-B14F-4D97-AF65-F5344CB8AC3E}">
        <p14:creationId xmlns:p14="http://schemas.microsoft.com/office/powerpoint/2010/main" val="10354271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D8563CE9-9D34-6684-0C4F-23AE60002E44}"/>
            </a:ext>
          </a:extLst>
        </p:cNvPr>
        <p:cNvGrpSpPr/>
        <p:nvPr/>
      </p:nvGrpSpPr>
      <p:grpSpPr>
        <a:xfrm>
          <a:off x="0" y="0"/>
          <a:ext cx="0" cy="0"/>
          <a:chOff x="0" y="0"/>
          <a:chExt cx="0" cy="0"/>
        </a:xfrm>
      </p:grpSpPr>
      <p:sp>
        <p:nvSpPr>
          <p:cNvPr id="5" name="Retângulo 4">
            <a:extLst>
              <a:ext uri="{FF2B5EF4-FFF2-40B4-BE49-F238E27FC236}">
                <a16:creationId xmlns:a16="http://schemas.microsoft.com/office/drawing/2014/main" id="{10F26B7E-5FB3-7052-1D3B-8E51865E2482}"/>
              </a:ext>
            </a:extLst>
          </p:cNvPr>
          <p:cNvSpPr>
            <a:spLocks noGrp="1"/>
          </p:cNvSpPr>
          <p:nvPr/>
        </p:nvSpPr>
        <p:spPr>
          <a:xfrm>
            <a:off x="400050" y="266700"/>
            <a:ext cx="4762500" cy="285750"/>
          </a:xfrm>
          <a:prstGeom prst="rect">
            <a:avLst/>
          </a:prstGeom>
          <a:noFill/>
          <a:ln w="0">
            <a:noFill/>
            <a:prstDash val="solid"/>
          </a:ln>
        </p:spPr>
        <p:txBody>
          <a:bodyPr lIns="0" tIns="0" rIns="0" bIns="0" anchor="ctr">
            <a:noAutofit/>
          </a:bodyPr>
          <a:lstStyle/>
          <a:p>
            <a:pPr algn="l">
              <a:buNone/>
              <a:defRPr sz="1800" b="1">
                <a:solidFill>
                  <a:srgbClr val="1565C0"/>
                </a:solidFill>
                <a:latin typeface="Arial"/>
                <a:ea typeface="Arial"/>
                <a:cs typeface="Arial"/>
              </a:defRPr>
            </a:pPr>
            <a:r>
              <a:rPr sz="1800" b="1">
                <a:solidFill>
                  <a:srgbClr val="1565C0"/>
                </a:solidFill>
                <a:latin typeface="Arial"/>
                <a:ea typeface="Arial"/>
                <a:cs typeface="Arial"/>
              </a:rPr>
              <a:t>PROGRAMAÇÃO ESTRUTURADA • AULA 4</a:t>
            </a:r>
          </a:p>
        </p:txBody>
      </p:sp>
      <p:sp>
        <p:nvSpPr>
          <p:cNvPr id="2" name="Retângulo 1">
            <a:extLst>
              <a:ext uri="{FF2B5EF4-FFF2-40B4-BE49-F238E27FC236}">
                <a16:creationId xmlns:a16="http://schemas.microsoft.com/office/drawing/2014/main" id="{815CCAB5-B424-7F7F-D783-D71461C2A803}"/>
              </a:ext>
            </a:extLst>
          </p:cNvPr>
          <p:cNvSpPr>
            <a:spLocks noGrp="1"/>
          </p:cNvSpPr>
          <p:nvPr/>
        </p:nvSpPr>
        <p:spPr>
          <a:xfrm>
            <a:off x="400050" y="552450"/>
            <a:ext cx="11049000" cy="666750"/>
          </a:xfrm>
          <a:prstGeom prst="rect">
            <a:avLst/>
          </a:prstGeom>
          <a:noFill/>
          <a:ln w="0">
            <a:noFill/>
            <a:prstDash val="solid"/>
          </a:ln>
        </p:spPr>
        <p:txBody>
          <a:bodyPr lIns="0" tIns="0" rIns="0" bIns="0" anchor="ctr">
            <a:noAutofit/>
          </a:bodyPr>
          <a:lstStyle/>
          <a:p>
            <a:pPr algn="l">
              <a:buNone/>
              <a:defRPr sz="3750" b="1">
                <a:solidFill>
                  <a:srgbClr val="10212B"/>
                </a:solidFill>
                <a:latin typeface="Arial"/>
                <a:ea typeface="Arial"/>
                <a:cs typeface="Arial"/>
              </a:defRPr>
            </a:pPr>
            <a:r>
              <a:rPr sz="3750" b="1">
                <a:solidFill>
                  <a:srgbClr val="10212B"/>
                </a:solidFill>
                <a:latin typeface="Arial"/>
                <a:ea typeface="Arial"/>
                <a:cs typeface="Arial"/>
              </a:rPr>
              <a:t>Características técnicas da linguagem Java</a:t>
            </a:r>
          </a:p>
        </p:txBody>
      </p:sp>
      <p:sp>
        <p:nvSpPr>
          <p:cNvPr id="3" name="Retângulo 2">
            <a:extLst>
              <a:ext uri="{FF2B5EF4-FFF2-40B4-BE49-F238E27FC236}">
                <a16:creationId xmlns:a16="http://schemas.microsoft.com/office/drawing/2014/main" id="{B6F7046A-E9EA-5A58-0270-0B53EBC0A2DA}"/>
              </a:ext>
            </a:extLst>
          </p:cNvPr>
          <p:cNvSpPr>
            <a:spLocks noGrp="1"/>
          </p:cNvSpPr>
          <p:nvPr/>
        </p:nvSpPr>
        <p:spPr>
          <a:xfrm>
            <a:off x="400050" y="1295400"/>
            <a:ext cx="11391900" cy="28575"/>
          </a:xfrm>
          <a:prstGeom prst="rect">
            <a:avLst/>
          </a:prstGeom>
          <a:solidFill>
            <a:srgbClr val="1565C0"/>
          </a:solidFill>
          <a:ln w="0">
            <a:noFill/>
            <a:prstDash val="solid"/>
          </a:ln>
        </p:spPr>
        <p:txBody>
          <a:bodyPr/>
          <a:lstStyle/>
          <a:p>
            <a:endParaRPr/>
          </a:p>
        </p:txBody>
      </p:sp>
      <p:sp>
        <p:nvSpPr>
          <p:cNvPr id="4" name="Retângulo 3">
            <a:extLst>
              <a:ext uri="{FF2B5EF4-FFF2-40B4-BE49-F238E27FC236}">
                <a16:creationId xmlns:a16="http://schemas.microsoft.com/office/drawing/2014/main" id="{079E7D2E-9ECE-2202-D290-7D58F2122429}"/>
              </a:ext>
            </a:extLst>
          </p:cNvPr>
          <p:cNvSpPr>
            <a:spLocks noGrp="1"/>
          </p:cNvSpPr>
          <p:nvPr/>
        </p:nvSpPr>
        <p:spPr>
          <a:xfrm>
            <a:off x="11239500" y="6286500"/>
            <a:ext cx="552450" cy="304800"/>
          </a:xfrm>
          <a:prstGeom prst="rect">
            <a:avLst/>
          </a:prstGeom>
          <a:noFill/>
          <a:ln w="0">
            <a:noFill/>
            <a:prstDash val="solid"/>
          </a:ln>
        </p:spPr>
        <p:txBody>
          <a:bodyPr lIns="0" tIns="0" rIns="0" bIns="0" anchor="ctr">
            <a:noAutofit/>
          </a:bodyPr>
          <a:lstStyle/>
          <a:p>
            <a:pPr algn="r">
              <a:buNone/>
              <a:defRPr sz="1800" b="0">
                <a:solidFill>
                  <a:srgbClr val="5F6B72"/>
                </a:solidFill>
                <a:latin typeface="Arial"/>
                <a:ea typeface="Arial"/>
                <a:cs typeface="Arial"/>
              </a:defRPr>
            </a:pPr>
            <a:r>
              <a:rPr sz="1800" b="0">
                <a:solidFill>
                  <a:srgbClr val="5F6B72"/>
                </a:solidFill>
                <a:latin typeface="Arial"/>
                <a:ea typeface="Arial"/>
                <a:cs typeface="Arial"/>
              </a:rPr>
              <a:t>06</a:t>
            </a:r>
          </a:p>
        </p:txBody>
      </p:sp>
      <p:pic>
        <p:nvPicPr>
          <p:cNvPr id="13" name="Imagem 6">
            <a:extLst>
              <a:ext uri="{FF2B5EF4-FFF2-40B4-BE49-F238E27FC236}">
                <a16:creationId xmlns:a16="http://schemas.microsoft.com/office/drawing/2014/main" id="{96918946-DFD3-F516-FCFA-F9D4D7935525}"/>
              </a:ext>
            </a:extLst>
          </p:cNvPr>
          <p:cNvPicPr>
            <a:picLocks noChangeAspect="1"/>
          </p:cNvPicPr>
          <p:nvPr/>
        </p:nvPicPr>
        <p:blipFill>
          <a:blip r:embed="rId3"/>
          <a:stretch>
            <a:fillRect/>
          </a:stretch>
        </p:blipFill>
        <p:spPr>
          <a:xfrm>
            <a:off x="0" y="6005457"/>
            <a:ext cx="2162477" cy="790685"/>
          </a:xfrm>
          <a:prstGeom prst="rect">
            <a:avLst/>
          </a:prstGeom>
        </p:spPr>
      </p:pic>
      <p:sp>
        <p:nvSpPr>
          <p:cNvPr id="6" name="CaixaDeTexto 5">
            <a:extLst>
              <a:ext uri="{FF2B5EF4-FFF2-40B4-BE49-F238E27FC236}">
                <a16:creationId xmlns:a16="http://schemas.microsoft.com/office/drawing/2014/main" id="{AF7C61DB-4FC1-5FC1-1BE1-B04BA5ECEC26}"/>
              </a:ext>
            </a:extLst>
          </p:cNvPr>
          <p:cNvSpPr txBox="1"/>
          <p:nvPr/>
        </p:nvSpPr>
        <p:spPr>
          <a:xfrm>
            <a:off x="540774" y="1769806"/>
            <a:ext cx="10491020" cy="3170099"/>
          </a:xfrm>
          <a:prstGeom prst="rect">
            <a:avLst/>
          </a:prstGeom>
          <a:noFill/>
        </p:spPr>
        <p:txBody>
          <a:bodyPr wrap="square" rtlCol="0">
            <a:spAutoFit/>
          </a:bodyPr>
          <a:lstStyle/>
          <a:p>
            <a:pPr lvl="0"/>
            <a:r>
              <a:rPr lang="pt-BR" sz="2000" b="1" dirty="0"/>
              <a:t>Segurança e Controle de Acesso:</a:t>
            </a:r>
            <a:r>
              <a:rPr lang="pt-BR" sz="2000" dirty="0"/>
              <a:t> Projetado para ambientes de rede, inclui mecanismos flexíveis que restringem acessos indevidos e protegem o sistema de arquivos local.</a:t>
            </a:r>
          </a:p>
          <a:p>
            <a:pPr lvl="0"/>
            <a:endParaRPr lang="pt-BR" sz="2000" dirty="0"/>
          </a:p>
          <a:p>
            <a:pPr lvl="0"/>
            <a:r>
              <a:rPr lang="pt-BR" sz="2000" b="1" dirty="0"/>
              <a:t>Gerenciamento de Memória (Sem Ponteiros):</a:t>
            </a:r>
            <a:r>
              <a:rPr lang="pt-BR" sz="2000" dirty="0"/>
              <a:t> Elimina o uso de ponteiros manuais e conta com o </a:t>
            </a:r>
            <a:r>
              <a:rPr lang="pt-BR" sz="2000" b="1" dirty="0"/>
              <a:t>Garbage </a:t>
            </a:r>
            <a:r>
              <a:rPr lang="pt-BR" sz="2000" b="1" dirty="0" err="1"/>
              <a:t>Collector</a:t>
            </a:r>
            <a:r>
              <a:rPr lang="pt-BR" sz="2000" dirty="0"/>
              <a:t>, um sistema automático que libera a memória de objetos não utilizados.</a:t>
            </a:r>
          </a:p>
          <a:p>
            <a:pPr lvl="0"/>
            <a:endParaRPr lang="pt-BR" sz="2000" dirty="0"/>
          </a:p>
          <a:p>
            <a:pPr lvl="0"/>
            <a:r>
              <a:rPr lang="pt-BR" sz="2000" b="1" dirty="0"/>
              <a:t>Performance Otimizada (Compilador JIT):</a:t>
            </a:r>
            <a:r>
              <a:rPr lang="pt-BR" sz="2000" dirty="0"/>
              <a:t> Utiliza o compilador </a:t>
            </a:r>
            <a:r>
              <a:rPr lang="pt-BR" sz="2000" i="1" dirty="0"/>
              <a:t>Just-In-Time</a:t>
            </a:r>
            <a:r>
              <a:rPr lang="pt-BR" sz="2000" dirty="0"/>
              <a:t> na JVM para traduzir </a:t>
            </a:r>
            <a:r>
              <a:rPr lang="pt-BR" sz="2000" i="1" dirty="0" err="1"/>
              <a:t>bytecodes</a:t>
            </a:r>
            <a:r>
              <a:rPr lang="pt-BR" sz="2000" dirty="0"/>
              <a:t> em código nativo durante a execução, alcançando desempenho comparável ao de linguagens nativas.</a:t>
            </a:r>
          </a:p>
          <a:p>
            <a:pPr lvl="0"/>
            <a:endParaRPr lang="pt-BR" sz="2000" dirty="0"/>
          </a:p>
        </p:txBody>
      </p:sp>
    </p:spTree>
    <p:extLst>
      <p:ext uri="{BB962C8B-B14F-4D97-AF65-F5344CB8AC3E}">
        <p14:creationId xmlns:p14="http://schemas.microsoft.com/office/powerpoint/2010/main" val="10594165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tângulo 4">
            <a:extLst>
              <a:ext uri="{FF2B5EF4-FFF2-40B4-BE49-F238E27FC236}">
                <a16:creationId xmlns:a16="http://schemas.microsoft.com/office/drawing/2014/main" id="{F122D8E2-DDF6-4220-98FF-9EA6E2ABCBA0}"/>
              </a:ext>
            </a:extLst>
          </p:cNvPr>
          <p:cNvSpPr>
            <a:spLocks noGrp="1"/>
          </p:cNvSpPr>
          <p:nvPr/>
        </p:nvSpPr>
        <p:spPr>
          <a:xfrm>
            <a:off x="400050" y="266700"/>
            <a:ext cx="4762500" cy="285750"/>
          </a:xfrm>
          <a:prstGeom prst="rect">
            <a:avLst/>
          </a:prstGeom>
          <a:noFill/>
          <a:ln w="0">
            <a:noFill/>
            <a:prstDash val="solid"/>
          </a:ln>
        </p:spPr>
        <p:txBody>
          <a:bodyPr lIns="0" tIns="0" rIns="0" bIns="0" anchor="ctr">
            <a:noAutofit/>
          </a:bodyPr>
          <a:lstStyle/>
          <a:p>
            <a:pPr algn="l">
              <a:buNone/>
              <a:defRPr sz="1800" b="1">
                <a:solidFill>
                  <a:srgbClr val="1565C0"/>
                </a:solidFill>
                <a:latin typeface="Arial"/>
                <a:ea typeface="Arial"/>
                <a:cs typeface="Arial"/>
              </a:defRPr>
            </a:pPr>
            <a:r>
              <a:rPr sz="1800" b="1">
                <a:solidFill>
                  <a:srgbClr val="1565C0"/>
                </a:solidFill>
                <a:latin typeface="Arial"/>
                <a:ea typeface="Arial"/>
                <a:cs typeface="Arial"/>
              </a:rPr>
              <a:t>PROGRAMAÇÃO ESTRUTURADA • AULA 4</a:t>
            </a:r>
          </a:p>
        </p:txBody>
      </p:sp>
      <p:sp>
        <p:nvSpPr>
          <p:cNvPr id="2" name="Retângulo 1">
            <a:extLst>
              <a:ext uri="{FF2B5EF4-FFF2-40B4-BE49-F238E27FC236}">
                <a16:creationId xmlns:a16="http://schemas.microsoft.com/office/drawing/2014/main" id="{0075BF57-9013-412B-8343-408236193924}"/>
              </a:ext>
            </a:extLst>
          </p:cNvPr>
          <p:cNvSpPr>
            <a:spLocks noGrp="1"/>
          </p:cNvSpPr>
          <p:nvPr/>
        </p:nvSpPr>
        <p:spPr>
          <a:xfrm>
            <a:off x="400050" y="552450"/>
            <a:ext cx="11049000" cy="666750"/>
          </a:xfrm>
          <a:prstGeom prst="rect">
            <a:avLst/>
          </a:prstGeom>
          <a:noFill/>
          <a:ln w="0">
            <a:noFill/>
            <a:prstDash val="solid"/>
          </a:ln>
        </p:spPr>
        <p:txBody>
          <a:bodyPr lIns="0" tIns="0" rIns="0" bIns="0" anchor="ctr">
            <a:noAutofit/>
          </a:bodyPr>
          <a:lstStyle/>
          <a:p>
            <a:pPr>
              <a:defRPr sz="3300" b="1">
                <a:solidFill>
                  <a:srgbClr val="10212B"/>
                </a:solidFill>
                <a:latin typeface="Arial"/>
                <a:ea typeface="Arial"/>
                <a:cs typeface="Arial"/>
              </a:defRPr>
            </a:pPr>
            <a:r>
              <a:rPr lang="pt-BR" sz="3300" dirty="0"/>
              <a:t>Ambiente Java</a:t>
            </a:r>
            <a:endParaRPr sz="3300" b="1" dirty="0">
              <a:solidFill>
                <a:srgbClr val="10212B"/>
              </a:solidFill>
              <a:latin typeface="Arial"/>
              <a:ea typeface="Arial"/>
              <a:cs typeface="Arial"/>
            </a:endParaRPr>
          </a:p>
        </p:txBody>
      </p:sp>
      <p:sp>
        <p:nvSpPr>
          <p:cNvPr id="3" name="Retângulo 2">
            <a:extLst>
              <a:ext uri="{FF2B5EF4-FFF2-40B4-BE49-F238E27FC236}">
                <a16:creationId xmlns:a16="http://schemas.microsoft.com/office/drawing/2014/main" id="{B420A40E-033C-4220-BBD6-5668615BCA46}"/>
              </a:ext>
            </a:extLst>
          </p:cNvPr>
          <p:cNvSpPr>
            <a:spLocks noGrp="1"/>
          </p:cNvSpPr>
          <p:nvPr/>
        </p:nvSpPr>
        <p:spPr>
          <a:xfrm>
            <a:off x="400050" y="1295400"/>
            <a:ext cx="11391900" cy="28575"/>
          </a:xfrm>
          <a:prstGeom prst="rect">
            <a:avLst/>
          </a:prstGeom>
          <a:solidFill>
            <a:srgbClr val="1565C0"/>
          </a:solidFill>
          <a:ln w="0">
            <a:noFill/>
            <a:prstDash val="solid"/>
          </a:ln>
        </p:spPr>
        <p:txBody>
          <a:bodyPr/>
          <a:lstStyle/>
          <a:p>
            <a:endParaRPr/>
          </a:p>
        </p:txBody>
      </p:sp>
      <p:sp>
        <p:nvSpPr>
          <p:cNvPr id="4" name="Retângulo 3">
            <a:extLst>
              <a:ext uri="{FF2B5EF4-FFF2-40B4-BE49-F238E27FC236}">
                <a16:creationId xmlns:a16="http://schemas.microsoft.com/office/drawing/2014/main" id="{E66CF043-859C-4E28-A06D-5F6E285E7B2C}"/>
              </a:ext>
            </a:extLst>
          </p:cNvPr>
          <p:cNvSpPr>
            <a:spLocks noGrp="1"/>
          </p:cNvSpPr>
          <p:nvPr/>
        </p:nvSpPr>
        <p:spPr>
          <a:xfrm>
            <a:off x="11239500" y="6286500"/>
            <a:ext cx="552450" cy="304800"/>
          </a:xfrm>
          <a:prstGeom prst="rect">
            <a:avLst/>
          </a:prstGeom>
          <a:noFill/>
          <a:ln w="0">
            <a:noFill/>
            <a:prstDash val="solid"/>
          </a:ln>
        </p:spPr>
        <p:txBody>
          <a:bodyPr lIns="0" tIns="0" rIns="0" bIns="0" anchor="ctr">
            <a:noAutofit/>
          </a:bodyPr>
          <a:lstStyle/>
          <a:p>
            <a:pPr algn="r">
              <a:buNone/>
              <a:defRPr sz="1800" b="0">
                <a:solidFill>
                  <a:srgbClr val="5F6B72"/>
                </a:solidFill>
                <a:latin typeface="Arial"/>
                <a:ea typeface="Arial"/>
                <a:cs typeface="Arial"/>
              </a:defRPr>
            </a:pPr>
            <a:r>
              <a:rPr sz="1800" b="0">
                <a:solidFill>
                  <a:srgbClr val="5F6B72"/>
                </a:solidFill>
                <a:latin typeface="Arial"/>
                <a:ea typeface="Arial"/>
                <a:cs typeface="Arial"/>
              </a:rPr>
              <a:t>07</a:t>
            </a:r>
          </a:p>
        </p:txBody>
      </p:sp>
      <p:pic>
        <p:nvPicPr>
          <p:cNvPr id="13" name="Imagem 6"/>
          <p:cNvPicPr>
            <a:picLocks noChangeAspect="1"/>
          </p:cNvPicPr>
          <p:nvPr/>
        </p:nvPicPr>
        <p:blipFill>
          <a:blip r:embed="rId3"/>
          <a:stretch>
            <a:fillRect/>
          </a:stretch>
        </p:blipFill>
        <p:spPr>
          <a:xfrm>
            <a:off x="0" y="6005457"/>
            <a:ext cx="2162477" cy="790685"/>
          </a:xfrm>
          <a:prstGeom prst="rect">
            <a:avLst/>
          </a:prstGeom>
        </p:spPr>
      </p:pic>
      <p:sp>
        <p:nvSpPr>
          <p:cNvPr id="6" name="CaixaDeTexto 5">
            <a:extLst>
              <a:ext uri="{FF2B5EF4-FFF2-40B4-BE49-F238E27FC236}">
                <a16:creationId xmlns:a16="http://schemas.microsoft.com/office/drawing/2014/main" id="{B62BD439-9B67-8517-499F-2563AB34BE09}"/>
              </a:ext>
            </a:extLst>
          </p:cNvPr>
          <p:cNvSpPr txBox="1"/>
          <p:nvPr/>
        </p:nvSpPr>
        <p:spPr>
          <a:xfrm>
            <a:off x="400050" y="1710273"/>
            <a:ext cx="10736826" cy="1323439"/>
          </a:xfrm>
          <a:prstGeom prst="rect">
            <a:avLst/>
          </a:prstGeom>
          <a:noFill/>
        </p:spPr>
        <p:txBody>
          <a:bodyPr wrap="square" rtlCol="0">
            <a:spAutoFit/>
          </a:bodyPr>
          <a:lstStyle/>
          <a:p>
            <a:r>
              <a:rPr lang="pt-BR" sz="2000" dirty="0"/>
              <a:t>O Java é independente de plataforma porque é compilado em </a:t>
            </a:r>
            <a:r>
              <a:rPr lang="pt-BR" sz="2000" i="1" dirty="0" err="1"/>
              <a:t>bytecodes</a:t>
            </a:r>
            <a:r>
              <a:rPr lang="pt-BR" sz="2000" dirty="0"/>
              <a:t> (arquivos .</a:t>
            </a:r>
            <a:r>
              <a:rPr lang="pt-BR" sz="2000" dirty="0" err="1"/>
              <a:t>class</a:t>
            </a:r>
            <a:r>
              <a:rPr lang="pt-BR" sz="2000" dirty="0"/>
              <a:t>), que são executados por uma JVM específica para cada sistema operacional e hardware. A JVM interpreta ou traduz esses </a:t>
            </a:r>
            <a:r>
              <a:rPr lang="pt-BR" sz="2000" i="1" dirty="0" err="1"/>
              <a:t>bytecodes</a:t>
            </a:r>
            <a:r>
              <a:rPr lang="pt-BR" sz="2000" dirty="0"/>
              <a:t> para código nativo utilizando os serviços do próprio sistema operacional. Assim, o ecossistema Java se estrutura na combinação da JVM, de sua API e das classes do programa.</a:t>
            </a:r>
          </a:p>
        </p:txBody>
      </p:sp>
      <p:pic>
        <p:nvPicPr>
          <p:cNvPr id="8" name="Imagem 7">
            <a:extLst>
              <a:ext uri="{FF2B5EF4-FFF2-40B4-BE49-F238E27FC236}">
                <a16:creationId xmlns:a16="http://schemas.microsoft.com/office/drawing/2014/main" id="{38AAC428-CF78-0317-81AA-54A169FD5DF9}"/>
              </a:ext>
            </a:extLst>
          </p:cNvPr>
          <p:cNvPicPr>
            <a:picLocks noChangeAspect="1"/>
          </p:cNvPicPr>
          <p:nvPr/>
        </p:nvPicPr>
        <p:blipFill>
          <a:blip r:embed="rId4"/>
          <a:stretch>
            <a:fillRect/>
          </a:stretch>
        </p:blipFill>
        <p:spPr>
          <a:xfrm>
            <a:off x="2970450" y="3197384"/>
            <a:ext cx="5514789" cy="2807805"/>
          </a:xfrm>
          <a:prstGeom prst="rect">
            <a:avLst/>
          </a:prstGeom>
        </p:spPr>
      </p:pic>
    </p:spTree>
    <p:extLst>
      <p:ext uri="{BB962C8B-B14F-4D97-AF65-F5344CB8AC3E}">
        <p14:creationId xmlns:p14="http://schemas.microsoft.com/office/powerpoint/2010/main" val="10354271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A1DDFC6B-7641-FF5E-12BD-A44A7B798828}"/>
            </a:ext>
          </a:extLst>
        </p:cNvPr>
        <p:cNvGrpSpPr/>
        <p:nvPr/>
      </p:nvGrpSpPr>
      <p:grpSpPr>
        <a:xfrm>
          <a:off x="0" y="0"/>
          <a:ext cx="0" cy="0"/>
          <a:chOff x="0" y="0"/>
          <a:chExt cx="0" cy="0"/>
        </a:xfrm>
      </p:grpSpPr>
      <p:sp>
        <p:nvSpPr>
          <p:cNvPr id="5" name="Retângulo 4">
            <a:extLst>
              <a:ext uri="{FF2B5EF4-FFF2-40B4-BE49-F238E27FC236}">
                <a16:creationId xmlns:a16="http://schemas.microsoft.com/office/drawing/2014/main" id="{1A435F0C-7314-7A79-109A-BDF686BF6822}"/>
              </a:ext>
            </a:extLst>
          </p:cNvPr>
          <p:cNvSpPr>
            <a:spLocks noGrp="1"/>
          </p:cNvSpPr>
          <p:nvPr/>
        </p:nvSpPr>
        <p:spPr>
          <a:xfrm>
            <a:off x="400050" y="266700"/>
            <a:ext cx="4762500" cy="285750"/>
          </a:xfrm>
          <a:prstGeom prst="rect">
            <a:avLst/>
          </a:prstGeom>
          <a:noFill/>
          <a:ln w="0">
            <a:noFill/>
            <a:prstDash val="solid"/>
          </a:ln>
        </p:spPr>
        <p:txBody>
          <a:bodyPr lIns="0" tIns="0" rIns="0" bIns="0" anchor="ctr">
            <a:noAutofit/>
          </a:bodyPr>
          <a:lstStyle/>
          <a:p>
            <a:pPr algn="l">
              <a:buNone/>
              <a:defRPr sz="1800" b="1">
                <a:solidFill>
                  <a:srgbClr val="1565C0"/>
                </a:solidFill>
                <a:latin typeface="Arial"/>
                <a:ea typeface="Arial"/>
                <a:cs typeface="Arial"/>
              </a:defRPr>
            </a:pPr>
            <a:r>
              <a:rPr sz="1800" b="1">
                <a:solidFill>
                  <a:srgbClr val="1565C0"/>
                </a:solidFill>
                <a:latin typeface="Arial"/>
                <a:ea typeface="Arial"/>
                <a:cs typeface="Arial"/>
              </a:rPr>
              <a:t>PROGRAMAÇÃO ESTRUTURADA • AULA 4</a:t>
            </a:r>
          </a:p>
        </p:txBody>
      </p:sp>
      <p:sp>
        <p:nvSpPr>
          <p:cNvPr id="2" name="Retângulo 1">
            <a:extLst>
              <a:ext uri="{FF2B5EF4-FFF2-40B4-BE49-F238E27FC236}">
                <a16:creationId xmlns:a16="http://schemas.microsoft.com/office/drawing/2014/main" id="{C072DCC5-5DAD-5622-7757-A3229DF19F18}"/>
              </a:ext>
            </a:extLst>
          </p:cNvPr>
          <p:cNvSpPr>
            <a:spLocks noGrp="1"/>
          </p:cNvSpPr>
          <p:nvPr/>
        </p:nvSpPr>
        <p:spPr>
          <a:xfrm>
            <a:off x="400050" y="552450"/>
            <a:ext cx="11049000" cy="666750"/>
          </a:xfrm>
          <a:prstGeom prst="rect">
            <a:avLst/>
          </a:prstGeom>
          <a:noFill/>
          <a:ln w="0">
            <a:noFill/>
            <a:prstDash val="solid"/>
          </a:ln>
        </p:spPr>
        <p:txBody>
          <a:bodyPr lIns="0" tIns="0" rIns="0" bIns="0" anchor="ctr">
            <a:noAutofit/>
          </a:bodyPr>
          <a:lstStyle/>
          <a:p>
            <a:pPr>
              <a:defRPr sz="3300" b="1">
                <a:solidFill>
                  <a:srgbClr val="10212B"/>
                </a:solidFill>
                <a:latin typeface="Arial"/>
                <a:ea typeface="Arial"/>
                <a:cs typeface="Arial"/>
              </a:defRPr>
            </a:pPr>
            <a:r>
              <a:rPr lang="pt-BR" sz="3300" dirty="0"/>
              <a:t>Ambiente Java</a:t>
            </a:r>
            <a:endParaRPr sz="3300" b="1" dirty="0">
              <a:solidFill>
                <a:srgbClr val="10212B"/>
              </a:solidFill>
              <a:latin typeface="Arial"/>
              <a:ea typeface="Arial"/>
              <a:cs typeface="Arial"/>
            </a:endParaRPr>
          </a:p>
        </p:txBody>
      </p:sp>
      <p:sp>
        <p:nvSpPr>
          <p:cNvPr id="3" name="Retângulo 2">
            <a:extLst>
              <a:ext uri="{FF2B5EF4-FFF2-40B4-BE49-F238E27FC236}">
                <a16:creationId xmlns:a16="http://schemas.microsoft.com/office/drawing/2014/main" id="{7EAAF9EA-C5CF-A2E3-1D78-149C48C8B529}"/>
              </a:ext>
            </a:extLst>
          </p:cNvPr>
          <p:cNvSpPr>
            <a:spLocks noGrp="1"/>
          </p:cNvSpPr>
          <p:nvPr/>
        </p:nvSpPr>
        <p:spPr>
          <a:xfrm>
            <a:off x="400050" y="1295400"/>
            <a:ext cx="11391900" cy="28575"/>
          </a:xfrm>
          <a:prstGeom prst="rect">
            <a:avLst/>
          </a:prstGeom>
          <a:solidFill>
            <a:srgbClr val="1565C0"/>
          </a:solidFill>
          <a:ln w="0">
            <a:noFill/>
            <a:prstDash val="solid"/>
          </a:ln>
        </p:spPr>
        <p:txBody>
          <a:bodyPr/>
          <a:lstStyle/>
          <a:p>
            <a:endParaRPr/>
          </a:p>
        </p:txBody>
      </p:sp>
      <p:sp>
        <p:nvSpPr>
          <p:cNvPr id="4" name="Retângulo 3">
            <a:extLst>
              <a:ext uri="{FF2B5EF4-FFF2-40B4-BE49-F238E27FC236}">
                <a16:creationId xmlns:a16="http://schemas.microsoft.com/office/drawing/2014/main" id="{2345B881-F419-F21F-A962-8EA4B2ECF516}"/>
              </a:ext>
            </a:extLst>
          </p:cNvPr>
          <p:cNvSpPr>
            <a:spLocks noGrp="1"/>
          </p:cNvSpPr>
          <p:nvPr/>
        </p:nvSpPr>
        <p:spPr>
          <a:xfrm>
            <a:off x="11239500" y="6286500"/>
            <a:ext cx="552450" cy="304800"/>
          </a:xfrm>
          <a:prstGeom prst="rect">
            <a:avLst/>
          </a:prstGeom>
          <a:noFill/>
          <a:ln w="0">
            <a:noFill/>
            <a:prstDash val="solid"/>
          </a:ln>
        </p:spPr>
        <p:txBody>
          <a:bodyPr lIns="0" tIns="0" rIns="0" bIns="0" anchor="ctr">
            <a:noAutofit/>
          </a:bodyPr>
          <a:lstStyle/>
          <a:p>
            <a:pPr algn="r">
              <a:buNone/>
              <a:defRPr sz="1800" b="0">
                <a:solidFill>
                  <a:srgbClr val="5F6B72"/>
                </a:solidFill>
                <a:latin typeface="Arial"/>
                <a:ea typeface="Arial"/>
                <a:cs typeface="Arial"/>
              </a:defRPr>
            </a:pPr>
            <a:r>
              <a:rPr sz="1800" b="0">
                <a:solidFill>
                  <a:srgbClr val="5F6B72"/>
                </a:solidFill>
                <a:latin typeface="Arial"/>
                <a:ea typeface="Arial"/>
                <a:cs typeface="Arial"/>
              </a:rPr>
              <a:t>07</a:t>
            </a:r>
          </a:p>
        </p:txBody>
      </p:sp>
      <p:pic>
        <p:nvPicPr>
          <p:cNvPr id="13" name="Imagem 6">
            <a:extLst>
              <a:ext uri="{FF2B5EF4-FFF2-40B4-BE49-F238E27FC236}">
                <a16:creationId xmlns:a16="http://schemas.microsoft.com/office/drawing/2014/main" id="{6694B84C-8FA3-E1D7-74E3-04710A2D583D}"/>
              </a:ext>
            </a:extLst>
          </p:cNvPr>
          <p:cNvPicPr>
            <a:picLocks noChangeAspect="1"/>
          </p:cNvPicPr>
          <p:nvPr/>
        </p:nvPicPr>
        <p:blipFill>
          <a:blip r:embed="rId3"/>
          <a:stretch>
            <a:fillRect/>
          </a:stretch>
        </p:blipFill>
        <p:spPr>
          <a:xfrm>
            <a:off x="0" y="6005457"/>
            <a:ext cx="2162477" cy="790685"/>
          </a:xfrm>
          <a:prstGeom prst="rect">
            <a:avLst/>
          </a:prstGeom>
        </p:spPr>
      </p:pic>
      <p:sp>
        <p:nvSpPr>
          <p:cNvPr id="6" name="CaixaDeTexto 5">
            <a:extLst>
              <a:ext uri="{FF2B5EF4-FFF2-40B4-BE49-F238E27FC236}">
                <a16:creationId xmlns:a16="http://schemas.microsoft.com/office/drawing/2014/main" id="{BC9F6540-DABD-9B90-AD54-7F4B1255E586}"/>
              </a:ext>
            </a:extLst>
          </p:cNvPr>
          <p:cNvSpPr txBox="1"/>
          <p:nvPr/>
        </p:nvSpPr>
        <p:spPr>
          <a:xfrm>
            <a:off x="400050" y="1710273"/>
            <a:ext cx="10736826" cy="1323439"/>
          </a:xfrm>
          <a:prstGeom prst="rect">
            <a:avLst/>
          </a:prstGeom>
          <a:noFill/>
        </p:spPr>
        <p:txBody>
          <a:bodyPr wrap="square" rtlCol="0">
            <a:spAutoFit/>
          </a:bodyPr>
          <a:lstStyle/>
          <a:p>
            <a:pPr algn="just"/>
            <a:r>
              <a:rPr lang="pt-BR" sz="2000" dirty="0"/>
              <a:t>O desenvolvimento de programas em Java exige a criação do código-fonte em arquivos </a:t>
            </a:r>
            <a:r>
              <a:rPr lang="pt-BR" dirty="0"/>
              <a:t>.</a:t>
            </a:r>
            <a:r>
              <a:rPr lang="pt-BR" dirty="0" err="1"/>
              <a:t>java</a:t>
            </a:r>
            <a:r>
              <a:rPr lang="pt-BR" sz="2000" dirty="0"/>
              <a:t> por meio de um editor de texto ou IDE, que são posteriormente convertidos pelo compilador em </a:t>
            </a:r>
            <a:r>
              <a:rPr lang="pt-BR" sz="2000" i="1" dirty="0" err="1"/>
              <a:t>bytecodes</a:t>
            </a:r>
            <a:r>
              <a:rPr lang="pt-BR" sz="2000" dirty="0"/>
              <a:t> gravados em arquivos </a:t>
            </a:r>
            <a:r>
              <a:rPr lang="pt-BR" dirty="0"/>
              <a:t>.class</a:t>
            </a:r>
            <a:r>
              <a:rPr lang="pt-BR" sz="2000" dirty="0"/>
              <a:t>. Para a execução dessas aplicações, a máquina virtual (JVM) interpreta o código ou utiliza o código nativo do sistema operacional. </a:t>
            </a:r>
          </a:p>
        </p:txBody>
      </p:sp>
      <p:sp>
        <p:nvSpPr>
          <p:cNvPr id="9" name="CaixaDeTexto 8">
            <a:extLst>
              <a:ext uri="{FF2B5EF4-FFF2-40B4-BE49-F238E27FC236}">
                <a16:creationId xmlns:a16="http://schemas.microsoft.com/office/drawing/2014/main" id="{6E9DBA9D-76A8-6DE8-4C3F-460587B40050}"/>
              </a:ext>
            </a:extLst>
          </p:cNvPr>
          <p:cNvSpPr txBox="1"/>
          <p:nvPr/>
        </p:nvSpPr>
        <p:spPr>
          <a:xfrm>
            <a:off x="400050" y="3298183"/>
            <a:ext cx="10736826" cy="1631216"/>
          </a:xfrm>
          <a:prstGeom prst="rect">
            <a:avLst/>
          </a:prstGeom>
          <a:noFill/>
        </p:spPr>
        <p:txBody>
          <a:bodyPr wrap="square" rtlCol="0">
            <a:spAutoFit/>
          </a:bodyPr>
          <a:lstStyle/>
          <a:p>
            <a:pPr algn="just"/>
            <a:r>
              <a:rPr lang="pt-BR" sz="2000" dirty="0"/>
              <a:t>O ambiente mínimo de execução é fornecido pelo JRE, enquanto o desenvolvimento completo requer o JDK (</a:t>
            </a:r>
            <a:r>
              <a:rPr lang="pt-BR" sz="2000" dirty="0" err="1"/>
              <a:t>JavaSE</a:t>
            </a:r>
            <a:r>
              <a:rPr lang="pt-BR" sz="2000" dirty="0"/>
              <a:t>), que já inclui o JRE e ferramentas essenciais. A configuração do ambiente exige a edição da variável de ambiente </a:t>
            </a:r>
            <a:r>
              <a:rPr lang="pt-BR" dirty="0"/>
              <a:t>PATH</a:t>
            </a:r>
            <a:r>
              <a:rPr lang="pt-BR" sz="2000" dirty="0"/>
              <a:t> para indicar a pasta </a:t>
            </a:r>
            <a:r>
              <a:rPr lang="pt-BR" dirty="0"/>
              <a:t>bin</a:t>
            </a:r>
            <a:r>
              <a:rPr lang="pt-BR" sz="2000" dirty="0"/>
              <a:t> do JDK instalado, permitindo o uso dos comandos Java no terminal de qualquer diretório, além </a:t>
            </a:r>
            <a:r>
              <a:rPr lang="pt-BR" sz="2000" dirty="0" err="1"/>
              <a:t>dopcional</a:t>
            </a:r>
            <a:r>
              <a:rPr lang="pt-BR" sz="2000" dirty="0"/>
              <a:t> </a:t>
            </a:r>
            <a:r>
              <a:rPr lang="pt-BR" dirty="0"/>
              <a:t>CLASSPATH</a:t>
            </a:r>
            <a:r>
              <a:rPr lang="pt-BR" sz="2000" dirty="0"/>
              <a:t> para localização de classes.</a:t>
            </a:r>
          </a:p>
        </p:txBody>
      </p:sp>
    </p:spTree>
    <p:extLst>
      <p:ext uri="{BB962C8B-B14F-4D97-AF65-F5344CB8AC3E}">
        <p14:creationId xmlns:p14="http://schemas.microsoft.com/office/powerpoint/2010/main" val="25282902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7D63BBCF-F279-EC6D-2778-FEFB932B8DDF}"/>
            </a:ext>
          </a:extLst>
        </p:cNvPr>
        <p:cNvGrpSpPr/>
        <p:nvPr/>
      </p:nvGrpSpPr>
      <p:grpSpPr>
        <a:xfrm>
          <a:off x="0" y="0"/>
          <a:ext cx="0" cy="0"/>
          <a:chOff x="0" y="0"/>
          <a:chExt cx="0" cy="0"/>
        </a:xfrm>
      </p:grpSpPr>
      <p:sp>
        <p:nvSpPr>
          <p:cNvPr id="5" name="Retângulo 4">
            <a:extLst>
              <a:ext uri="{FF2B5EF4-FFF2-40B4-BE49-F238E27FC236}">
                <a16:creationId xmlns:a16="http://schemas.microsoft.com/office/drawing/2014/main" id="{5B222893-CFAA-7C88-8E3B-CB58151F79F1}"/>
              </a:ext>
            </a:extLst>
          </p:cNvPr>
          <p:cNvSpPr>
            <a:spLocks noGrp="1"/>
          </p:cNvSpPr>
          <p:nvPr/>
        </p:nvSpPr>
        <p:spPr>
          <a:xfrm>
            <a:off x="400050" y="266700"/>
            <a:ext cx="4762500" cy="285750"/>
          </a:xfrm>
          <a:prstGeom prst="rect">
            <a:avLst/>
          </a:prstGeom>
          <a:noFill/>
          <a:ln w="0">
            <a:noFill/>
            <a:prstDash val="solid"/>
          </a:ln>
        </p:spPr>
        <p:txBody>
          <a:bodyPr lIns="0" tIns="0" rIns="0" bIns="0" anchor="ctr">
            <a:noAutofit/>
          </a:bodyPr>
          <a:lstStyle/>
          <a:p>
            <a:pPr algn="l">
              <a:buNone/>
              <a:defRPr sz="1800" b="1">
                <a:solidFill>
                  <a:srgbClr val="1565C0"/>
                </a:solidFill>
                <a:latin typeface="Arial"/>
                <a:ea typeface="Arial"/>
                <a:cs typeface="Arial"/>
              </a:defRPr>
            </a:pPr>
            <a:r>
              <a:rPr sz="1800" b="1">
                <a:solidFill>
                  <a:srgbClr val="1565C0"/>
                </a:solidFill>
                <a:latin typeface="Arial"/>
                <a:ea typeface="Arial"/>
                <a:cs typeface="Arial"/>
              </a:rPr>
              <a:t>PROGRAMAÇÃO ESTRUTURADA • AULA 4</a:t>
            </a:r>
          </a:p>
        </p:txBody>
      </p:sp>
      <p:sp>
        <p:nvSpPr>
          <p:cNvPr id="2" name="Retângulo 1">
            <a:extLst>
              <a:ext uri="{FF2B5EF4-FFF2-40B4-BE49-F238E27FC236}">
                <a16:creationId xmlns:a16="http://schemas.microsoft.com/office/drawing/2014/main" id="{A7F657FB-EEFD-7F8D-A2D8-349005470A4D}"/>
              </a:ext>
            </a:extLst>
          </p:cNvPr>
          <p:cNvSpPr>
            <a:spLocks noGrp="1"/>
          </p:cNvSpPr>
          <p:nvPr/>
        </p:nvSpPr>
        <p:spPr>
          <a:xfrm>
            <a:off x="400050" y="552450"/>
            <a:ext cx="11049000" cy="666750"/>
          </a:xfrm>
          <a:prstGeom prst="rect">
            <a:avLst/>
          </a:prstGeom>
          <a:noFill/>
          <a:ln w="0">
            <a:noFill/>
            <a:prstDash val="solid"/>
          </a:ln>
        </p:spPr>
        <p:txBody>
          <a:bodyPr lIns="0" tIns="0" rIns="0" bIns="0" anchor="ctr">
            <a:noAutofit/>
          </a:bodyPr>
          <a:lstStyle/>
          <a:p>
            <a:pPr>
              <a:defRPr sz="3300" b="1">
                <a:solidFill>
                  <a:srgbClr val="10212B"/>
                </a:solidFill>
                <a:latin typeface="Arial"/>
                <a:ea typeface="Arial"/>
                <a:cs typeface="Arial"/>
              </a:defRPr>
            </a:pPr>
            <a:r>
              <a:rPr lang="pt-BR" sz="3300" dirty="0"/>
              <a:t>Ambiente Java</a:t>
            </a:r>
            <a:endParaRPr sz="3300" b="1" dirty="0">
              <a:solidFill>
                <a:srgbClr val="10212B"/>
              </a:solidFill>
              <a:latin typeface="Arial"/>
              <a:ea typeface="Arial"/>
              <a:cs typeface="Arial"/>
            </a:endParaRPr>
          </a:p>
        </p:txBody>
      </p:sp>
      <p:sp>
        <p:nvSpPr>
          <p:cNvPr id="3" name="Retângulo 2">
            <a:extLst>
              <a:ext uri="{FF2B5EF4-FFF2-40B4-BE49-F238E27FC236}">
                <a16:creationId xmlns:a16="http://schemas.microsoft.com/office/drawing/2014/main" id="{47C3A68E-054A-82AF-8A21-F5C1A4A7EFC2}"/>
              </a:ext>
            </a:extLst>
          </p:cNvPr>
          <p:cNvSpPr>
            <a:spLocks noGrp="1"/>
          </p:cNvSpPr>
          <p:nvPr/>
        </p:nvSpPr>
        <p:spPr>
          <a:xfrm>
            <a:off x="400050" y="1295400"/>
            <a:ext cx="11391900" cy="28575"/>
          </a:xfrm>
          <a:prstGeom prst="rect">
            <a:avLst/>
          </a:prstGeom>
          <a:solidFill>
            <a:srgbClr val="1565C0"/>
          </a:solidFill>
          <a:ln w="0">
            <a:noFill/>
            <a:prstDash val="solid"/>
          </a:ln>
        </p:spPr>
        <p:txBody>
          <a:bodyPr/>
          <a:lstStyle/>
          <a:p>
            <a:endParaRPr/>
          </a:p>
        </p:txBody>
      </p:sp>
      <p:sp>
        <p:nvSpPr>
          <p:cNvPr id="4" name="Retângulo 3">
            <a:extLst>
              <a:ext uri="{FF2B5EF4-FFF2-40B4-BE49-F238E27FC236}">
                <a16:creationId xmlns:a16="http://schemas.microsoft.com/office/drawing/2014/main" id="{A9D40CC1-B451-124B-A086-6B36FDA2EF8F}"/>
              </a:ext>
            </a:extLst>
          </p:cNvPr>
          <p:cNvSpPr>
            <a:spLocks noGrp="1"/>
          </p:cNvSpPr>
          <p:nvPr/>
        </p:nvSpPr>
        <p:spPr>
          <a:xfrm>
            <a:off x="11239500" y="6286500"/>
            <a:ext cx="552450" cy="304800"/>
          </a:xfrm>
          <a:prstGeom prst="rect">
            <a:avLst/>
          </a:prstGeom>
          <a:noFill/>
          <a:ln w="0">
            <a:noFill/>
            <a:prstDash val="solid"/>
          </a:ln>
        </p:spPr>
        <p:txBody>
          <a:bodyPr lIns="0" tIns="0" rIns="0" bIns="0" anchor="ctr">
            <a:noAutofit/>
          </a:bodyPr>
          <a:lstStyle/>
          <a:p>
            <a:pPr algn="r">
              <a:buNone/>
              <a:defRPr sz="1800" b="0">
                <a:solidFill>
                  <a:srgbClr val="5F6B72"/>
                </a:solidFill>
                <a:latin typeface="Arial"/>
                <a:ea typeface="Arial"/>
                <a:cs typeface="Arial"/>
              </a:defRPr>
            </a:pPr>
            <a:r>
              <a:rPr sz="1800" b="0">
                <a:solidFill>
                  <a:srgbClr val="5F6B72"/>
                </a:solidFill>
                <a:latin typeface="Arial"/>
                <a:ea typeface="Arial"/>
                <a:cs typeface="Arial"/>
              </a:rPr>
              <a:t>07</a:t>
            </a:r>
          </a:p>
        </p:txBody>
      </p:sp>
      <p:pic>
        <p:nvPicPr>
          <p:cNvPr id="13" name="Imagem 6">
            <a:extLst>
              <a:ext uri="{FF2B5EF4-FFF2-40B4-BE49-F238E27FC236}">
                <a16:creationId xmlns:a16="http://schemas.microsoft.com/office/drawing/2014/main" id="{785DB45D-2D06-198C-2174-6A0F3B19EF51}"/>
              </a:ext>
            </a:extLst>
          </p:cNvPr>
          <p:cNvPicPr>
            <a:picLocks noChangeAspect="1"/>
          </p:cNvPicPr>
          <p:nvPr/>
        </p:nvPicPr>
        <p:blipFill>
          <a:blip r:embed="rId3"/>
          <a:stretch>
            <a:fillRect/>
          </a:stretch>
        </p:blipFill>
        <p:spPr>
          <a:xfrm>
            <a:off x="0" y="6005457"/>
            <a:ext cx="2162477" cy="790685"/>
          </a:xfrm>
          <a:prstGeom prst="rect">
            <a:avLst/>
          </a:prstGeom>
        </p:spPr>
      </p:pic>
      <p:sp>
        <p:nvSpPr>
          <p:cNvPr id="9" name="CaixaDeTexto 8">
            <a:extLst>
              <a:ext uri="{FF2B5EF4-FFF2-40B4-BE49-F238E27FC236}">
                <a16:creationId xmlns:a16="http://schemas.microsoft.com/office/drawing/2014/main" id="{D5CF6C4D-D577-4AED-6845-5B1BA47CC5E3}"/>
              </a:ext>
            </a:extLst>
          </p:cNvPr>
          <p:cNvSpPr txBox="1"/>
          <p:nvPr/>
        </p:nvSpPr>
        <p:spPr>
          <a:xfrm>
            <a:off x="331224" y="1577538"/>
            <a:ext cx="10736826" cy="400110"/>
          </a:xfrm>
          <a:prstGeom prst="rect">
            <a:avLst/>
          </a:prstGeom>
          <a:noFill/>
        </p:spPr>
        <p:txBody>
          <a:bodyPr wrap="square" rtlCol="0">
            <a:spAutoFit/>
          </a:bodyPr>
          <a:lstStyle/>
          <a:p>
            <a:pPr algn="just"/>
            <a:r>
              <a:rPr lang="pt-BR" sz="2000" dirty="0"/>
              <a:t>Passo a Passo: Configuração do Ambiente para VS </a:t>
            </a:r>
            <a:r>
              <a:rPr lang="pt-BR" sz="2000" dirty="0" err="1"/>
              <a:t>Code</a:t>
            </a:r>
            <a:endParaRPr lang="pt-BR" sz="2000" dirty="0"/>
          </a:p>
        </p:txBody>
      </p:sp>
      <p:pic>
        <p:nvPicPr>
          <p:cNvPr id="11" name="Imagem 10">
            <a:extLst>
              <a:ext uri="{FF2B5EF4-FFF2-40B4-BE49-F238E27FC236}">
                <a16:creationId xmlns:a16="http://schemas.microsoft.com/office/drawing/2014/main" id="{03DD5E90-FED0-9BAD-C5E1-102B496301C0}"/>
              </a:ext>
            </a:extLst>
          </p:cNvPr>
          <p:cNvPicPr>
            <a:picLocks noChangeAspect="1"/>
          </p:cNvPicPr>
          <p:nvPr/>
        </p:nvPicPr>
        <p:blipFill>
          <a:blip r:embed="rId4"/>
          <a:stretch>
            <a:fillRect/>
          </a:stretch>
        </p:blipFill>
        <p:spPr>
          <a:xfrm>
            <a:off x="4611328" y="3732519"/>
            <a:ext cx="6837721" cy="3063623"/>
          </a:xfrm>
          <a:prstGeom prst="rect">
            <a:avLst/>
          </a:prstGeom>
        </p:spPr>
      </p:pic>
      <p:pic>
        <p:nvPicPr>
          <p:cNvPr id="14" name="Imagem 13">
            <a:extLst>
              <a:ext uri="{FF2B5EF4-FFF2-40B4-BE49-F238E27FC236}">
                <a16:creationId xmlns:a16="http://schemas.microsoft.com/office/drawing/2014/main" id="{E89FE3DD-A714-89C5-D82D-70D683A58369}"/>
              </a:ext>
            </a:extLst>
          </p:cNvPr>
          <p:cNvPicPr>
            <a:picLocks noChangeAspect="1"/>
          </p:cNvPicPr>
          <p:nvPr/>
        </p:nvPicPr>
        <p:blipFill>
          <a:blip r:embed="rId5"/>
          <a:stretch>
            <a:fillRect/>
          </a:stretch>
        </p:blipFill>
        <p:spPr>
          <a:xfrm>
            <a:off x="409881" y="2069055"/>
            <a:ext cx="6458851" cy="2019582"/>
          </a:xfrm>
          <a:prstGeom prst="rect">
            <a:avLst/>
          </a:prstGeom>
        </p:spPr>
      </p:pic>
    </p:spTree>
    <p:extLst>
      <p:ext uri="{BB962C8B-B14F-4D97-AF65-F5344CB8AC3E}">
        <p14:creationId xmlns:p14="http://schemas.microsoft.com/office/powerpoint/2010/main" val="34706584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BCA8431A-D007-BA8F-F084-7AB109049CB4}"/>
            </a:ext>
          </a:extLst>
        </p:cNvPr>
        <p:cNvGrpSpPr/>
        <p:nvPr/>
      </p:nvGrpSpPr>
      <p:grpSpPr>
        <a:xfrm>
          <a:off x="0" y="0"/>
          <a:ext cx="0" cy="0"/>
          <a:chOff x="0" y="0"/>
          <a:chExt cx="0" cy="0"/>
        </a:xfrm>
      </p:grpSpPr>
      <p:sp>
        <p:nvSpPr>
          <p:cNvPr id="5" name="Retângulo 4">
            <a:extLst>
              <a:ext uri="{FF2B5EF4-FFF2-40B4-BE49-F238E27FC236}">
                <a16:creationId xmlns:a16="http://schemas.microsoft.com/office/drawing/2014/main" id="{C08697DE-A673-2FF0-C9C8-7414AA57136B}"/>
              </a:ext>
            </a:extLst>
          </p:cNvPr>
          <p:cNvSpPr>
            <a:spLocks noGrp="1"/>
          </p:cNvSpPr>
          <p:nvPr/>
        </p:nvSpPr>
        <p:spPr>
          <a:xfrm>
            <a:off x="400050" y="266700"/>
            <a:ext cx="4762500" cy="285750"/>
          </a:xfrm>
          <a:prstGeom prst="rect">
            <a:avLst/>
          </a:prstGeom>
          <a:noFill/>
          <a:ln w="0">
            <a:noFill/>
            <a:prstDash val="solid"/>
          </a:ln>
        </p:spPr>
        <p:txBody>
          <a:bodyPr lIns="0" tIns="0" rIns="0" bIns="0" anchor="ctr">
            <a:noAutofit/>
          </a:bodyPr>
          <a:lstStyle/>
          <a:p>
            <a:pPr algn="l">
              <a:buNone/>
              <a:defRPr sz="1800" b="1">
                <a:solidFill>
                  <a:srgbClr val="1565C0"/>
                </a:solidFill>
                <a:latin typeface="Arial"/>
                <a:ea typeface="Arial"/>
                <a:cs typeface="Arial"/>
              </a:defRPr>
            </a:pPr>
            <a:r>
              <a:rPr sz="1800" b="1">
                <a:solidFill>
                  <a:srgbClr val="1565C0"/>
                </a:solidFill>
                <a:latin typeface="Arial"/>
                <a:ea typeface="Arial"/>
                <a:cs typeface="Arial"/>
              </a:rPr>
              <a:t>PROGRAMAÇÃO ESTRUTURADA • AULA 4</a:t>
            </a:r>
          </a:p>
        </p:txBody>
      </p:sp>
      <p:sp>
        <p:nvSpPr>
          <p:cNvPr id="2" name="Retângulo 1">
            <a:extLst>
              <a:ext uri="{FF2B5EF4-FFF2-40B4-BE49-F238E27FC236}">
                <a16:creationId xmlns:a16="http://schemas.microsoft.com/office/drawing/2014/main" id="{7735515F-11D0-D9E1-F112-EFADBC44B945}"/>
              </a:ext>
            </a:extLst>
          </p:cNvPr>
          <p:cNvSpPr>
            <a:spLocks noGrp="1"/>
          </p:cNvSpPr>
          <p:nvPr/>
        </p:nvSpPr>
        <p:spPr>
          <a:xfrm>
            <a:off x="400050" y="552450"/>
            <a:ext cx="11049000" cy="666750"/>
          </a:xfrm>
          <a:prstGeom prst="rect">
            <a:avLst/>
          </a:prstGeom>
          <a:noFill/>
          <a:ln w="0">
            <a:noFill/>
            <a:prstDash val="solid"/>
          </a:ln>
        </p:spPr>
        <p:txBody>
          <a:bodyPr lIns="0" tIns="0" rIns="0" bIns="0" anchor="ctr">
            <a:noAutofit/>
          </a:bodyPr>
          <a:lstStyle/>
          <a:p>
            <a:pPr>
              <a:defRPr sz="3300" b="1">
                <a:solidFill>
                  <a:srgbClr val="10212B"/>
                </a:solidFill>
                <a:latin typeface="Arial"/>
                <a:ea typeface="Arial"/>
                <a:cs typeface="Arial"/>
              </a:defRPr>
            </a:pPr>
            <a:r>
              <a:rPr lang="pt-BR" sz="3300" dirty="0"/>
              <a:t>Ambiente Java</a:t>
            </a:r>
            <a:endParaRPr sz="3300" b="1" dirty="0">
              <a:solidFill>
                <a:srgbClr val="10212B"/>
              </a:solidFill>
              <a:latin typeface="Arial"/>
              <a:ea typeface="Arial"/>
              <a:cs typeface="Arial"/>
            </a:endParaRPr>
          </a:p>
        </p:txBody>
      </p:sp>
      <p:sp>
        <p:nvSpPr>
          <p:cNvPr id="3" name="Retângulo 2">
            <a:extLst>
              <a:ext uri="{FF2B5EF4-FFF2-40B4-BE49-F238E27FC236}">
                <a16:creationId xmlns:a16="http://schemas.microsoft.com/office/drawing/2014/main" id="{24F8464E-6CF8-9B4B-6F2A-EA8C1A3DDDD2}"/>
              </a:ext>
            </a:extLst>
          </p:cNvPr>
          <p:cNvSpPr>
            <a:spLocks noGrp="1"/>
          </p:cNvSpPr>
          <p:nvPr/>
        </p:nvSpPr>
        <p:spPr>
          <a:xfrm>
            <a:off x="400050" y="1295400"/>
            <a:ext cx="11391900" cy="28575"/>
          </a:xfrm>
          <a:prstGeom prst="rect">
            <a:avLst/>
          </a:prstGeom>
          <a:solidFill>
            <a:srgbClr val="1565C0"/>
          </a:solidFill>
          <a:ln w="0">
            <a:noFill/>
            <a:prstDash val="solid"/>
          </a:ln>
        </p:spPr>
        <p:txBody>
          <a:bodyPr/>
          <a:lstStyle/>
          <a:p>
            <a:endParaRPr/>
          </a:p>
        </p:txBody>
      </p:sp>
      <p:sp>
        <p:nvSpPr>
          <p:cNvPr id="4" name="Retângulo 3">
            <a:extLst>
              <a:ext uri="{FF2B5EF4-FFF2-40B4-BE49-F238E27FC236}">
                <a16:creationId xmlns:a16="http://schemas.microsoft.com/office/drawing/2014/main" id="{657E7EC1-D13B-384C-C426-75ECC992A217}"/>
              </a:ext>
            </a:extLst>
          </p:cNvPr>
          <p:cNvSpPr>
            <a:spLocks noGrp="1"/>
          </p:cNvSpPr>
          <p:nvPr/>
        </p:nvSpPr>
        <p:spPr>
          <a:xfrm>
            <a:off x="11239500" y="6286500"/>
            <a:ext cx="552450" cy="304800"/>
          </a:xfrm>
          <a:prstGeom prst="rect">
            <a:avLst/>
          </a:prstGeom>
          <a:noFill/>
          <a:ln w="0">
            <a:noFill/>
            <a:prstDash val="solid"/>
          </a:ln>
        </p:spPr>
        <p:txBody>
          <a:bodyPr lIns="0" tIns="0" rIns="0" bIns="0" anchor="ctr">
            <a:noAutofit/>
          </a:bodyPr>
          <a:lstStyle/>
          <a:p>
            <a:pPr algn="r">
              <a:buNone/>
              <a:defRPr sz="1800" b="0">
                <a:solidFill>
                  <a:srgbClr val="5F6B72"/>
                </a:solidFill>
                <a:latin typeface="Arial"/>
                <a:ea typeface="Arial"/>
                <a:cs typeface="Arial"/>
              </a:defRPr>
            </a:pPr>
            <a:r>
              <a:rPr sz="1800" b="0">
                <a:solidFill>
                  <a:srgbClr val="5F6B72"/>
                </a:solidFill>
                <a:latin typeface="Arial"/>
                <a:ea typeface="Arial"/>
                <a:cs typeface="Arial"/>
              </a:rPr>
              <a:t>07</a:t>
            </a:r>
          </a:p>
        </p:txBody>
      </p:sp>
      <p:pic>
        <p:nvPicPr>
          <p:cNvPr id="13" name="Imagem 6">
            <a:extLst>
              <a:ext uri="{FF2B5EF4-FFF2-40B4-BE49-F238E27FC236}">
                <a16:creationId xmlns:a16="http://schemas.microsoft.com/office/drawing/2014/main" id="{BCC212E4-172C-0B61-A59B-9160A6352413}"/>
              </a:ext>
            </a:extLst>
          </p:cNvPr>
          <p:cNvPicPr>
            <a:picLocks noChangeAspect="1"/>
          </p:cNvPicPr>
          <p:nvPr/>
        </p:nvPicPr>
        <p:blipFill>
          <a:blip r:embed="rId3"/>
          <a:stretch>
            <a:fillRect/>
          </a:stretch>
        </p:blipFill>
        <p:spPr>
          <a:xfrm>
            <a:off x="0" y="6005457"/>
            <a:ext cx="2162477" cy="790685"/>
          </a:xfrm>
          <a:prstGeom prst="rect">
            <a:avLst/>
          </a:prstGeom>
        </p:spPr>
      </p:pic>
      <p:sp>
        <p:nvSpPr>
          <p:cNvPr id="9" name="CaixaDeTexto 8">
            <a:extLst>
              <a:ext uri="{FF2B5EF4-FFF2-40B4-BE49-F238E27FC236}">
                <a16:creationId xmlns:a16="http://schemas.microsoft.com/office/drawing/2014/main" id="{8AFBDA83-D6FA-E997-4304-87180D2CCA02}"/>
              </a:ext>
            </a:extLst>
          </p:cNvPr>
          <p:cNvSpPr txBox="1"/>
          <p:nvPr/>
        </p:nvSpPr>
        <p:spPr>
          <a:xfrm>
            <a:off x="331224" y="1577538"/>
            <a:ext cx="10736826" cy="400110"/>
          </a:xfrm>
          <a:prstGeom prst="rect">
            <a:avLst/>
          </a:prstGeom>
          <a:noFill/>
        </p:spPr>
        <p:txBody>
          <a:bodyPr wrap="square" rtlCol="0">
            <a:spAutoFit/>
          </a:bodyPr>
          <a:lstStyle/>
          <a:p>
            <a:pPr algn="just"/>
            <a:r>
              <a:rPr lang="pt-BR" sz="2000" dirty="0"/>
              <a:t>Passo a Passo: Configuração do Ambiente para VS </a:t>
            </a:r>
            <a:r>
              <a:rPr lang="pt-BR" sz="2000" dirty="0" err="1"/>
              <a:t>Code</a:t>
            </a:r>
            <a:endParaRPr lang="pt-BR" sz="2000" dirty="0"/>
          </a:p>
        </p:txBody>
      </p:sp>
      <p:pic>
        <p:nvPicPr>
          <p:cNvPr id="7" name="Imagem 6">
            <a:extLst>
              <a:ext uri="{FF2B5EF4-FFF2-40B4-BE49-F238E27FC236}">
                <a16:creationId xmlns:a16="http://schemas.microsoft.com/office/drawing/2014/main" id="{9047CDCA-6248-AC28-CE6C-06A585687032}"/>
              </a:ext>
            </a:extLst>
          </p:cNvPr>
          <p:cNvPicPr>
            <a:picLocks noChangeAspect="1"/>
          </p:cNvPicPr>
          <p:nvPr/>
        </p:nvPicPr>
        <p:blipFill>
          <a:blip r:embed="rId4"/>
          <a:stretch>
            <a:fillRect/>
          </a:stretch>
        </p:blipFill>
        <p:spPr>
          <a:xfrm>
            <a:off x="400050" y="2149031"/>
            <a:ext cx="7347496" cy="2069007"/>
          </a:xfrm>
          <a:prstGeom prst="rect">
            <a:avLst/>
          </a:prstGeom>
        </p:spPr>
      </p:pic>
    </p:spTree>
    <p:extLst>
      <p:ext uri="{BB962C8B-B14F-4D97-AF65-F5344CB8AC3E}">
        <p14:creationId xmlns:p14="http://schemas.microsoft.com/office/powerpoint/2010/main" val="29142901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E49FBF27-04A8-071E-D3D5-BF0AB6CF95BD}"/>
            </a:ext>
          </a:extLst>
        </p:cNvPr>
        <p:cNvGrpSpPr/>
        <p:nvPr/>
      </p:nvGrpSpPr>
      <p:grpSpPr>
        <a:xfrm>
          <a:off x="0" y="0"/>
          <a:ext cx="0" cy="0"/>
          <a:chOff x="0" y="0"/>
          <a:chExt cx="0" cy="0"/>
        </a:xfrm>
      </p:grpSpPr>
      <p:sp>
        <p:nvSpPr>
          <p:cNvPr id="5" name="Retângulo 4">
            <a:extLst>
              <a:ext uri="{FF2B5EF4-FFF2-40B4-BE49-F238E27FC236}">
                <a16:creationId xmlns:a16="http://schemas.microsoft.com/office/drawing/2014/main" id="{A9DCE00A-D5D3-6FF4-A476-E2F7DEF36079}"/>
              </a:ext>
            </a:extLst>
          </p:cNvPr>
          <p:cNvSpPr>
            <a:spLocks noGrp="1"/>
          </p:cNvSpPr>
          <p:nvPr/>
        </p:nvSpPr>
        <p:spPr>
          <a:xfrm>
            <a:off x="400050" y="266700"/>
            <a:ext cx="4762500" cy="285750"/>
          </a:xfrm>
          <a:prstGeom prst="rect">
            <a:avLst/>
          </a:prstGeom>
          <a:noFill/>
          <a:ln w="0">
            <a:noFill/>
            <a:prstDash val="solid"/>
          </a:ln>
        </p:spPr>
        <p:txBody>
          <a:bodyPr lIns="0" tIns="0" rIns="0" bIns="0" anchor="ctr">
            <a:noAutofit/>
          </a:bodyPr>
          <a:lstStyle/>
          <a:p>
            <a:pPr algn="l">
              <a:buNone/>
              <a:defRPr sz="1800" b="1">
                <a:solidFill>
                  <a:srgbClr val="1565C0"/>
                </a:solidFill>
                <a:latin typeface="Arial"/>
                <a:ea typeface="Arial"/>
                <a:cs typeface="Arial"/>
              </a:defRPr>
            </a:pPr>
            <a:r>
              <a:rPr sz="1800" b="1">
                <a:solidFill>
                  <a:srgbClr val="1565C0"/>
                </a:solidFill>
                <a:latin typeface="Arial"/>
                <a:ea typeface="Arial"/>
                <a:cs typeface="Arial"/>
              </a:rPr>
              <a:t>PROGRAMAÇÃO ESTRUTURADA • AULA 4</a:t>
            </a:r>
          </a:p>
        </p:txBody>
      </p:sp>
      <p:sp>
        <p:nvSpPr>
          <p:cNvPr id="2" name="Retângulo 1">
            <a:extLst>
              <a:ext uri="{FF2B5EF4-FFF2-40B4-BE49-F238E27FC236}">
                <a16:creationId xmlns:a16="http://schemas.microsoft.com/office/drawing/2014/main" id="{C9937154-CD16-6E5F-AAD4-212135CD7463}"/>
              </a:ext>
            </a:extLst>
          </p:cNvPr>
          <p:cNvSpPr>
            <a:spLocks noGrp="1"/>
          </p:cNvSpPr>
          <p:nvPr/>
        </p:nvSpPr>
        <p:spPr>
          <a:xfrm>
            <a:off x="400050" y="552450"/>
            <a:ext cx="11049000" cy="666750"/>
          </a:xfrm>
          <a:prstGeom prst="rect">
            <a:avLst/>
          </a:prstGeom>
          <a:noFill/>
          <a:ln w="0">
            <a:noFill/>
            <a:prstDash val="solid"/>
          </a:ln>
        </p:spPr>
        <p:txBody>
          <a:bodyPr lIns="0" tIns="0" rIns="0" bIns="0" anchor="ctr">
            <a:noAutofit/>
          </a:bodyPr>
          <a:lstStyle/>
          <a:p>
            <a:pPr>
              <a:defRPr sz="3300" b="1">
                <a:solidFill>
                  <a:srgbClr val="10212B"/>
                </a:solidFill>
                <a:latin typeface="Arial"/>
                <a:ea typeface="Arial"/>
                <a:cs typeface="Arial"/>
              </a:defRPr>
            </a:pPr>
            <a:r>
              <a:rPr lang="pt-BR" sz="3300" dirty="0"/>
              <a:t>Ambiente Java</a:t>
            </a:r>
            <a:endParaRPr sz="3300" b="1" dirty="0">
              <a:solidFill>
                <a:srgbClr val="10212B"/>
              </a:solidFill>
              <a:latin typeface="Arial"/>
              <a:ea typeface="Arial"/>
              <a:cs typeface="Arial"/>
            </a:endParaRPr>
          </a:p>
        </p:txBody>
      </p:sp>
      <p:sp>
        <p:nvSpPr>
          <p:cNvPr id="3" name="Retângulo 2">
            <a:extLst>
              <a:ext uri="{FF2B5EF4-FFF2-40B4-BE49-F238E27FC236}">
                <a16:creationId xmlns:a16="http://schemas.microsoft.com/office/drawing/2014/main" id="{52F4B91E-84EE-D92C-7FFD-B682F9148939}"/>
              </a:ext>
            </a:extLst>
          </p:cNvPr>
          <p:cNvSpPr>
            <a:spLocks noGrp="1"/>
          </p:cNvSpPr>
          <p:nvPr/>
        </p:nvSpPr>
        <p:spPr>
          <a:xfrm>
            <a:off x="400050" y="1295400"/>
            <a:ext cx="11391900" cy="28575"/>
          </a:xfrm>
          <a:prstGeom prst="rect">
            <a:avLst/>
          </a:prstGeom>
          <a:solidFill>
            <a:srgbClr val="1565C0"/>
          </a:solidFill>
          <a:ln w="0">
            <a:noFill/>
            <a:prstDash val="solid"/>
          </a:ln>
        </p:spPr>
        <p:txBody>
          <a:bodyPr/>
          <a:lstStyle/>
          <a:p>
            <a:endParaRPr/>
          </a:p>
        </p:txBody>
      </p:sp>
      <p:sp>
        <p:nvSpPr>
          <p:cNvPr id="4" name="Retângulo 3">
            <a:extLst>
              <a:ext uri="{FF2B5EF4-FFF2-40B4-BE49-F238E27FC236}">
                <a16:creationId xmlns:a16="http://schemas.microsoft.com/office/drawing/2014/main" id="{AE4F5E82-5EBA-4E72-A3F1-19B15130C7EC}"/>
              </a:ext>
            </a:extLst>
          </p:cNvPr>
          <p:cNvSpPr>
            <a:spLocks noGrp="1"/>
          </p:cNvSpPr>
          <p:nvPr/>
        </p:nvSpPr>
        <p:spPr>
          <a:xfrm>
            <a:off x="11239500" y="6286500"/>
            <a:ext cx="552450" cy="304800"/>
          </a:xfrm>
          <a:prstGeom prst="rect">
            <a:avLst/>
          </a:prstGeom>
          <a:noFill/>
          <a:ln w="0">
            <a:noFill/>
            <a:prstDash val="solid"/>
          </a:ln>
        </p:spPr>
        <p:txBody>
          <a:bodyPr lIns="0" tIns="0" rIns="0" bIns="0" anchor="ctr">
            <a:noAutofit/>
          </a:bodyPr>
          <a:lstStyle/>
          <a:p>
            <a:pPr algn="r">
              <a:buNone/>
              <a:defRPr sz="1800" b="0">
                <a:solidFill>
                  <a:srgbClr val="5F6B72"/>
                </a:solidFill>
                <a:latin typeface="Arial"/>
                <a:ea typeface="Arial"/>
                <a:cs typeface="Arial"/>
              </a:defRPr>
            </a:pPr>
            <a:r>
              <a:rPr sz="1800" b="0">
                <a:solidFill>
                  <a:srgbClr val="5F6B72"/>
                </a:solidFill>
                <a:latin typeface="Arial"/>
                <a:ea typeface="Arial"/>
                <a:cs typeface="Arial"/>
              </a:rPr>
              <a:t>07</a:t>
            </a:r>
          </a:p>
        </p:txBody>
      </p:sp>
      <p:pic>
        <p:nvPicPr>
          <p:cNvPr id="13" name="Imagem 6">
            <a:extLst>
              <a:ext uri="{FF2B5EF4-FFF2-40B4-BE49-F238E27FC236}">
                <a16:creationId xmlns:a16="http://schemas.microsoft.com/office/drawing/2014/main" id="{FBE72716-923C-22A4-5BF8-2EDA860492A0}"/>
              </a:ext>
            </a:extLst>
          </p:cNvPr>
          <p:cNvPicPr>
            <a:picLocks noChangeAspect="1"/>
          </p:cNvPicPr>
          <p:nvPr/>
        </p:nvPicPr>
        <p:blipFill>
          <a:blip r:embed="rId3"/>
          <a:stretch>
            <a:fillRect/>
          </a:stretch>
        </p:blipFill>
        <p:spPr>
          <a:xfrm>
            <a:off x="0" y="6005457"/>
            <a:ext cx="2162477" cy="790685"/>
          </a:xfrm>
          <a:prstGeom prst="rect">
            <a:avLst/>
          </a:prstGeom>
        </p:spPr>
      </p:pic>
      <p:sp>
        <p:nvSpPr>
          <p:cNvPr id="9" name="CaixaDeTexto 8">
            <a:extLst>
              <a:ext uri="{FF2B5EF4-FFF2-40B4-BE49-F238E27FC236}">
                <a16:creationId xmlns:a16="http://schemas.microsoft.com/office/drawing/2014/main" id="{98B69C38-EA19-D64C-F19E-9868560CE5B2}"/>
              </a:ext>
            </a:extLst>
          </p:cNvPr>
          <p:cNvSpPr txBox="1"/>
          <p:nvPr/>
        </p:nvSpPr>
        <p:spPr>
          <a:xfrm>
            <a:off x="331224" y="1577538"/>
            <a:ext cx="10736826" cy="400110"/>
          </a:xfrm>
          <a:prstGeom prst="rect">
            <a:avLst/>
          </a:prstGeom>
          <a:noFill/>
        </p:spPr>
        <p:txBody>
          <a:bodyPr wrap="square" rtlCol="0">
            <a:spAutoFit/>
          </a:bodyPr>
          <a:lstStyle/>
          <a:p>
            <a:pPr algn="just"/>
            <a:r>
              <a:rPr lang="pt-BR" sz="2000" dirty="0"/>
              <a:t>Passo a Passo: Configuração do Ambiente para VS </a:t>
            </a:r>
            <a:r>
              <a:rPr lang="pt-BR" sz="2000" dirty="0" err="1"/>
              <a:t>Code</a:t>
            </a:r>
            <a:endParaRPr lang="pt-BR" sz="2000" dirty="0"/>
          </a:p>
        </p:txBody>
      </p:sp>
      <p:pic>
        <p:nvPicPr>
          <p:cNvPr id="8" name="Imagem 7">
            <a:extLst>
              <a:ext uri="{FF2B5EF4-FFF2-40B4-BE49-F238E27FC236}">
                <a16:creationId xmlns:a16="http://schemas.microsoft.com/office/drawing/2014/main" id="{3899AE9A-4E44-D43A-AFDA-E2C5714DEC75}"/>
              </a:ext>
            </a:extLst>
          </p:cNvPr>
          <p:cNvPicPr>
            <a:picLocks noChangeAspect="1"/>
          </p:cNvPicPr>
          <p:nvPr/>
        </p:nvPicPr>
        <p:blipFill>
          <a:blip r:embed="rId4"/>
          <a:stretch>
            <a:fillRect/>
          </a:stretch>
        </p:blipFill>
        <p:spPr>
          <a:xfrm>
            <a:off x="420631" y="2116334"/>
            <a:ext cx="3483692" cy="3628026"/>
          </a:xfrm>
          <a:prstGeom prst="rect">
            <a:avLst/>
          </a:prstGeom>
        </p:spPr>
      </p:pic>
      <p:pic>
        <p:nvPicPr>
          <p:cNvPr id="11" name="Imagem 10">
            <a:extLst>
              <a:ext uri="{FF2B5EF4-FFF2-40B4-BE49-F238E27FC236}">
                <a16:creationId xmlns:a16="http://schemas.microsoft.com/office/drawing/2014/main" id="{206AA1A9-7435-13B9-8F20-2BA8B008E836}"/>
              </a:ext>
            </a:extLst>
          </p:cNvPr>
          <p:cNvPicPr>
            <a:picLocks noChangeAspect="1"/>
          </p:cNvPicPr>
          <p:nvPr/>
        </p:nvPicPr>
        <p:blipFill>
          <a:blip r:embed="rId5"/>
          <a:srcRect r="2363"/>
          <a:stretch>
            <a:fillRect/>
          </a:stretch>
        </p:blipFill>
        <p:spPr>
          <a:xfrm>
            <a:off x="4220565" y="2116334"/>
            <a:ext cx="3407970" cy="3741174"/>
          </a:xfrm>
          <a:prstGeom prst="rect">
            <a:avLst/>
          </a:prstGeom>
        </p:spPr>
      </p:pic>
      <p:pic>
        <p:nvPicPr>
          <p:cNvPr id="14" name="Imagem 13">
            <a:extLst>
              <a:ext uri="{FF2B5EF4-FFF2-40B4-BE49-F238E27FC236}">
                <a16:creationId xmlns:a16="http://schemas.microsoft.com/office/drawing/2014/main" id="{785D2F91-2A42-7A91-E647-C8DA8720248C}"/>
              </a:ext>
            </a:extLst>
          </p:cNvPr>
          <p:cNvPicPr>
            <a:picLocks noChangeAspect="1"/>
          </p:cNvPicPr>
          <p:nvPr/>
        </p:nvPicPr>
        <p:blipFill>
          <a:blip r:embed="rId6"/>
          <a:stretch>
            <a:fillRect/>
          </a:stretch>
        </p:blipFill>
        <p:spPr>
          <a:xfrm>
            <a:off x="7869848" y="2116334"/>
            <a:ext cx="3579202" cy="3827617"/>
          </a:xfrm>
          <a:prstGeom prst="rect">
            <a:avLst/>
          </a:prstGeom>
        </p:spPr>
      </p:pic>
    </p:spTree>
    <p:extLst>
      <p:ext uri="{BB962C8B-B14F-4D97-AF65-F5344CB8AC3E}">
        <p14:creationId xmlns:p14="http://schemas.microsoft.com/office/powerpoint/2010/main" val="36191547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77DA3A53-32C7-2341-DF8B-23EFA53A471A}"/>
            </a:ext>
          </a:extLst>
        </p:cNvPr>
        <p:cNvGrpSpPr/>
        <p:nvPr/>
      </p:nvGrpSpPr>
      <p:grpSpPr>
        <a:xfrm>
          <a:off x="0" y="0"/>
          <a:ext cx="0" cy="0"/>
          <a:chOff x="0" y="0"/>
          <a:chExt cx="0" cy="0"/>
        </a:xfrm>
      </p:grpSpPr>
      <p:sp>
        <p:nvSpPr>
          <p:cNvPr id="5" name="Retângulo 4">
            <a:extLst>
              <a:ext uri="{FF2B5EF4-FFF2-40B4-BE49-F238E27FC236}">
                <a16:creationId xmlns:a16="http://schemas.microsoft.com/office/drawing/2014/main" id="{61CE850D-4B2C-FCC7-86F7-F50203C4EA9E}"/>
              </a:ext>
            </a:extLst>
          </p:cNvPr>
          <p:cNvSpPr>
            <a:spLocks noGrp="1"/>
          </p:cNvSpPr>
          <p:nvPr/>
        </p:nvSpPr>
        <p:spPr>
          <a:xfrm>
            <a:off x="400050" y="266700"/>
            <a:ext cx="4762500" cy="285750"/>
          </a:xfrm>
          <a:prstGeom prst="rect">
            <a:avLst/>
          </a:prstGeom>
          <a:noFill/>
          <a:ln w="0">
            <a:noFill/>
            <a:prstDash val="solid"/>
          </a:ln>
        </p:spPr>
        <p:txBody>
          <a:bodyPr lIns="0" tIns="0" rIns="0" bIns="0" anchor="ctr">
            <a:noAutofit/>
          </a:bodyPr>
          <a:lstStyle/>
          <a:p>
            <a:pPr algn="l">
              <a:buNone/>
              <a:defRPr sz="1800" b="1">
                <a:solidFill>
                  <a:srgbClr val="1565C0"/>
                </a:solidFill>
                <a:latin typeface="Arial"/>
                <a:ea typeface="Arial"/>
                <a:cs typeface="Arial"/>
              </a:defRPr>
            </a:pPr>
            <a:r>
              <a:rPr sz="1800" b="1">
                <a:solidFill>
                  <a:srgbClr val="1565C0"/>
                </a:solidFill>
                <a:latin typeface="Arial"/>
                <a:ea typeface="Arial"/>
                <a:cs typeface="Arial"/>
              </a:rPr>
              <a:t>PROGRAMAÇÃO ESTRUTURADA • AULA 4</a:t>
            </a:r>
          </a:p>
        </p:txBody>
      </p:sp>
      <p:sp>
        <p:nvSpPr>
          <p:cNvPr id="2" name="Retângulo 1">
            <a:extLst>
              <a:ext uri="{FF2B5EF4-FFF2-40B4-BE49-F238E27FC236}">
                <a16:creationId xmlns:a16="http://schemas.microsoft.com/office/drawing/2014/main" id="{D6D347EE-3280-FE43-EA6A-B4E1F967E5D8}"/>
              </a:ext>
            </a:extLst>
          </p:cNvPr>
          <p:cNvSpPr>
            <a:spLocks noGrp="1"/>
          </p:cNvSpPr>
          <p:nvPr/>
        </p:nvSpPr>
        <p:spPr>
          <a:xfrm>
            <a:off x="400050" y="552450"/>
            <a:ext cx="11049000" cy="666750"/>
          </a:xfrm>
          <a:prstGeom prst="rect">
            <a:avLst/>
          </a:prstGeom>
          <a:noFill/>
          <a:ln w="0">
            <a:noFill/>
            <a:prstDash val="solid"/>
          </a:ln>
        </p:spPr>
        <p:txBody>
          <a:bodyPr lIns="0" tIns="0" rIns="0" bIns="0" anchor="ctr">
            <a:noAutofit/>
          </a:bodyPr>
          <a:lstStyle/>
          <a:p>
            <a:pPr>
              <a:defRPr sz="3300" b="1">
                <a:solidFill>
                  <a:srgbClr val="10212B"/>
                </a:solidFill>
                <a:latin typeface="Arial"/>
                <a:ea typeface="Arial"/>
                <a:cs typeface="Arial"/>
              </a:defRPr>
            </a:pPr>
            <a:r>
              <a:rPr lang="pt-BR" sz="3300" dirty="0"/>
              <a:t>Ambiente Java</a:t>
            </a:r>
            <a:endParaRPr sz="3300" b="1" dirty="0">
              <a:solidFill>
                <a:srgbClr val="10212B"/>
              </a:solidFill>
              <a:latin typeface="Arial"/>
              <a:ea typeface="Arial"/>
              <a:cs typeface="Arial"/>
            </a:endParaRPr>
          </a:p>
        </p:txBody>
      </p:sp>
      <p:sp>
        <p:nvSpPr>
          <p:cNvPr id="3" name="Retângulo 2">
            <a:extLst>
              <a:ext uri="{FF2B5EF4-FFF2-40B4-BE49-F238E27FC236}">
                <a16:creationId xmlns:a16="http://schemas.microsoft.com/office/drawing/2014/main" id="{E9FE24A2-B326-450C-A30F-A10881CD7DBA}"/>
              </a:ext>
            </a:extLst>
          </p:cNvPr>
          <p:cNvSpPr>
            <a:spLocks noGrp="1"/>
          </p:cNvSpPr>
          <p:nvPr/>
        </p:nvSpPr>
        <p:spPr>
          <a:xfrm>
            <a:off x="400050" y="1295400"/>
            <a:ext cx="11391900" cy="28575"/>
          </a:xfrm>
          <a:prstGeom prst="rect">
            <a:avLst/>
          </a:prstGeom>
          <a:solidFill>
            <a:srgbClr val="1565C0"/>
          </a:solidFill>
          <a:ln w="0">
            <a:noFill/>
            <a:prstDash val="solid"/>
          </a:ln>
        </p:spPr>
        <p:txBody>
          <a:bodyPr/>
          <a:lstStyle/>
          <a:p>
            <a:endParaRPr/>
          </a:p>
        </p:txBody>
      </p:sp>
      <p:sp>
        <p:nvSpPr>
          <p:cNvPr id="4" name="Retângulo 3">
            <a:extLst>
              <a:ext uri="{FF2B5EF4-FFF2-40B4-BE49-F238E27FC236}">
                <a16:creationId xmlns:a16="http://schemas.microsoft.com/office/drawing/2014/main" id="{268FD364-21DB-45D0-C676-0DC746D7C4E4}"/>
              </a:ext>
            </a:extLst>
          </p:cNvPr>
          <p:cNvSpPr>
            <a:spLocks noGrp="1"/>
          </p:cNvSpPr>
          <p:nvPr/>
        </p:nvSpPr>
        <p:spPr>
          <a:xfrm>
            <a:off x="11239500" y="6286500"/>
            <a:ext cx="552450" cy="304800"/>
          </a:xfrm>
          <a:prstGeom prst="rect">
            <a:avLst/>
          </a:prstGeom>
          <a:noFill/>
          <a:ln w="0">
            <a:noFill/>
            <a:prstDash val="solid"/>
          </a:ln>
        </p:spPr>
        <p:txBody>
          <a:bodyPr lIns="0" tIns="0" rIns="0" bIns="0" anchor="ctr">
            <a:noAutofit/>
          </a:bodyPr>
          <a:lstStyle/>
          <a:p>
            <a:pPr algn="r">
              <a:buNone/>
              <a:defRPr sz="1800" b="0">
                <a:solidFill>
                  <a:srgbClr val="5F6B72"/>
                </a:solidFill>
                <a:latin typeface="Arial"/>
                <a:ea typeface="Arial"/>
                <a:cs typeface="Arial"/>
              </a:defRPr>
            </a:pPr>
            <a:r>
              <a:rPr sz="1800" b="0">
                <a:solidFill>
                  <a:srgbClr val="5F6B72"/>
                </a:solidFill>
                <a:latin typeface="Arial"/>
                <a:ea typeface="Arial"/>
                <a:cs typeface="Arial"/>
              </a:rPr>
              <a:t>07</a:t>
            </a:r>
          </a:p>
        </p:txBody>
      </p:sp>
      <p:pic>
        <p:nvPicPr>
          <p:cNvPr id="13" name="Imagem 6">
            <a:extLst>
              <a:ext uri="{FF2B5EF4-FFF2-40B4-BE49-F238E27FC236}">
                <a16:creationId xmlns:a16="http://schemas.microsoft.com/office/drawing/2014/main" id="{AA5C67ED-244A-F611-4DFD-1DA6E9AD58B2}"/>
              </a:ext>
            </a:extLst>
          </p:cNvPr>
          <p:cNvPicPr>
            <a:picLocks noChangeAspect="1"/>
          </p:cNvPicPr>
          <p:nvPr/>
        </p:nvPicPr>
        <p:blipFill>
          <a:blip r:embed="rId3"/>
          <a:stretch>
            <a:fillRect/>
          </a:stretch>
        </p:blipFill>
        <p:spPr>
          <a:xfrm>
            <a:off x="0" y="6005457"/>
            <a:ext cx="2162477" cy="790685"/>
          </a:xfrm>
          <a:prstGeom prst="rect">
            <a:avLst/>
          </a:prstGeom>
        </p:spPr>
      </p:pic>
      <p:sp>
        <p:nvSpPr>
          <p:cNvPr id="9" name="CaixaDeTexto 8">
            <a:extLst>
              <a:ext uri="{FF2B5EF4-FFF2-40B4-BE49-F238E27FC236}">
                <a16:creationId xmlns:a16="http://schemas.microsoft.com/office/drawing/2014/main" id="{AB97D834-9ABE-055C-6370-B2CC02009837}"/>
              </a:ext>
            </a:extLst>
          </p:cNvPr>
          <p:cNvSpPr txBox="1"/>
          <p:nvPr/>
        </p:nvSpPr>
        <p:spPr>
          <a:xfrm>
            <a:off x="331224" y="1577538"/>
            <a:ext cx="10736826" cy="400110"/>
          </a:xfrm>
          <a:prstGeom prst="rect">
            <a:avLst/>
          </a:prstGeom>
          <a:noFill/>
        </p:spPr>
        <p:txBody>
          <a:bodyPr wrap="square" rtlCol="0">
            <a:spAutoFit/>
          </a:bodyPr>
          <a:lstStyle/>
          <a:p>
            <a:pPr algn="just"/>
            <a:r>
              <a:rPr lang="pt-BR" sz="2000" dirty="0"/>
              <a:t>Passo a Passo: Configuração do Ambiente para VS </a:t>
            </a:r>
            <a:r>
              <a:rPr lang="pt-BR" sz="2000" dirty="0" err="1"/>
              <a:t>Code</a:t>
            </a:r>
            <a:endParaRPr lang="pt-BR" sz="2000" dirty="0"/>
          </a:p>
        </p:txBody>
      </p:sp>
      <p:pic>
        <p:nvPicPr>
          <p:cNvPr id="7" name="Imagem 6">
            <a:extLst>
              <a:ext uri="{FF2B5EF4-FFF2-40B4-BE49-F238E27FC236}">
                <a16:creationId xmlns:a16="http://schemas.microsoft.com/office/drawing/2014/main" id="{B17F6777-279E-4CFC-EF88-13885A00C48C}"/>
              </a:ext>
            </a:extLst>
          </p:cNvPr>
          <p:cNvPicPr>
            <a:picLocks noChangeAspect="1"/>
          </p:cNvPicPr>
          <p:nvPr/>
        </p:nvPicPr>
        <p:blipFill>
          <a:blip r:embed="rId4"/>
          <a:stretch>
            <a:fillRect/>
          </a:stretch>
        </p:blipFill>
        <p:spPr>
          <a:xfrm>
            <a:off x="331224" y="2185869"/>
            <a:ext cx="6601746" cy="1695687"/>
          </a:xfrm>
          <a:prstGeom prst="rect">
            <a:avLst/>
          </a:prstGeom>
        </p:spPr>
      </p:pic>
      <p:pic>
        <p:nvPicPr>
          <p:cNvPr id="12" name="Imagem 11">
            <a:extLst>
              <a:ext uri="{FF2B5EF4-FFF2-40B4-BE49-F238E27FC236}">
                <a16:creationId xmlns:a16="http://schemas.microsoft.com/office/drawing/2014/main" id="{D01FCAC8-B71E-B7CF-79F1-DA8519B84E6B}"/>
              </a:ext>
            </a:extLst>
          </p:cNvPr>
          <p:cNvPicPr>
            <a:picLocks noChangeAspect="1"/>
          </p:cNvPicPr>
          <p:nvPr/>
        </p:nvPicPr>
        <p:blipFill>
          <a:blip r:embed="rId5"/>
          <a:stretch>
            <a:fillRect/>
          </a:stretch>
        </p:blipFill>
        <p:spPr>
          <a:xfrm>
            <a:off x="3834484" y="4028836"/>
            <a:ext cx="7293004" cy="2152889"/>
          </a:xfrm>
          <a:prstGeom prst="rect">
            <a:avLst/>
          </a:prstGeom>
        </p:spPr>
      </p:pic>
    </p:spTree>
    <p:extLst>
      <p:ext uri="{BB962C8B-B14F-4D97-AF65-F5344CB8AC3E}">
        <p14:creationId xmlns:p14="http://schemas.microsoft.com/office/powerpoint/2010/main" val="18978714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41E28F87-D153-5C5C-9CA1-E2A87CA04ED0}"/>
            </a:ext>
          </a:extLst>
        </p:cNvPr>
        <p:cNvGrpSpPr/>
        <p:nvPr/>
      </p:nvGrpSpPr>
      <p:grpSpPr>
        <a:xfrm>
          <a:off x="0" y="0"/>
          <a:ext cx="0" cy="0"/>
          <a:chOff x="0" y="0"/>
          <a:chExt cx="0" cy="0"/>
        </a:xfrm>
      </p:grpSpPr>
      <p:sp>
        <p:nvSpPr>
          <p:cNvPr id="5" name="Retângulo 4">
            <a:extLst>
              <a:ext uri="{FF2B5EF4-FFF2-40B4-BE49-F238E27FC236}">
                <a16:creationId xmlns:a16="http://schemas.microsoft.com/office/drawing/2014/main" id="{BBEB733D-336B-A93E-4500-5D037CBE0DEC}"/>
              </a:ext>
            </a:extLst>
          </p:cNvPr>
          <p:cNvSpPr>
            <a:spLocks noGrp="1"/>
          </p:cNvSpPr>
          <p:nvPr/>
        </p:nvSpPr>
        <p:spPr>
          <a:xfrm>
            <a:off x="400050" y="266700"/>
            <a:ext cx="4762500" cy="285750"/>
          </a:xfrm>
          <a:prstGeom prst="rect">
            <a:avLst/>
          </a:prstGeom>
          <a:noFill/>
          <a:ln w="0">
            <a:noFill/>
            <a:prstDash val="solid"/>
          </a:ln>
        </p:spPr>
        <p:txBody>
          <a:bodyPr lIns="0" tIns="0" rIns="0" bIns="0" anchor="ctr">
            <a:noAutofit/>
          </a:bodyPr>
          <a:lstStyle/>
          <a:p>
            <a:pPr algn="l">
              <a:buNone/>
              <a:defRPr sz="1800" b="1">
                <a:solidFill>
                  <a:srgbClr val="1565C0"/>
                </a:solidFill>
                <a:latin typeface="Arial"/>
                <a:ea typeface="Arial"/>
                <a:cs typeface="Arial"/>
              </a:defRPr>
            </a:pPr>
            <a:r>
              <a:rPr sz="1800" b="1">
                <a:solidFill>
                  <a:srgbClr val="1565C0"/>
                </a:solidFill>
                <a:latin typeface="Arial"/>
                <a:ea typeface="Arial"/>
                <a:cs typeface="Arial"/>
              </a:rPr>
              <a:t>PROGRAMAÇÃO ESTRUTURADA • AULA 4</a:t>
            </a:r>
          </a:p>
        </p:txBody>
      </p:sp>
      <p:sp>
        <p:nvSpPr>
          <p:cNvPr id="2" name="Retângulo 1">
            <a:extLst>
              <a:ext uri="{FF2B5EF4-FFF2-40B4-BE49-F238E27FC236}">
                <a16:creationId xmlns:a16="http://schemas.microsoft.com/office/drawing/2014/main" id="{F2CB3EA8-0FEF-B58D-B245-240554F3D3CC}"/>
              </a:ext>
            </a:extLst>
          </p:cNvPr>
          <p:cNvSpPr>
            <a:spLocks noGrp="1"/>
          </p:cNvSpPr>
          <p:nvPr/>
        </p:nvSpPr>
        <p:spPr>
          <a:xfrm>
            <a:off x="400050" y="552450"/>
            <a:ext cx="11049000" cy="666750"/>
          </a:xfrm>
          <a:prstGeom prst="rect">
            <a:avLst/>
          </a:prstGeom>
          <a:noFill/>
          <a:ln w="0">
            <a:noFill/>
            <a:prstDash val="solid"/>
          </a:ln>
        </p:spPr>
        <p:txBody>
          <a:bodyPr lIns="0" tIns="0" rIns="0" bIns="0" anchor="ctr">
            <a:noAutofit/>
          </a:bodyPr>
          <a:lstStyle/>
          <a:p>
            <a:pPr>
              <a:defRPr sz="3300" b="1">
                <a:solidFill>
                  <a:srgbClr val="10212B"/>
                </a:solidFill>
                <a:latin typeface="Arial"/>
                <a:ea typeface="Arial"/>
                <a:cs typeface="Arial"/>
              </a:defRPr>
            </a:pPr>
            <a:r>
              <a:rPr lang="pt-BR" sz="3300" dirty="0"/>
              <a:t>Ambiente Java</a:t>
            </a:r>
            <a:endParaRPr sz="3300" b="1" dirty="0">
              <a:solidFill>
                <a:srgbClr val="10212B"/>
              </a:solidFill>
              <a:latin typeface="Arial"/>
              <a:ea typeface="Arial"/>
              <a:cs typeface="Arial"/>
            </a:endParaRPr>
          </a:p>
        </p:txBody>
      </p:sp>
      <p:sp>
        <p:nvSpPr>
          <p:cNvPr id="3" name="Retângulo 2">
            <a:extLst>
              <a:ext uri="{FF2B5EF4-FFF2-40B4-BE49-F238E27FC236}">
                <a16:creationId xmlns:a16="http://schemas.microsoft.com/office/drawing/2014/main" id="{422901CB-B984-9F62-F45B-7E364656E8A5}"/>
              </a:ext>
            </a:extLst>
          </p:cNvPr>
          <p:cNvSpPr>
            <a:spLocks noGrp="1"/>
          </p:cNvSpPr>
          <p:nvPr/>
        </p:nvSpPr>
        <p:spPr>
          <a:xfrm>
            <a:off x="400050" y="1295400"/>
            <a:ext cx="11391900" cy="28575"/>
          </a:xfrm>
          <a:prstGeom prst="rect">
            <a:avLst/>
          </a:prstGeom>
          <a:solidFill>
            <a:srgbClr val="1565C0"/>
          </a:solidFill>
          <a:ln w="0">
            <a:noFill/>
            <a:prstDash val="solid"/>
          </a:ln>
        </p:spPr>
        <p:txBody>
          <a:bodyPr/>
          <a:lstStyle/>
          <a:p>
            <a:endParaRPr/>
          </a:p>
        </p:txBody>
      </p:sp>
      <p:sp>
        <p:nvSpPr>
          <p:cNvPr id="4" name="Retângulo 3">
            <a:extLst>
              <a:ext uri="{FF2B5EF4-FFF2-40B4-BE49-F238E27FC236}">
                <a16:creationId xmlns:a16="http://schemas.microsoft.com/office/drawing/2014/main" id="{EB42B24B-99E6-EE5B-85D4-E8434DF5449B}"/>
              </a:ext>
            </a:extLst>
          </p:cNvPr>
          <p:cNvSpPr>
            <a:spLocks noGrp="1"/>
          </p:cNvSpPr>
          <p:nvPr/>
        </p:nvSpPr>
        <p:spPr>
          <a:xfrm>
            <a:off x="11239500" y="6286500"/>
            <a:ext cx="552450" cy="304800"/>
          </a:xfrm>
          <a:prstGeom prst="rect">
            <a:avLst/>
          </a:prstGeom>
          <a:noFill/>
          <a:ln w="0">
            <a:noFill/>
            <a:prstDash val="solid"/>
          </a:ln>
        </p:spPr>
        <p:txBody>
          <a:bodyPr lIns="0" tIns="0" rIns="0" bIns="0" anchor="ctr">
            <a:noAutofit/>
          </a:bodyPr>
          <a:lstStyle/>
          <a:p>
            <a:pPr algn="r">
              <a:buNone/>
              <a:defRPr sz="1800" b="0">
                <a:solidFill>
                  <a:srgbClr val="5F6B72"/>
                </a:solidFill>
                <a:latin typeface="Arial"/>
                <a:ea typeface="Arial"/>
                <a:cs typeface="Arial"/>
              </a:defRPr>
            </a:pPr>
            <a:r>
              <a:rPr sz="1800" b="0">
                <a:solidFill>
                  <a:srgbClr val="5F6B72"/>
                </a:solidFill>
                <a:latin typeface="Arial"/>
                <a:ea typeface="Arial"/>
                <a:cs typeface="Arial"/>
              </a:rPr>
              <a:t>07</a:t>
            </a:r>
          </a:p>
        </p:txBody>
      </p:sp>
      <p:pic>
        <p:nvPicPr>
          <p:cNvPr id="13" name="Imagem 6">
            <a:extLst>
              <a:ext uri="{FF2B5EF4-FFF2-40B4-BE49-F238E27FC236}">
                <a16:creationId xmlns:a16="http://schemas.microsoft.com/office/drawing/2014/main" id="{D4E53C5F-2E8F-8DFE-2241-B5E0AB7DBD51}"/>
              </a:ext>
            </a:extLst>
          </p:cNvPr>
          <p:cNvPicPr>
            <a:picLocks noChangeAspect="1"/>
          </p:cNvPicPr>
          <p:nvPr/>
        </p:nvPicPr>
        <p:blipFill>
          <a:blip r:embed="rId3"/>
          <a:stretch>
            <a:fillRect/>
          </a:stretch>
        </p:blipFill>
        <p:spPr>
          <a:xfrm>
            <a:off x="0" y="6005457"/>
            <a:ext cx="2162477" cy="790685"/>
          </a:xfrm>
          <a:prstGeom prst="rect">
            <a:avLst/>
          </a:prstGeom>
        </p:spPr>
      </p:pic>
      <p:sp>
        <p:nvSpPr>
          <p:cNvPr id="9" name="CaixaDeTexto 8">
            <a:extLst>
              <a:ext uri="{FF2B5EF4-FFF2-40B4-BE49-F238E27FC236}">
                <a16:creationId xmlns:a16="http://schemas.microsoft.com/office/drawing/2014/main" id="{C9B77B39-570C-07C9-DEE1-DB5490E491C8}"/>
              </a:ext>
            </a:extLst>
          </p:cNvPr>
          <p:cNvSpPr txBox="1"/>
          <p:nvPr/>
        </p:nvSpPr>
        <p:spPr>
          <a:xfrm>
            <a:off x="331224" y="1577538"/>
            <a:ext cx="10736826" cy="400110"/>
          </a:xfrm>
          <a:prstGeom prst="rect">
            <a:avLst/>
          </a:prstGeom>
          <a:noFill/>
        </p:spPr>
        <p:txBody>
          <a:bodyPr wrap="square" rtlCol="0">
            <a:spAutoFit/>
          </a:bodyPr>
          <a:lstStyle/>
          <a:p>
            <a:pPr algn="just"/>
            <a:r>
              <a:rPr lang="pt-BR" sz="2000" dirty="0"/>
              <a:t>Passo a Passo: Configuração do Ambiente para VS </a:t>
            </a:r>
            <a:r>
              <a:rPr lang="pt-BR" sz="2000" dirty="0" err="1"/>
              <a:t>Code</a:t>
            </a:r>
            <a:endParaRPr lang="pt-BR" sz="2000" dirty="0"/>
          </a:p>
        </p:txBody>
      </p:sp>
      <p:pic>
        <p:nvPicPr>
          <p:cNvPr id="8" name="Imagem 7">
            <a:extLst>
              <a:ext uri="{FF2B5EF4-FFF2-40B4-BE49-F238E27FC236}">
                <a16:creationId xmlns:a16="http://schemas.microsoft.com/office/drawing/2014/main" id="{5CECB56F-6BF4-34F7-934A-B7956F59E5C7}"/>
              </a:ext>
            </a:extLst>
          </p:cNvPr>
          <p:cNvPicPr>
            <a:picLocks noChangeAspect="1"/>
          </p:cNvPicPr>
          <p:nvPr/>
        </p:nvPicPr>
        <p:blipFill>
          <a:blip r:embed="rId4"/>
          <a:stretch>
            <a:fillRect/>
          </a:stretch>
        </p:blipFill>
        <p:spPr>
          <a:xfrm>
            <a:off x="64212" y="1977648"/>
            <a:ext cx="6525536" cy="1676634"/>
          </a:xfrm>
          <a:prstGeom prst="rect">
            <a:avLst/>
          </a:prstGeom>
        </p:spPr>
      </p:pic>
      <p:pic>
        <p:nvPicPr>
          <p:cNvPr id="11" name="Imagem 10">
            <a:extLst>
              <a:ext uri="{FF2B5EF4-FFF2-40B4-BE49-F238E27FC236}">
                <a16:creationId xmlns:a16="http://schemas.microsoft.com/office/drawing/2014/main" id="{B7516960-2750-9752-5CAF-97CB73B7B342}"/>
              </a:ext>
            </a:extLst>
          </p:cNvPr>
          <p:cNvPicPr>
            <a:picLocks noChangeAspect="1"/>
          </p:cNvPicPr>
          <p:nvPr/>
        </p:nvPicPr>
        <p:blipFill>
          <a:blip r:embed="rId5"/>
          <a:srcRect t="-1" b="17343"/>
          <a:stretch>
            <a:fillRect/>
          </a:stretch>
        </p:blipFill>
        <p:spPr>
          <a:xfrm>
            <a:off x="4493342" y="3489309"/>
            <a:ext cx="7022383" cy="3367882"/>
          </a:xfrm>
          <a:prstGeom prst="rect">
            <a:avLst/>
          </a:prstGeom>
        </p:spPr>
      </p:pic>
    </p:spTree>
    <p:extLst>
      <p:ext uri="{BB962C8B-B14F-4D97-AF65-F5344CB8AC3E}">
        <p14:creationId xmlns:p14="http://schemas.microsoft.com/office/powerpoint/2010/main" val="6856123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D6CE984-1271-8B9D-3E66-98730451C18E}"/>
            </a:ext>
          </a:extLst>
        </p:cNvPr>
        <p:cNvGrpSpPr/>
        <p:nvPr/>
      </p:nvGrpSpPr>
      <p:grpSpPr>
        <a:xfrm>
          <a:off x="0" y="0"/>
          <a:ext cx="0" cy="0"/>
          <a:chOff x="0" y="0"/>
          <a:chExt cx="0" cy="0"/>
        </a:xfrm>
      </p:grpSpPr>
      <p:sp>
        <p:nvSpPr>
          <p:cNvPr id="5" name="Retângulo 4">
            <a:extLst>
              <a:ext uri="{FF2B5EF4-FFF2-40B4-BE49-F238E27FC236}">
                <a16:creationId xmlns:a16="http://schemas.microsoft.com/office/drawing/2014/main" id="{D9CFF9D8-0623-DDE8-282D-1C2F0D880787}"/>
              </a:ext>
            </a:extLst>
          </p:cNvPr>
          <p:cNvSpPr>
            <a:spLocks noGrp="1"/>
          </p:cNvSpPr>
          <p:nvPr/>
        </p:nvSpPr>
        <p:spPr>
          <a:xfrm>
            <a:off x="400050" y="266700"/>
            <a:ext cx="4762500" cy="285750"/>
          </a:xfrm>
          <a:prstGeom prst="rect">
            <a:avLst/>
          </a:prstGeom>
          <a:noFill/>
          <a:ln w="0">
            <a:noFill/>
            <a:prstDash val="solid"/>
          </a:ln>
        </p:spPr>
        <p:txBody>
          <a:bodyPr lIns="0" tIns="0" rIns="0" bIns="0" anchor="ctr">
            <a:noAutofit/>
          </a:bodyPr>
          <a:lstStyle/>
          <a:p>
            <a:pPr algn="l">
              <a:buNone/>
              <a:defRPr sz="1800" b="1">
                <a:solidFill>
                  <a:srgbClr val="1565C0"/>
                </a:solidFill>
                <a:latin typeface="Arial"/>
                <a:ea typeface="Arial"/>
                <a:cs typeface="Arial"/>
              </a:defRPr>
            </a:pPr>
            <a:r>
              <a:rPr sz="1800" b="1">
                <a:solidFill>
                  <a:srgbClr val="1565C0"/>
                </a:solidFill>
                <a:latin typeface="Arial"/>
                <a:ea typeface="Arial"/>
                <a:cs typeface="Arial"/>
              </a:rPr>
              <a:t>PROGRAMAÇÃO ESTRUTURADA • AULA 4</a:t>
            </a:r>
          </a:p>
        </p:txBody>
      </p:sp>
      <p:sp>
        <p:nvSpPr>
          <p:cNvPr id="2" name="Retângulo 1">
            <a:extLst>
              <a:ext uri="{FF2B5EF4-FFF2-40B4-BE49-F238E27FC236}">
                <a16:creationId xmlns:a16="http://schemas.microsoft.com/office/drawing/2014/main" id="{9C92DDF8-59AD-DB16-539F-7737CA20D1AD}"/>
              </a:ext>
            </a:extLst>
          </p:cNvPr>
          <p:cNvSpPr>
            <a:spLocks noGrp="1"/>
          </p:cNvSpPr>
          <p:nvPr/>
        </p:nvSpPr>
        <p:spPr>
          <a:xfrm>
            <a:off x="400050" y="552450"/>
            <a:ext cx="11049000" cy="666750"/>
          </a:xfrm>
          <a:prstGeom prst="rect">
            <a:avLst/>
          </a:prstGeom>
          <a:noFill/>
          <a:ln w="0">
            <a:noFill/>
            <a:prstDash val="solid"/>
          </a:ln>
        </p:spPr>
        <p:txBody>
          <a:bodyPr lIns="0" tIns="0" rIns="0" bIns="0" anchor="ctr">
            <a:noAutofit/>
          </a:bodyPr>
          <a:lstStyle/>
          <a:p>
            <a:pPr>
              <a:defRPr sz="3750" b="1">
                <a:solidFill>
                  <a:srgbClr val="10212B"/>
                </a:solidFill>
                <a:latin typeface="Arial"/>
                <a:ea typeface="Arial"/>
                <a:cs typeface="Arial"/>
              </a:defRPr>
            </a:pPr>
            <a:r>
              <a:rPr lang="pt-BR" sz="3600" dirty="0"/>
              <a:t>Programa mínimo</a:t>
            </a:r>
            <a:endParaRPr lang="pt-BR" sz="3600" b="1" dirty="0">
              <a:solidFill>
                <a:srgbClr val="10212B"/>
              </a:solidFill>
              <a:latin typeface="Arial"/>
              <a:ea typeface="Arial"/>
              <a:cs typeface="Arial"/>
            </a:endParaRPr>
          </a:p>
        </p:txBody>
      </p:sp>
      <p:sp>
        <p:nvSpPr>
          <p:cNvPr id="3" name="Retângulo 2">
            <a:extLst>
              <a:ext uri="{FF2B5EF4-FFF2-40B4-BE49-F238E27FC236}">
                <a16:creationId xmlns:a16="http://schemas.microsoft.com/office/drawing/2014/main" id="{016D474C-9F9A-A264-9002-22C75E1D9611}"/>
              </a:ext>
            </a:extLst>
          </p:cNvPr>
          <p:cNvSpPr>
            <a:spLocks noGrp="1"/>
          </p:cNvSpPr>
          <p:nvPr/>
        </p:nvSpPr>
        <p:spPr>
          <a:xfrm>
            <a:off x="400050" y="1295400"/>
            <a:ext cx="11391900" cy="28575"/>
          </a:xfrm>
          <a:prstGeom prst="rect">
            <a:avLst/>
          </a:prstGeom>
          <a:solidFill>
            <a:srgbClr val="1565C0"/>
          </a:solidFill>
          <a:ln w="0">
            <a:noFill/>
            <a:prstDash val="solid"/>
          </a:ln>
        </p:spPr>
        <p:txBody>
          <a:bodyPr/>
          <a:lstStyle/>
          <a:p>
            <a:endParaRPr/>
          </a:p>
        </p:txBody>
      </p:sp>
      <p:sp>
        <p:nvSpPr>
          <p:cNvPr id="4" name="Retângulo 3">
            <a:extLst>
              <a:ext uri="{FF2B5EF4-FFF2-40B4-BE49-F238E27FC236}">
                <a16:creationId xmlns:a16="http://schemas.microsoft.com/office/drawing/2014/main" id="{B5481A7C-775A-417D-27DD-AC805B85AB79}"/>
              </a:ext>
            </a:extLst>
          </p:cNvPr>
          <p:cNvSpPr>
            <a:spLocks noGrp="1"/>
          </p:cNvSpPr>
          <p:nvPr/>
        </p:nvSpPr>
        <p:spPr>
          <a:xfrm>
            <a:off x="11239500" y="6286500"/>
            <a:ext cx="552450" cy="304800"/>
          </a:xfrm>
          <a:prstGeom prst="rect">
            <a:avLst/>
          </a:prstGeom>
          <a:noFill/>
          <a:ln w="0">
            <a:noFill/>
            <a:prstDash val="solid"/>
          </a:ln>
        </p:spPr>
        <p:txBody>
          <a:bodyPr lIns="0" tIns="0" rIns="0" bIns="0" anchor="ctr">
            <a:noAutofit/>
          </a:bodyPr>
          <a:lstStyle/>
          <a:p>
            <a:pPr algn="r">
              <a:buNone/>
              <a:defRPr sz="1800" b="0">
                <a:solidFill>
                  <a:srgbClr val="5F6B72"/>
                </a:solidFill>
                <a:latin typeface="Arial"/>
                <a:ea typeface="Arial"/>
                <a:cs typeface="Arial"/>
              </a:defRPr>
            </a:pPr>
            <a:r>
              <a:rPr sz="1800" b="0">
                <a:solidFill>
                  <a:srgbClr val="5F6B72"/>
                </a:solidFill>
                <a:latin typeface="Arial"/>
                <a:ea typeface="Arial"/>
                <a:cs typeface="Arial"/>
              </a:rPr>
              <a:t>07</a:t>
            </a:r>
          </a:p>
        </p:txBody>
      </p:sp>
      <p:pic>
        <p:nvPicPr>
          <p:cNvPr id="13" name="Imagem 6">
            <a:extLst>
              <a:ext uri="{FF2B5EF4-FFF2-40B4-BE49-F238E27FC236}">
                <a16:creationId xmlns:a16="http://schemas.microsoft.com/office/drawing/2014/main" id="{D964E5A0-47A9-FF01-EA86-2BB79D5C12B8}"/>
              </a:ext>
            </a:extLst>
          </p:cNvPr>
          <p:cNvPicPr>
            <a:picLocks noChangeAspect="1"/>
          </p:cNvPicPr>
          <p:nvPr/>
        </p:nvPicPr>
        <p:blipFill>
          <a:blip r:embed="rId3"/>
          <a:stretch>
            <a:fillRect/>
          </a:stretch>
        </p:blipFill>
        <p:spPr>
          <a:xfrm>
            <a:off x="0" y="6005457"/>
            <a:ext cx="2162477" cy="790685"/>
          </a:xfrm>
          <a:prstGeom prst="rect">
            <a:avLst/>
          </a:prstGeom>
        </p:spPr>
      </p:pic>
      <p:sp>
        <p:nvSpPr>
          <p:cNvPr id="6" name="CaixaDeTexto 5">
            <a:extLst>
              <a:ext uri="{FF2B5EF4-FFF2-40B4-BE49-F238E27FC236}">
                <a16:creationId xmlns:a16="http://schemas.microsoft.com/office/drawing/2014/main" id="{0B5EE902-2235-B264-8063-96A2DFB20BFB}"/>
              </a:ext>
            </a:extLst>
          </p:cNvPr>
          <p:cNvSpPr txBox="1"/>
          <p:nvPr/>
        </p:nvSpPr>
        <p:spPr>
          <a:xfrm>
            <a:off x="400050" y="1710273"/>
            <a:ext cx="10736826" cy="1323439"/>
          </a:xfrm>
          <a:prstGeom prst="rect">
            <a:avLst/>
          </a:prstGeom>
          <a:noFill/>
        </p:spPr>
        <p:txBody>
          <a:bodyPr wrap="square" rtlCol="0">
            <a:spAutoFit/>
          </a:bodyPr>
          <a:lstStyle/>
          <a:p>
            <a:pPr algn="just"/>
            <a:r>
              <a:rPr lang="pt-BR" sz="2000" dirty="0"/>
              <a:t>Um programa em Java é estruturado em arquivos-fonte (</a:t>
            </a:r>
            <a:r>
              <a:rPr lang="pt-BR" dirty="0"/>
              <a:t>.</a:t>
            </a:r>
            <a:r>
              <a:rPr lang="pt-BR" dirty="0" err="1"/>
              <a:t>java</a:t>
            </a:r>
            <a:r>
              <a:rPr lang="pt-BR" sz="2000" dirty="0"/>
              <a:t>), conhecidos como unidades de compilação, que seguem regras bem definidas de organização e nomenclatura. Cada arquivo pode conter uma declaração opcional de pacote (</a:t>
            </a:r>
            <a:r>
              <a:rPr lang="pt-BR" dirty="0" err="1"/>
              <a:t>package</a:t>
            </a:r>
            <a:r>
              <a:rPr lang="pt-BR" sz="2000" dirty="0"/>
              <a:t>), diretivas de importação (</a:t>
            </a:r>
            <a:r>
              <a:rPr lang="pt-BR" dirty="0" err="1"/>
              <a:t>import</a:t>
            </a:r>
            <a:r>
              <a:rPr lang="pt-BR" sz="2000" dirty="0"/>
              <a:t>) e declarações de tipos como classes, interfaces ou enumerações.</a:t>
            </a:r>
          </a:p>
        </p:txBody>
      </p:sp>
      <p:sp>
        <p:nvSpPr>
          <p:cNvPr id="9" name="CaixaDeTexto 8">
            <a:extLst>
              <a:ext uri="{FF2B5EF4-FFF2-40B4-BE49-F238E27FC236}">
                <a16:creationId xmlns:a16="http://schemas.microsoft.com/office/drawing/2014/main" id="{6DB19667-B26E-272F-27CE-4993D62BC929}"/>
              </a:ext>
            </a:extLst>
          </p:cNvPr>
          <p:cNvSpPr txBox="1"/>
          <p:nvPr/>
        </p:nvSpPr>
        <p:spPr>
          <a:xfrm>
            <a:off x="400050" y="3298183"/>
            <a:ext cx="10736826" cy="2246769"/>
          </a:xfrm>
          <a:prstGeom prst="rect">
            <a:avLst/>
          </a:prstGeom>
          <a:noFill/>
        </p:spPr>
        <p:txBody>
          <a:bodyPr wrap="square" rtlCol="0">
            <a:spAutoFit/>
          </a:bodyPr>
          <a:lstStyle/>
          <a:p>
            <a:pPr algn="just"/>
            <a:r>
              <a:rPr lang="pt-BR" sz="2000" dirty="0"/>
              <a:t>Para a criação e execução correta do código, devem ser observadas as seguintes regras estruturais:</a:t>
            </a:r>
          </a:p>
          <a:p>
            <a:pPr marL="342900" indent="-342900" algn="just">
              <a:buFont typeface="Arial" panose="020B0604020202020204" pitchFamily="34" charset="0"/>
              <a:buChar char="•"/>
            </a:pPr>
            <a:r>
              <a:rPr lang="pt-BR" sz="2000" b="1" dirty="0"/>
              <a:t>Regra do Arquivo Público:</a:t>
            </a:r>
            <a:r>
              <a:rPr lang="pt-BR" sz="2000" dirty="0"/>
              <a:t> Apenas um elemento por arquivo pode ser declarado como </a:t>
            </a:r>
            <a:r>
              <a:rPr lang="pt-BR" dirty="0" err="1"/>
              <a:t>public</a:t>
            </a:r>
            <a:r>
              <a:rPr lang="pt-BR" sz="2000" dirty="0"/>
              <a:t>, e seu nome deve ser exatamente idêntico ao nome do arquivo </a:t>
            </a:r>
            <a:r>
              <a:rPr lang="pt-BR" dirty="0"/>
              <a:t>.</a:t>
            </a:r>
            <a:r>
              <a:rPr lang="pt-BR" dirty="0" err="1"/>
              <a:t>java</a:t>
            </a:r>
            <a:r>
              <a:rPr lang="pt-BR" sz="2000" dirty="0"/>
              <a:t> (respeitando o </a:t>
            </a:r>
            <a:r>
              <a:rPr lang="pt-BR" sz="2000" i="1" dirty="0"/>
              <a:t>case </a:t>
            </a:r>
            <a:r>
              <a:rPr lang="pt-BR" sz="2000" i="1" dirty="0" err="1"/>
              <a:t>sensitivity</a:t>
            </a:r>
            <a:r>
              <a:rPr lang="pt-BR" sz="2000" dirty="0"/>
              <a:t>).</a:t>
            </a:r>
          </a:p>
          <a:p>
            <a:pPr marL="342900" indent="-342900" algn="just">
              <a:buFont typeface="Arial" panose="020B0604020202020204" pitchFamily="34" charset="0"/>
              <a:buChar char="•"/>
            </a:pPr>
            <a:r>
              <a:rPr lang="pt-BR" sz="2000" b="1" dirty="0"/>
              <a:t>Ponto de Entrada:</a:t>
            </a:r>
            <a:r>
              <a:rPr lang="pt-BR" sz="2000" dirty="0"/>
              <a:t> Todo programa executável exige o método principal </a:t>
            </a:r>
            <a:r>
              <a:rPr lang="pt-BR" dirty="0" err="1"/>
              <a:t>public</a:t>
            </a:r>
            <a:r>
              <a:rPr lang="pt-BR" dirty="0"/>
              <a:t> </a:t>
            </a:r>
            <a:r>
              <a:rPr lang="pt-BR" dirty="0" err="1"/>
              <a:t>static</a:t>
            </a:r>
            <a:r>
              <a:rPr lang="pt-BR" dirty="0"/>
              <a:t> </a:t>
            </a:r>
            <a:r>
              <a:rPr lang="pt-BR" dirty="0" err="1"/>
              <a:t>void</a:t>
            </a:r>
            <a:r>
              <a:rPr lang="pt-BR" dirty="0"/>
              <a:t> </a:t>
            </a:r>
            <a:r>
              <a:rPr lang="pt-BR" dirty="0" err="1"/>
              <a:t>main</a:t>
            </a:r>
            <a:r>
              <a:rPr lang="pt-BR" dirty="0"/>
              <a:t>(</a:t>
            </a:r>
            <a:r>
              <a:rPr lang="pt-BR" dirty="0" err="1"/>
              <a:t>String</a:t>
            </a:r>
            <a:r>
              <a:rPr lang="pt-BR" dirty="0"/>
              <a:t>[] </a:t>
            </a:r>
            <a:r>
              <a:rPr lang="pt-BR" dirty="0" err="1"/>
              <a:t>args</a:t>
            </a:r>
            <a:r>
              <a:rPr lang="pt-BR" dirty="0"/>
              <a:t>)</a:t>
            </a:r>
            <a:r>
              <a:rPr lang="pt-BR" sz="2000" dirty="0"/>
              <a:t>, que marca o início da execução da aplicação.</a:t>
            </a:r>
          </a:p>
          <a:p>
            <a:pPr marL="342900" indent="-342900" algn="just">
              <a:buFont typeface="Arial" panose="020B0604020202020204" pitchFamily="34" charset="0"/>
              <a:buChar char="•"/>
            </a:pPr>
            <a:r>
              <a:rPr lang="pt-BR" sz="2000" b="1" dirty="0"/>
              <a:t>Pacote Padrão:</a:t>
            </a:r>
            <a:r>
              <a:rPr lang="pt-BR" sz="2000" dirty="0"/>
              <a:t> Caso a instrução </a:t>
            </a:r>
            <a:r>
              <a:rPr lang="pt-BR" dirty="0" err="1"/>
              <a:t>package</a:t>
            </a:r>
            <a:r>
              <a:rPr lang="pt-BR" sz="2000" dirty="0"/>
              <a:t> seja omitida no topo do arquivo, a classe será automaticamente alocada no pacote </a:t>
            </a:r>
            <a:r>
              <a:rPr lang="pt-BR" sz="2000" i="1" dirty="0"/>
              <a:t>default</a:t>
            </a:r>
            <a:r>
              <a:rPr lang="pt-BR" sz="2000" dirty="0"/>
              <a:t>.</a:t>
            </a:r>
          </a:p>
        </p:txBody>
      </p:sp>
    </p:spTree>
    <p:extLst>
      <p:ext uri="{BB962C8B-B14F-4D97-AF65-F5344CB8AC3E}">
        <p14:creationId xmlns:p14="http://schemas.microsoft.com/office/powerpoint/2010/main" val="6964392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85F2DAA4-0161-9C3B-BAB7-6781968FF99A}"/>
            </a:ext>
          </a:extLst>
        </p:cNvPr>
        <p:cNvGrpSpPr/>
        <p:nvPr/>
      </p:nvGrpSpPr>
      <p:grpSpPr>
        <a:xfrm>
          <a:off x="0" y="0"/>
          <a:ext cx="0" cy="0"/>
          <a:chOff x="0" y="0"/>
          <a:chExt cx="0" cy="0"/>
        </a:xfrm>
      </p:grpSpPr>
      <p:sp>
        <p:nvSpPr>
          <p:cNvPr id="5" name="Retângulo 4">
            <a:extLst>
              <a:ext uri="{FF2B5EF4-FFF2-40B4-BE49-F238E27FC236}">
                <a16:creationId xmlns:a16="http://schemas.microsoft.com/office/drawing/2014/main" id="{60BC3AD0-7F4F-CA6C-7D41-FC4D152093A2}"/>
              </a:ext>
            </a:extLst>
          </p:cNvPr>
          <p:cNvSpPr>
            <a:spLocks noGrp="1"/>
          </p:cNvSpPr>
          <p:nvPr/>
        </p:nvSpPr>
        <p:spPr>
          <a:xfrm>
            <a:off x="400050" y="266700"/>
            <a:ext cx="4762500" cy="285750"/>
          </a:xfrm>
          <a:prstGeom prst="rect">
            <a:avLst/>
          </a:prstGeom>
          <a:noFill/>
          <a:ln w="0">
            <a:noFill/>
            <a:prstDash val="solid"/>
          </a:ln>
        </p:spPr>
        <p:txBody>
          <a:bodyPr lIns="0" tIns="0" rIns="0" bIns="0" anchor="ctr">
            <a:noAutofit/>
          </a:bodyPr>
          <a:lstStyle/>
          <a:p>
            <a:pPr algn="l">
              <a:buNone/>
              <a:defRPr sz="1800" b="1">
                <a:solidFill>
                  <a:srgbClr val="1565C0"/>
                </a:solidFill>
                <a:latin typeface="Arial"/>
                <a:ea typeface="Arial"/>
                <a:cs typeface="Arial"/>
              </a:defRPr>
            </a:pPr>
            <a:r>
              <a:rPr sz="1800" b="1">
                <a:solidFill>
                  <a:srgbClr val="1565C0"/>
                </a:solidFill>
                <a:latin typeface="Arial"/>
                <a:ea typeface="Arial"/>
                <a:cs typeface="Arial"/>
              </a:rPr>
              <a:t>PROGRAMAÇÃO ESTRUTURADA • AULA 4</a:t>
            </a:r>
          </a:p>
        </p:txBody>
      </p:sp>
      <p:sp>
        <p:nvSpPr>
          <p:cNvPr id="2" name="Retângulo 1">
            <a:extLst>
              <a:ext uri="{FF2B5EF4-FFF2-40B4-BE49-F238E27FC236}">
                <a16:creationId xmlns:a16="http://schemas.microsoft.com/office/drawing/2014/main" id="{1655ED94-14C5-5D4F-3F81-B5E1E419F57D}"/>
              </a:ext>
            </a:extLst>
          </p:cNvPr>
          <p:cNvSpPr>
            <a:spLocks noGrp="1"/>
          </p:cNvSpPr>
          <p:nvPr/>
        </p:nvSpPr>
        <p:spPr>
          <a:xfrm>
            <a:off x="400050" y="552450"/>
            <a:ext cx="11049000" cy="666750"/>
          </a:xfrm>
          <a:prstGeom prst="rect">
            <a:avLst/>
          </a:prstGeom>
          <a:noFill/>
          <a:ln w="0">
            <a:noFill/>
            <a:prstDash val="solid"/>
          </a:ln>
        </p:spPr>
        <p:txBody>
          <a:bodyPr lIns="0" tIns="0" rIns="0" bIns="0" anchor="ctr">
            <a:noAutofit/>
          </a:bodyPr>
          <a:lstStyle/>
          <a:p>
            <a:pPr>
              <a:defRPr sz="3750" b="1">
                <a:solidFill>
                  <a:srgbClr val="10212B"/>
                </a:solidFill>
                <a:latin typeface="Arial"/>
                <a:ea typeface="Arial"/>
                <a:cs typeface="Arial"/>
              </a:defRPr>
            </a:pPr>
            <a:r>
              <a:rPr lang="pt-BR" sz="3600" dirty="0"/>
              <a:t>Programa mínimo</a:t>
            </a:r>
            <a:endParaRPr lang="pt-BR" sz="3600" b="1" dirty="0">
              <a:solidFill>
                <a:srgbClr val="10212B"/>
              </a:solidFill>
              <a:latin typeface="Arial"/>
              <a:ea typeface="Arial"/>
              <a:cs typeface="Arial"/>
            </a:endParaRPr>
          </a:p>
        </p:txBody>
      </p:sp>
      <p:sp>
        <p:nvSpPr>
          <p:cNvPr id="3" name="Retângulo 2">
            <a:extLst>
              <a:ext uri="{FF2B5EF4-FFF2-40B4-BE49-F238E27FC236}">
                <a16:creationId xmlns:a16="http://schemas.microsoft.com/office/drawing/2014/main" id="{5A4CFA73-0CD9-B926-046F-0ED2A2BDADA0}"/>
              </a:ext>
            </a:extLst>
          </p:cNvPr>
          <p:cNvSpPr>
            <a:spLocks noGrp="1"/>
          </p:cNvSpPr>
          <p:nvPr/>
        </p:nvSpPr>
        <p:spPr>
          <a:xfrm>
            <a:off x="400050" y="1295400"/>
            <a:ext cx="11391900" cy="28575"/>
          </a:xfrm>
          <a:prstGeom prst="rect">
            <a:avLst/>
          </a:prstGeom>
          <a:solidFill>
            <a:srgbClr val="1565C0"/>
          </a:solidFill>
          <a:ln w="0">
            <a:noFill/>
            <a:prstDash val="solid"/>
          </a:ln>
        </p:spPr>
        <p:txBody>
          <a:bodyPr/>
          <a:lstStyle/>
          <a:p>
            <a:endParaRPr/>
          </a:p>
        </p:txBody>
      </p:sp>
      <p:sp>
        <p:nvSpPr>
          <p:cNvPr id="4" name="Retângulo 3">
            <a:extLst>
              <a:ext uri="{FF2B5EF4-FFF2-40B4-BE49-F238E27FC236}">
                <a16:creationId xmlns:a16="http://schemas.microsoft.com/office/drawing/2014/main" id="{A39E9BF1-3C40-89BD-9A53-734F03B9F490}"/>
              </a:ext>
            </a:extLst>
          </p:cNvPr>
          <p:cNvSpPr>
            <a:spLocks noGrp="1"/>
          </p:cNvSpPr>
          <p:nvPr/>
        </p:nvSpPr>
        <p:spPr>
          <a:xfrm>
            <a:off x="11239500" y="6286500"/>
            <a:ext cx="552450" cy="304800"/>
          </a:xfrm>
          <a:prstGeom prst="rect">
            <a:avLst/>
          </a:prstGeom>
          <a:noFill/>
          <a:ln w="0">
            <a:noFill/>
            <a:prstDash val="solid"/>
          </a:ln>
        </p:spPr>
        <p:txBody>
          <a:bodyPr lIns="0" tIns="0" rIns="0" bIns="0" anchor="ctr">
            <a:noAutofit/>
          </a:bodyPr>
          <a:lstStyle/>
          <a:p>
            <a:pPr algn="r">
              <a:buNone/>
              <a:defRPr sz="1800" b="0">
                <a:solidFill>
                  <a:srgbClr val="5F6B72"/>
                </a:solidFill>
                <a:latin typeface="Arial"/>
                <a:ea typeface="Arial"/>
                <a:cs typeface="Arial"/>
              </a:defRPr>
            </a:pPr>
            <a:r>
              <a:rPr sz="1800" b="0">
                <a:solidFill>
                  <a:srgbClr val="5F6B72"/>
                </a:solidFill>
                <a:latin typeface="Arial"/>
                <a:ea typeface="Arial"/>
                <a:cs typeface="Arial"/>
              </a:rPr>
              <a:t>07</a:t>
            </a:r>
          </a:p>
        </p:txBody>
      </p:sp>
      <p:pic>
        <p:nvPicPr>
          <p:cNvPr id="13" name="Imagem 6">
            <a:extLst>
              <a:ext uri="{FF2B5EF4-FFF2-40B4-BE49-F238E27FC236}">
                <a16:creationId xmlns:a16="http://schemas.microsoft.com/office/drawing/2014/main" id="{0D77C58A-271D-F156-1700-5A47C2BED4F5}"/>
              </a:ext>
            </a:extLst>
          </p:cNvPr>
          <p:cNvPicPr>
            <a:picLocks noChangeAspect="1"/>
          </p:cNvPicPr>
          <p:nvPr/>
        </p:nvPicPr>
        <p:blipFill>
          <a:blip r:embed="rId3"/>
          <a:stretch>
            <a:fillRect/>
          </a:stretch>
        </p:blipFill>
        <p:spPr>
          <a:xfrm>
            <a:off x="0" y="6005457"/>
            <a:ext cx="2162477" cy="790685"/>
          </a:xfrm>
          <a:prstGeom prst="rect">
            <a:avLst/>
          </a:prstGeom>
        </p:spPr>
      </p:pic>
      <p:sp>
        <p:nvSpPr>
          <p:cNvPr id="6" name="CaixaDeTexto 5">
            <a:extLst>
              <a:ext uri="{FF2B5EF4-FFF2-40B4-BE49-F238E27FC236}">
                <a16:creationId xmlns:a16="http://schemas.microsoft.com/office/drawing/2014/main" id="{45E6D0F3-7B42-0846-338F-A87AC5BDBBC7}"/>
              </a:ext>
            </a:extLst>
          </p:cNvPr>
          <p:cNvSpPr txBox="1"/>
          <p:nvPr/>
        </p:nvSpPr>
        <p:spPr>
          <a:xfrm>
            <a:off x="400050" y="1710273"/>
            <a:ext cx="10736826" cy="400110"/>
          </a:xfrm>
          <a:prstGeom prst="rect">
            <a:avLst/>
          </a:prstGeom>
          <a:noFill/>
        </p:spPr>
        <p:txBody>
          <a:bodyPr wrap="square" rtlCol="0">
            <a:spAutoFit/>
          </a:bodyPr>
          <a:lstStyle/>
          <a:p>
            <a:pPr algn="just"/>
            <a:r>
              <a:rPr lang="pt-BR" sz="2000" dirty="0"/>
              <a:t>Exemplo:</a:t>
            </a:r>
          </a:p>
        </p:txBody>
      </p:sp>
      <p:sp>
        <p:nvSpPr>
          <p:cNvPr id="8" name="Retângulo: Cantos Arredondados 7">
            <a:extLst>
              <a:ext uri="{FF2B5EF4-FFF2-40B4-BE49-F238E27FC236}">
                <a16:creationId xmlns:a16="http://schemas.microsoft.com/office/drawing/2014/main" id="{61CC5045-71BA-F89A-5917-2CDD05570CCA}"/>
              </a:ext>
            </a:extLst>
          </p:cNvPr>
          <p:cNvSpPr>
            <a:spLocks noGrp="1"/>
          </p:cNvSpPr>
          <p:nvPr/>
        </p:nvSpPr>
        <p:spPr>
          <a:xfrm>
            <a:off x="400050" y="2319608"/>
            <a:ext cx="11391900" cy="2370862"/>
          </a:xfrm>
          <a:prstGeom prst="roundRect">
            <a:avLst>
              <a:gd name="adj" fmla="val 2192"/>
            </a:avLst>
          </a:prstGeom>
          <a:solidFill>
            <a:srgbClr val="14252E"/>
          </a:solidFill>
          <a:ln w="0">
            <a:noFill/>
            <a:prstDash val="solid"/>
          </a:ln>
        </p:spPr>
        <p:txBody>
          <a:bodyPr/>
          <a:lstStyle/>
          <a:p>
            <a:endParaRPr/>
          </a:p>
        </p:txBody>
      </p:sp>
      <p:sp>
        <p:nvSpPr>
          <p:cNvPr id="11" name="Retângulo 10">
            <a:extLst>
              <a:ext uri="{FF2B5EF4-FFF2-40B4-BE49-F238E27FC236}">
                <a16:creationId xmlns:a16="http://schemas.microsoft.com/office/drawing/2014/main" id="{6CC1D3B5-E3B4-6BE8-60FC-E4648E58F7C6}"/>
              </a:ext>
            </a:extLst>
          </p:cNvPr>
          <p:cNvSpPr>
            <a:spLocks noGrp="1"/>
          </p:cNvSpPr>
          <p:nvPr/>
        </p:nvSpPr>
        <p:spPr>
          <a:xfrm>
            <a:off x="666750" y="2600651"/>
            <a:ext cx="10858500" cy="2069672"/>
          </a:xfrm>
          <a:prstGeom prst="rect">
            <a:avLst/>
          </a:prstGeom>
          <a:noFill/>
          <a:ln w="0">
            <a:noFill/>
            <a:prstDash val="solid"/>
          </a:ln>
        </p:spPr>
        <p:txBody>
          <a:bodyPr lIns="0" tIns="0" rIns="0" bIns="0" anchor="t">
            <a:noAutofit/>
          </a:bodyPr>
          <a:lstStyle/>
          <a:p>
            <a:pPr>
              <a:lnSpc>
                <a:spcPts val="1800"/>
              </a:lnSpc>
              <a:buNone/>
            </a:pPr>
            <a:r>
              <a:rPr lang="pt-BR" sz="1800" b="0" dirty="0" err="1">
                <a:solidFill>
                  <a:srgbClr val="569CD6"/>
                </a:solidFill>
                <a:effectLst/>
                <a:latin typeface="Consolas" panose="020B0609020204030204" pitchFamily="49" charset="0"/>
              </a:rPr>
              <a:t>public</a:t>
            </a:r>
            <a:r>
              <a:rPr lang="pt-BR" sz="1800" b="0" dirty="0">
                <a:solidFill>
                  <a:srgbClr val="BBBEBF"/>
                </a:solidFill>
                <a:effectLst/>
                <a:latin typeface="Consolas" panose="020B0609020204030204" pitchFamily="49" charset="0"/>
              </a:rPr>
              <a:t> </a:t>
            </a:r>
            <a:r>
              <a:rPr lang="pt-BR" sz="1800" b="0" dirty="0" err="1">
                <a:solidFill>
                  <a:srgbClr val="569CD6"/>
                </a:solidFill>
                <a:effectLst/>
                <a:latin typeface="Consolas" panose="020B0609020204030204" pitchFamily="49" charset="0"/>
              </a:rPr>
              <a:t>class</a:t>
            </a:r>
            <a:r>
              <a:rPr lang="pt-BR" sz="1800" b="0" dirty="0">
                <a:solidFill>
                  <a:srgbClr val="BBBEBF"/>
                </a:solidFill>
                <a:effectLst/>
                <a:latin typeface="Consolas" panose="020B0609020204030204" pitchFamily="49" charset="0"/>
              </a:rPr>
              <a:t> </a:t>
            </a:r>
            <a:r>
              <a:rPr lang="pt-BR" sz="1800" b="0" dirty="0" err="1">
                <a:solidFill>
                  <a:srgbClr val="4EC9B0"/>
                </a:solidFill>
                <a:effectLst/>
                <a:latin typeface="Consolas" panose="020B0609020204030204" pitchFamily="49" charset="0"/>
              </a:rPr>
              <a:t>HelloWorld</a:t>
            </a:r>
            <a:r>
              <a:rPr lang="pt-BR" sz="1800" b="0" dirty="0">
                <a:solidFill>
                  <a:srgbClr val="BBBEBF"/>
                </a:solidFill>
                <a:effectLst/>
                <a:latin typeface="Consolas" panose="020B0609020204030204" pitchFamily="49" charset="0"/>
              </a:rPr>
              <a:t> {</a:t>
            </a:r>
          </a:p>
          <a:p>
            <a:pPr>
              <a:lnSpc>
                <a:spcPts val="1800"/>
              </a:lnSpc>
              <a:buNone/>
            </a:pPr>
            <a:endParaRPr lang="pt-BR" sz="1800" b="0" dirty="0">
              <a:solidFill>
                <a:srgbClr val="BBBEBF"/>
              </a:solidFill>
              <a:effectLst/>
              <a:latin typeface="Consolas" panose="020B0609020204030204" pitchFamily="49" charset="0"/>
            </a:endParaRPr>
          </a:p>
          <a:p>
            <a:pPr>
              <a:lnSpc>
                <a:spcPts val="1800"/>
              </a:lnSpc>
              <a:buNone/>
            </a:pPr>
            <a:r>
              <a:rPr lang="pt-BR" sz="1800" b="0" dirty="0">
                <a:solidFill>
                  <a:srgbClr val="BBBEBF"/>
                </a:solidFill>
                <a:effectLst/>
                <a:latin typeface="Consolas" panose="020B0609020204030204" pitchFamily="49" charset="0"/>
              </a:rPr>
              <a:t>    </a:t>
            </a:r>
            <a:r>
              <a:rPr lang="pt-BR" sz="1800" b="0" dirty="0" err="1">
                <a:solidFill>
                  <a:srgbClr val="569CD6"/>
                </a:solidFill>
                <a:effectLst/>
                <a:latin typeface="Consolas" panose="020B0609020204030204" pitchFamily="49" charset="0"/>
              </a:rPr>
              <a:t>public</a:t>
            </a:r>
            <a:r>
              <a:rPr lang="pt-BR" sz="1800" b="0" dirty="0">
                <a:solidFill>
                  <a:srgbClr val="BBBEBF"/>
                </a:solidFill>
                <a:effectLst/>
                <a:latin typeface="Consolas" panose="020B0609020204030204" pitchFamily="49" charset="0"/>
              </a:rPr>
              <a:t> </a:t>
            </a:r>
            <a:r>
              <a:rPr lang="pt-BR" sz="1800" b="0" dirty="0" err="1">
                <a:solidFill>
                  <a:srgbClr val="569CD6"/>
                </a:solidFill>
                <a:effectLst/>
                <a:latin typeface="Consolas" panose="020B0609020204030204" pitchFamily="49" charset="0"/>
              </a:rPr>
              <a:t>static</a:t>
            </a:r>
            <a:r>
              <a:rPr lang="pt-BR" sz="1800" b="0" dirty="0">
                <a:solidFill>
                  <a:srgbClr val="BBBEBF"/>
                </a:solidFill>
                <a:effectLst/>
                <a:latin typeface="Consolas" panose="020B0609020204030204" pitchFamily="49" charset="0"/>
              </a:rPr>
              <a:t> </a:t>
            </a:r>
            <a:r>
              <a:rPr lang="pt-BR" sz="1800" b="0" dirty="0" err="1">
                <a:solidFill>
                  <a:srgbClr val="4EC9B0"/>
                </a:solidFill>
                <a:effectLst/>
                <a:latin typeface="Consolas" panose="020B0609020204030204" pitchFamily="49" charset="0"/>
              </a:rPr>
              <a:t>void</a:t>
            </a:r>
            <a:r>
              <a:rPr lang="pt-BR" sz="1800" b="0" dirty="0">
                <a:solidFill>
                  <a:srgbClr val="BBBEBF"/>
                </a:solidFill>
                <a:effectLst/>
                <a:latin typeface="Consolas" panose="020B0609020204030204" pitchFamily="49" charset="0"/>
              </a:rPr>
              <a:t> </a:t>
            </a:r>
            <a:r>
              <a:rPr lang="pt-BR" sz="1800" b="0" dirty="0" err="1">
                <a:solidFill>
                  <a:srgbClr val="D2A8FF"/>
                </a:solidFill>
                <a:effectLst/>
                <a:latin typeface="Consolas" panose="020B0609020204030204" pitchFamily="49" charset="0"/>
              </a:rPr>
              <a:t>main</a:t>
            </a:r>
            <a:r>
              <a:rPr lang="pt-BR" sz="1800" b="0" dirty="0">
                <a:solidFill>
                  <a:srgbClr val="BBBEBF"/>
                </a:solidFill>
                <a:effectLst/>
                <a:latin typeface="Consolas" panose="020B0609020204030204" pitchFamily="49" charset="0"/>
              </a:rPr>
              <a:t>(</a:t>
            </a:r>
            <a:r>
              <a:rPr lang="pt-BR" sz="1800" b="0" dirty="0" err="1">
                <a:solidFill>
                  <a:srgbClr val="4EC9B0"/>
                </a:solidFill>
                <a:effectLst/>
                <a:latin typeface="Consolas" panose="020B0609020204030204" pitchFamily="49" charset="0"/>
              </a:rPr>
              <a:t>String</a:t>
            </a:r>
            <a:r>
              <a:rPr lang="pt-BR" sz="1800" b="0" dirty="0">
                <a:solidFill>
                  <a:srgbClr val="BBBEBF"/>
                </a:solidFill>
                <a:effectLst/>
                <a:latin typeface="Consolas" panose="020B0609020204030204" pitchFamily="49" charset="0"/>
              </a:rPr>
              <a:t>[] </a:t>
            </a:r>
            <a:r>
              <a:rPr lang="pt-BR" sz="1800" b="0" dirty="0" err="1">
                <a:solidFill>
                  <a:srgbClr val="FFA657"/>
                </a:solidFill>
                <a:effectLst/>
                <a:latin typeface="Consolas" panose="020B0609020204030204" pitchFamily="49" charset="0"/>
              </a:rPr>
              <a:t>args</a:t>
            </a:r>
            <a:r>
              <a:rPr lang="pt-BR" sz="1800" b="0" dirty="0">
                <a:solidFill>
                  <a:srgbClr val="BBBEBF"/>
                </a:solidFill>
                <a:effectLst/>
                <a:latin typeface="Consolas" panose="020B0609020204030204" pitchFamily="49" charset="0"/>
              </a:rPr>
              <a:t>) {</a:t>
            </a:r>
          </a:p>
          <a:p>
            <a:pPr>
              <a:lnSpc>
                <a:spcPts val="1800"/>
              </a:lnSpc>
              <a:buNone/>
            </a:pPr>
            <a:endParaRPr lang="pt-BR" sz="1800" b="0" dirty="0">
              <a:solidFill>
                <a:srgbClr val="BBBEBF"/>
              </a:solidFill>
              <a:effectLst/>
              <a:latin typeface="Consolas" panose="020B0609020204030204" pitchFamily="49" charset="0"/>
            </a:endParaRPr>
          </a:p>
          <a:p>
            <a:pPr>
              <a:lnSpc>
                <a:spcPts val="1800"/>
              </a:lnSpc>
              <a:buNone/>
            </a:pPr>
            <a:r>
              <a:rPr lang="pt-BR" sz="1800" b="0" dirty="0">
                <a:solidFill>
                  <a:srgbClr val="BBBEBF"/>
                </a:solidFill>
                <a:effectLst/>
                <a:latin typeface="Consolas" panose="020B0609020204030204" pitchFamily="49" charset="0"/>
              </a:rPr>
              <a:t>        </a:t>
            </a:r>
            <a:r>
              <a:rPr lang="pt-BR" sz="1800" b="0" dirty="0" err="1">
                <a:solidFill>
                  <a:srgbClr val="4EC9B0"/>
                </a:solidFill>
                <a:effectLst/>
                <a:latin typeface="Consolas" panose="020B0609020204030204" pitchFamily="49" charset="0"/>
              </a:rPr>
              <a:t>System</a:t>
            </a:r>
            <a:r>
              <a:rPr lang="pt-BR" sz="1800" b="0" dirty="0" err="1">
                <a:solidFill>
                  <a:srgbClr val="BBBEBF"/>
                </a:solidFill>
                <a:effectLst/>
                <a:latin typeface="Consolas" panose="020B0609020204030204" pitchFamily="49" charset="0"/>
              </a:rPr>
              <a:t>.</a:t>
            </a:r>
            <a:r>
              <a:rPr lang="pt-BR" sz="1800" b="0" dirty="0" err="1">
                <a:solidFill>
                  <a:srgbClr val="79C0FF"/>
                </a:solidFill>
                <a:effectLst/>
                <a:latin typeface="Consolas" panose="020B0609020204030204" pitchFamily="49" charset="0"/>
              </a:rPr>
              <a:t>out</a:t>
            </a:r>
            <a:r>
              <a:rPr lang="pt-BR" sz="1800" b="0" dirty="0" err="1">
                <a:solidFill>
                  <a:srgbClr val="BBBEBF"/>
                </a:solidFill>
                <a:effectLst/>
                <a:latin typeface="Consolas" panose="020B0609020204030204" pitchFamily="49" charset="0"/>
              </a:rPr>
              <a:t>.</a:t>
            </a:r>
            <a:r>
              <a:rPr lang="pt-BR" sz="1800" b="0" dirty="0" err="1">
                <a:solidFill>
                  <a:srgbClr val="D2A8FF"/>
                </a:solidFill>
                <a:effectLst/>
                <a:latin typeface="Consolas" panose="020B0609020204030204" pitchFamily="49" charset="0"/>
              </a:rPr>
              <a:t>println</a:t>
            </a:r>
            <a:r>
              <a:rPr lang="pt-BR" sz="1800" b="0" dirty="0">
                <a:solidFill>
                  <a:srgbClr val="BBBEBF"/>
                </a:solidFill>
                <a:effectLst/>
                <a:latin typeface="Consolas" panose="020B0609020204030204" pitchFamily="49" charset="0"/>
              </a:rPr>
              <a:t>(</a:t>
            </a:r>
            <a:r>
              <a:rPr lang="pt-BR" sz="1800" b="0" dirty="0">
                <a:solidFill>
                  <a:srgbClr val="A5D6FF"/>
                </a:solidFill>
                <a:effectLst/>
                <a:latin typeface="Consolas" panose="020B0609020204030204" pitchFamily="49" charset="0"/>
              </a:rPr>
              <a:t>"</a:t>
            </a:r>
            <a:r>
              <a:rPr lang="pt-BR" sz="1800" b="0" dirty="0" err="1">
                <a:solidFill>
                  <a:srgbClr val="A5D6FF"/>
                </a:solidFill>
                <a:effectLst/>
                <a:latin typeface="Consolas" panose="020B0609020204030204" pitchFamily="49" charset="0"/>
              </a:rPr>
              <a:t>Hello</a:t>
            </a:r>
            <a:r>
              <a:rPr lang="pt-BR" sz="1800" b="0" dirty="0">
                <a:solidFill>
                  <a:srgbClr val="A5D6FF"/>
                </a:solidFill>
                <a:effectLst/>
                <a:latin typeface="Consolas" panose="020B0609020204030204" pitchFamily="49" charset="0"/>
              </a:rPr>
              <a:t>, World!"</a:t>
            </a:r>
            <a:r>
              <a:rPr lang="pt-BR" sz="1800" b="0" dirty="0">
                <a:solidFill>
                  <a:srgbClr val="BBBEBF"/>
                </a:solidFill>
                <a:effectLst/>
                <a:latin typeface="Consolas" panose="020B0609020204030204" pitchFamily="49" charset="0"/>
              </a:rPr>
              <a:t>);</a:t>
            </a:r>
          </a:p>
          <a:p>
            <a:pPr>
              <a:lnSpc>
                <a:spcPts val="1800"/>
              </a:lnSpc>
              <a:buNone/>
            </a:pPr>
            <a:endParaRPr lang="pt-BR" sz="1800" b="0" dirty="0">
              <a:solidFill>
                <a:srgbClr val="BBBEBF"/>
              </a:solidFill>
              <a:effectLst/>
              <a:latin typeface="Consolas" panose="020B0609020204030204" pitchFamily="49" charset="0"/>
            </a:endParaRPr>
          </a:p>
          <a:p>
            <a:pPr>
              <a:lnSpc>
                <a:spcPts val="1800"/>
              </a:lnSpc>
              <a:buNone/>
            </a:pPr>
            <a:r>
              <a:rPr lang="pt-BR" sz="1800" b="0" dirty="0">
                <a:solidFill>
                  <a:srgbClr val="BBBEBF"/>
                </a:solidFill>
                <a:effectLst/>
                <a:latin typeface="Consolas" panose="020B0609020204030204" pitchFamily="49" charset="0"/>
              </a:rPr>
              <a:t>    }</a:t>
            </a:r>
          </a:p>
          <a:p>
            <a:pPr>
              <a:lnSpc>
                <a:spcPts val="1800"/>
              </a:lnSpc>
              <a:buNone/>
            </a:pPr>
            <a:r>
              <a:rPr lang="pt-BR" sz="1800" b="0" dirty="0">
                <a:solidFill>
                  <a:srgbClr val="BBBEBF"/>
                </a:solidFill>
                <a:effectLst/>
                <a:latin typeface="Consolas" panose="020B0609020204030204" pitchFamily="49" charset="0"/>
              </a:rPr>
              <a:t>}</a:t>
            </a:r>
          </a:p>
        </p:txBody>
      </p:sp>
    </p:spTree>
    <p:extLst>
      <p:ext uri="{BB962C8B-B14F-4D97-AF65-F5344CB8AC3E}">
        <p14:creationId xmlns:p14="http://schemas.microsoft.com/office/powerpoint/2010/main" val="5669154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33C9E66A-AB1A-9AEC-807E-C2FE30665CDF}"/>
            </a:ext>
          </a:extLst>
        </p:cNvPr>
        <p:cNvGrpSpPr/>
        <p:nvPr/>
      </p:nvGrpSpPr>
      <p:grpSpPr>
        <a:xfrm>
          <a:off x="0" y="0"/>
          <a:ext cx="0" cy="0"/>
          <a:chOff x="0" y="0"/>
          <a:chExt cx="0" cy="0"/>
        </a:xfrm>
      </p:grpSpPr>
      <p:sp>
        <p:nvSpPr>
          <p:cNvPr id="5" name="Retângulo 4">
            <a:extLst>
              <a:ext uri="{FF2B5EF4-FFF2-40B4-BE49-F238E27FC236}">
                <a16:creationId xmlns:a16="http://schemas.microsoft.com/office/drawing/2014/main" id="{A05EF82F-6F3B-A6A0-DF57-FD109160C08B}"/>
              </a:ext>
            </a:extLst>
          </p:cNvPr>
          <p:cNvSpPr>
            <a:spLocks noGrp="1"/>
          </p:cNvSpPr>
          <p:nvPr/>
        </p:nvSpPr>
        <p:spPr>
          <a:xfrm>
            <a:off x="400050" y="266700"/>
            <a:ext cx="4762500" cy="285750"/>
          </a:xfrm>
          <a:prstGeom prst="rect">
            <a:avLst/>
          </a:prstGeom>
          <a:noFill/>
          <a:ln w="0">
            <a:noFill/>
            <a:prstDash val="solid"/>
          </a:ln>
        </p:spPr>
        <p:txBody>
          <a:bodyPr lIns="0" tIns="0" rIns="0" bIns="0" anchor="ctr">
            <a:noAutofit/>
          </a:bodyPr>
          <a:lstStyle/>
          <a:p>
            <a:pPr algn="l">
              <a:buNone/>
              <a:defRPr sz="1800" b="1">
                <a:solidFill>
                  <a:srgbClr val="1565C0"/>
                </a:solidFill>
                <a:latin typeface="Arial"/>
                <a:ea typeface="Arial"/>
                <a:cs typeface="Arial"/>
              </a:defRPr>
            </a:pPr>
            <a:r>
              <a:rPr sz="1800" b="1">
                <a:solidFill>
                  <a:srgbClr val="1565C0"/>
                </a:solidFill>
                <a:latin typeface="Arial"/>
                <a:ea typeface="Arial"/>
                <a:cs typeface="Arial"/>
              </a:rPr>
              <a:t>PROGRAMAÇÃO ESTRUTURADA • AULA 4</a:t>
            </a:r>
          </a:p>
        </p:txBody>
      </p:sp>
      <p:sp>
        <p:nvSpPr>
          <p:cNvPr id="2" name="Retângulo 1">
            <a:extLst>
              <a:ext uri="{FF2B5EF4-FFF2-40B4-BE49-F238E27FC236}">
                <a16:creationId xmlns:a16="http://schemas.microsoft.com/office/drawing/2014/main" id="{CE3CA58A-7DD8-5F33-15E7-5CFCF119DCE1}"/>
              </a:ext>
            </a:extLst>
          </p:cNvPr>
          <p:cNvSpPr>
            <a:spLocks noGrp="1"/>
          </p:cNvSpPr>
          <p:nvPr/>
        </p:nvSpPr>
        <p:spPr>
          <a:xfrm>
            <a:off x="400050" y="552450"/>
            <a:ext cx="11049000" cy="666750"/>
          </a:xfrm>
          <a:prstGeom prst="rect">
            <a:avLst/>
          </a:prstGeom>
          <a:noFill/>
          <a:ln w="0">
            <a:noFill/>
            <a:prstDash val="solid"/>
          </a:ln>
        </p:spPr>
        <p:txBody>
          <a:bodyPr lIns="0" tIns="0" rIns="0" bIns="0" anchor="ctr">
            <a:noAutofit/>
          </a:bodyPr>
          <a:lstStyle/>
          <a:p>
            <a:pPr>
              <a:defRPr sz="3750" b="1">
                <a:solidFill>
                  <a:srgbClr val="10212B"/>
                </a:solidFill>
                <a:latin typeface="Arial"/>
                <a:ea typeface="Arial"/>
                <a:cs typeface="Arial"/>
              </a:defRPr>
            </a:pPr>
            <a:r>
              <a:rPr lang="pt-BR" sz="3600" dirty="0"/>
              <a:t>Programa mínimo</a:t>
            </a:r>
            <a:endParaRPr lang="pt-BR" sz="3600" b="1" dirty="0">
              <a:solidFill>
                <a:srgbClr val="10212B"/>
              </a:solidFill>
              <a:latin typeface="Arial"/>
              <a:ea typeface="Arial"/>
              <a:cs typeface="Arial"/>
            </a:endParaRPr>
          </a:p>
        </p:txBody>
      </p:sp>
      <p:sp>
        <p:nvSpPr>
          <p:cNvPr id="3" name="Retângulo 2">
            <a:extLst>
              <a:ext uri="{FF2B5EF4-FFF2-40B4-BE49-F238E27FC236}">
                <a16:creationId xmlns:a16="http://schemas.microsoft.com/office/drawing/2014/main" id="{CB227BF0-B601-6681-A631-D6204BC400C4}"/>
              </a:ext>
            </a:extLst>
          </p:cNvPr>
          <p:cNvSpPr>
            <a:spLocks noGrp="1"/>
          </p:cNvSpPr>
          <p:nvPr/>
        </p:nvSpPr>
        <p:spPr>
          <a:xfrm>
            <a:off x="400050" y="1295400"/>
            <a:ext cx="11391900" cy="28575"/>
          </a:xfrm>
          <a:prstGeom prst="rect">
            <a:avLst/>
          </a:prstGeom>
          <a:solidFill>
            <a:srgbClr val="1565C0"/>
          </a:solidFill>
          <a:ln w="0">
            <a:noFill/>
            <a:prstDash val="solid"/>
          </a:ln>
        </p:spPr>
        <p:txBody>
          <a:bodyPr/>
          <a:lstStyle/>
          <a:p>
            <a:endParaRPr/>
          </a:p>
        </p:txBody>
      </p:sp>
      <p:sp>
        <p:nvSpPr>
          <p:cNvPr id="4" name="Retângulo 3">
            <a:extLst>
              <a:ext uri="{FF2B5EF4-FFF2-40B4-BE49-F238E27FC236}">
                <a16:creationId xmlns:a16="http://schemas.microsoft.com/office/drawing/2014/main" id="{00159D38-C79B-AD83-62DC-69E8A71FB50C}"/>
              </a:ext>
            </a:extLst>
          </p:cNvPr>
          <p:cNvSpPr>
            <a:spLocks noGrp="1"/>
          </p:cNvSpPr>
          <p:nvPr/>
        </p:nvSpPr>
        <p:spPr>
          <a:xfrm>
            <a:off x="11239500" y="6286500"/>
            <a:ext cx="552450" cy="304800"/>
          </a:xfrm>
          <a:prstGeom prst="rect">
            <a:avLst/>
          </a:prstGeom>
          <a:noFill/>
          <a:ln w="0">
            <a:noFill/>
            <a:prstDash val="solid"/>
          </a:ln>
        </p:spPr>
        <p:txBody>
          <a:bodyPr lIns="0" tIns="0" rIns="0" bIns="0" anchor="ctr">
            <a:noAutofit/>
          </a:bodyPr>
          <a:lstStyle/>
          <a:p>
            <a:pPr algn="r">
              <a:buNone/>
              <a:defRPr sz="1800" b="0">
                <a:solidFill>
                  <a:srgbClr val="5F6B72"/>
                </a:solidFill>
                <a:latin typeface="Arial"/>
                <a:ea typeface="Arial"/>
                <a:cs typeface="Arial"/>
              </a:defRPr>
            </a:pPr>
            <a:r>
              <a:rPr sz="1800" b="0">
                <a:solidFill>
                  <a:srgbClr val="5F6B72"/>
                </a:solidFill>
                <a:latin typeface="Arial"/>
                <a:ea typeface="Arial"/>
                <a:cs typeface="Arial"/>
              </a:rPr>
              <a:t>07</a:t>
            </a:r>
          </a:p>
        </p:txBody>
      </p:sp>
      <p:pic>
        <p:nvPicPr>
          <p:cNvPr id="13" name="Imagem 6">
            <a:extLst>
              <a:ext uri="{FF2B5EF4-FFF2-40B4-BE49-F238E27FC236}">
                <a16:creationId xmlns:a16="http://schemas.microsoft.com/office/drawing/2014/main" id="{8B7ADFB7-51B5-802F-B1CD-70831D286FED}"/>
              </a:ext>
            </a:extLst>
          </p:cNvPr>
          <p:cNvPicPr>
            <a:picLocks noChangeAspect="1"/>
          </p:cNvPicPr>
          <p:nvPr/>
        </p:nvPicPr>
        <p:blipFill>
          <a:blip r:embed="rId3"/>
          <a:stretch>
            <a:fillRect/>
          </a:stretch>
        </p:blipFill>
        <p:spPr>
          <a:xfrm>
            <a:off x="0" y="6005457"/>
            <a:ext cx="2162477" cy="790685"/>
          </a:xfrm>
          <a:prstGeom prst="rect">
            <a:avLst/>
          </a:prstGeom>
        </p:spPr>
      </p:pic>
      <p:sp>
        <p:nvSpPr>
          <p:cNvPr id="6" name="CaixaDeTexto 5">
            <a:extLst>
              <a:ext uri="{FF2B5EF4-FFF2-40B4-BE49-F238E27FC236}">
                <a16:creationId xmlns:a16="http://schemas.microsoft.com/office/drawing/2014/main" id="{413D84E0-1D85-34E5-A75E-0449F38D7AF9}"/>
              </a:ext>
            </a:extLst>
          </p:cNvPr>
          <p:cNvSpPr txBox="1"/>
          <p:nvPr/>
        </p:nvSpPr>
        <p:spPr>
          <a:xfrm>
            <a:off x="400050" y="1710273"/>
            <a:ext cx="10736826" cy="1323439"/>
          </a:xfrm>
          <a:prstGeom prst="rect">
            <a:avLst/>
          </a:prstGeom>
          <a:noFill/>
        </p:spPr>
        <p:txBody>
          <a:bodyPr wrap="square" rtlCol="0">
            <a:spAutoFit/>
          </a:bodyPr>
          <a:lstStyle/>
          <a:p>
            <a:r>
              <a:rPr lang="pt-BR" sz="2000" b="1" i="1" dirty="0"/>
              <a:t>Uso de maiúsculas e minúsculas: </a:t>
            </a:r>
          </a:p>
          <a:p>
            <a:r>
              <a:rPr lang="pt-BR" sz="2000" dirty="0"/>
              <a:t>O Java é uma linguagem sensível ao caixa, i.e., em todas as suas</a:t>
            </a:r>
          </a:p>
          <a:p>
            <a:r>
              <a:rPr lang="pt-BR" sz="2000" dirty="0"/>
              <a:t>construções as letras minúsculas e maiúsculas são consideradas diferentes, ou seja: nome é diferente de NOME, assim como </a:t>
            </a:r>
            <a:r>
              <a:rPr lang="pt-BR" sz="2000" dirty="0" err="1"/>
              <a:t>public</a:t>
            </a:r>
            <a:r>
              <a:rPr lang="pt-BR" sz="2000" dirty="0"/>
              <a:t> é diferente de Public.</a:t>
            </a:r>
            <a:endParaRPr lang="pt-BR" sz="2400" b="1" i="1" dirty="0"/>
          </a:p>
        </p:txBody>
      </p:sp>
      <p:sp>
        <p:nvSpPr>
          <p:cNvPr id="7" name="CaixaDeTexto 6">
            <a:extLst>
              <a:ext uri="{FF2B5EF4-FFF2-40B4-BE49-F238E27FC236}">
                <a16:creationId xmlns:a16="http://schemas.microsoft.com/office/drawing/2014/main" id="{63478E97-0D47-89A5-7E38-58FB69B8864B}"/>
              </a:ext>
            </a:extLst>
          </p:cNvPr>
          <p:cNvSpPr txBox="1"/>
          <p:nvPr/>
        </p:nvSpPr>
        <p:spPr>
          <a:xfrm>
            <a:off x="400050" y="3223026"/>
            <a:ext cx="5499305" cy="2677656"/>
          </a:xfrm>
          <a:prstGeom prst="rect">
            <a:avLst/>
          </a:prstGeom>
          <a:noFill/>
        </p:spPr>
        <p:txBody>
          <a:bodyPr wrap="square" rtlCol="0">
            <a:spAutoFit/>
          </a:bodyPr>
          <a:lstStyle/>
          <a:p>
            <a:pPr algn="just"/>
            <a:r>
              <a:rPr lang="pt-BR" sz="2000" b="1" i="1" dirty="0"/>
              <a:t>Comentários</a:t>
            </a:r>
            <a:r>
              <a:rPr lang="pt-BR" sz="2400" b="1" i="1" dirty="0"/>
              <a:t>: </a:t>
            </a:r>
          </a:p>
          <a:p>
            <a:pPr algn="just"/>
            <a:r>
              <a:rPr lang="pt-BR" sz="2000" dirty="0"/>
              <a:t>Dentro dos programas é permitida a inclusão de comentários, i.e., fragmentos de texto que servem para registro de explicações, anotações ou outras informações necessárias. Embora façam parte do arquivo de programa, são desconsiderados pelo compilador, de modo que neles possa figurar qualquer caractere ou acentuação.</a:t>
            </a:r>
            <a:endParaRPr lang="pt-BR" sz="3200" b="1" i="1" dirty="0"/>
          </a:p>
        </p:txBody>
      </p:sp>
      <p:pic>
        <p:nvPicPr>
          <p:cNvPr id="10" name="Imagem 9">
            <a:extLst>
              <a:ext uri="{FF2B5EF4-FFF2-40B4-BE49-F238E27FC236}">
                <a16:creationId xmlns:a16="http://schemas.microsoft.com/office/drawing/2014/main" id="{2849DF90-A009-2DA1-2A16-6C2806744267}"/>
              </a:ext>
            </a:extLst>
          </p:cNvPr>
          <p:cNvPicPr>
            <a:picLocks noChangeAspect="1"/>
          </p:cNvPicPr>
          <p:nvPr/>
        </p:nvPicPr>
        <p:blipFill>
          <a:blip r:embed="rId4"/>
          <a:stretch>
            <a:fillRect/>
          </a:stretch>
        </p:blipFill>
        <p:spPr>
          <a:xfrm>
            <a:off x="6804196" y="3078599"/>
            <a:ext cx="4435303" cy="1491380"/>
          </a:xfrm>
          <a:prstGeom prst="rect">
            <a:avLst/>
          </a:prstGeom>
        </p:spPr>
      </p:pic>
      <p:pic>
        <p:nvPicPr>
          <p:cNvPr id="12" name="Imagem 11">
            <a:extLst>
              <a:ext uri="{FF2B5EF4-FFF2-40B4-BE49-F238E27FC236}">
                <a16:creationId xmlns:a16="http://schemas.microsoft.com/office/drawing/2014/main" id="{D97F3210-C86C-A78B-D1ED-61D048CC6FD9}"/>
              </a:ext>
            </a:extLst>
          </p:cNvPr>
          <p:cNvPicPr>
            <a:picLocks noChangeAspect="1"/>
          </p:cNvPicPr>
          <p:nvPr/>
        </p:nvPicPr>
        <p:blipFill>
          <a:blip r:embed="rId5"/>
          <a:stretch>
            <a:fillRect/>
          </a:stretch>
        </p:blipFill>
        <p:spPr>
          <a:xfrm>
            <a:off x="6921910" y="4569979"/>
            <a:ext cx="4214966" cy="404698"/>
          </a:xfrm>
          <a:prstGeom prst="rect">
            <a:avLst/>
          </a:prstGeom>
        </p:spPr>
      </p:pic>
    </p:spTree>
    <p:extLst>
      <p:ext uri="{BB962C8B-B14F-4D97-AF65-F5344CB8AC3E}">
        <p14:creationId xmlns:p14="http://schemas.microsoft.com/office/powerpoint/2010/main" val="19139416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4006DBD4-2914-C741-97A1-A2397B996AA1}"/>
            </a:ext>
          </a:extLst>
        </p:cNvPr>
        <p:cNvGrpSpPr/>
        <p:nvPr/>
      </p:nvGrpSpPr>
      <p:grpSpPr>
        <a:xfrm>
          <a:off x="0" y="0"/>
          <a:ext cx="0" cy="0"/>
          <a:chOff x="0" y="0"/>
          <a:chExt cx="0" cy="0"/>
        </a:xfrm>
      </p:grpSpPr>
      <p:sp>
        <p:nvSpPr>
          <p:cNvPr id="5" name="Retângulo 4">
            <a:extLst>
              <a:ext uri="{FF2B5EF4-FFF2-40B4-BE49-F238E27FC236}">
                <a16:creationId xmlns:a16="http://schemas.microsoft.com/office/drawing/2014/main" id="{923DF65C-CEF0-E064-8FCD-A4F71175F36D}"/>
              </a:ext>
            </a:extLst>
          </p:cNvPr>
          <p:cNvSpPr>
            <a:spLocks noGrp="1"/>
          </p:cNvSpPr>
          <p:nvPr/>
        </p:nvSpPr>
        <p:spPr>
          <a:xfrm>
            <a:off x="400050" y="266700"/>
            <a:ext cx="4762500" cy="285750"/>
          </a:xfrm>
          <a:prstGeom prst="rect">
            <a:avLst/>
          </a:prstGeom>
          <a:noFill/>
          <a:ln w="0">
            <a:noFill/>
            <a:prstDash val="solid"/>
          </a:ln>
        </p:spPr>
        <p:txBody>
          <a:bodyPr lIns="0" tIns="0" rIns="0" bIns="0" anchor="ctr">
            <a:noAutofit/>
          </a:bodyPr>
          <a:lstStyle/>
          <a:p>
            <a:pPr algn="l">
              <a:buNone/>
              <a:defRPr sz="1800" b="1">
                <a:solidFill>
                  <a:srgbClr val="1565C0"/>
                </a:solidFill>
                <a:latin typeface="Arial"/>
                <a:ea typeface="Arial"/>
                <a:cs typeface="Arial"/>
              </a:defRPr>
            </a:pPr>
            <a:r>
              <a:rPr sz="1800" b="1">
                <a:solidFill>
                  <a:srgbClr val="1565C0"/>
                </a:solidFill>
                <a:latin typeface="Arial"/>
                <a:ea typeface="Arial"/>
                <a:cs typeface="Arial"/>
              </a:rPr>
              <a:t>PROGRAMAÇÃO ESTRUTURADA • AULA 4</a:t>
            </a:r>
          </a:p>
        </p:txBody>
      </p:sp>
      <p:sp>
        <p:nvSpPr>
          <p:cNvPr id="2" name="Retângulo 1">
            <a:extLst>
              <a:ext uri="{FF2B5EF4-FFF2-40B4-BE49-F238E27FC236}">
                <a16:creationId xmlns:a16="http://schemas.microsoft.com/office/drawing/2014/main" id="{91B06F3C-96EE-693C-A019-23D06CA0A541}"/>
              </a:ext>
            </a:extLst>
          </p:cNvPr>
          <p:cNvSpPr>
            <a:spLocks noGrp="1"/>
          </p:cNvSpPr>
          <p:nvPr/>
        </p:nvSpPr>
        <p:spPr>
          <a:xfrm>
            <a:off x="400050" y="552450"/>
            <a:ext cx="11049000" cy="666750"/>
          </a:xfrm>
          <a:prstGeom prst="rect">
            <a:avLst/>
          </a:prstGeom>
          <a:noFill/>
          <a:ln w="0">
            <a:noFill/>
            <a:prstDash val="solid"/>
          </a:ln>
        </p:spPr>
        <p:txBody>
          <a:bodyPr lIns="0" tIns="0" rIns="0" bIns="0" anchor="ctr">
            <a:noAutofit/>
          </a:bodyPr>
          <a:lstStyle/>
          <a:p>
            <a:pPr>
              <a:defRPr sz="3750" b="1">
                <a:solidFill>
                  <a:srgbClr val="10212B"/>
                </a:solidFill>
                <a:latin typeface="Arial"/>
                <a:ea typeface="Arial"/>
                <a:cs typeface="Arial"/>
              </a:defRPr>
            </a:pPr>
            <a:r>
              <a:rPr lang="pt-BR" sz="3750" dirty="0"/>
              <a:t>Compilação e execução</a:t>
            </a:r>
            <a:endParaRPr lang="pt-BR" sz="3600" b="1" dirty="0">
              <a:solidFill>
                <a:srgbClr val="10212B"/>
              </a:solidFill>
              <a:latin typeface="Arial"/>
              <a:ea typeface="Arial"/>
              <a:cs typeface="Arial"/>
            </a:endParaRPr>
          </a:p>
        </p:txBody>
      </p:sp>
      <p:sp>
        <p:nvSpPr>
          <p:cNvPr id="3" name="Retângulo 2">
            <a:extLst>
              <a:ext uri="{FF2B5EF4-FFF2-40B4-BE49-F238E27FC236}">
                <a16:creationId xmlns:a16="http://schemas.microsoft.com/office/drawing/2014/main" id="{4AA1ED1B-BD71-B5E9-FDAF-730B652ADB2A}"/>
              </a:ext>
            </a:extLst>
          </p:cNvPr>
          <p:cNvSpPr>
            <a:spLocks noGrp="1"/>
          </p:cNvSpPr>
          <p:nvPr/>
        </p:nvSpPr>
        <p:spPr>
          <a:xfrm>
            <a:off x="400050" y="1295400"/>
            <a:ext cx="11391900" cy="28575"/>
          </a:xfrm>
          <a:prstGeom prst="rect">
            <a:avLst/>
          </a:prstGeom>
          <a:solidFill>
            <a:srgbClr val="1565C0"/>
          </a:solidFill>
          <a:ln w="0">
            <a:noFill/>
            <a:prstDash val="solid"/>
          </a:ln>
        </p:spPr>
        <p:txBody>
          <a:bodyPr/>
          <a:lstStyle/>
          <a:p>
            <a:endParaRPr/>
          </a:p>
        </p:txBody>
      </p:sp>
      <p:sp>
        <p:nvSpPr>
          <p:cNvPr id="4" name="Retângulo 3">
            <a:extLst>
              <a:ext uri="{FF2B5EF4-FFF2-40B4-BE49-F238E27FC236}">
                <a16:creationId xmlns:a16="http://schemas.microsoft.com/office/drawing/2014/main" id="{4E5879E6-01A2-F3C2-F2CC-9BAF9D0816AC}"/>
              </a:ext>
            </a:extLst>
          </p:cNvPr>
          <p:cNvSpPr>
            <a:spLocks noGrp="1"/>
          </p:cNvSpPr>
          <p:nvPr/>
        </p:nvSpPr>
        <p:spPr>
          <a:xfrm>
            <a:off x="11239500" y="6286500"/>
            <a:ext cx="552450" cy="304800"/>
          </a:xfrm>
          <a:prstGeom prst="rect">
            <a:avLst/>
          </a:prstGeom>
          <a:noFill/>
          <a:ln w="0">
            <a:noFill/>
            <a:prstDash val="solid"/>
          </a:ln>
        </p:spPr>
        <p:txBody>
          <a:bodyPr lIns="0" tIns="0" rIns="0" bIns="0" anchor="ctr">
            <a:noAutofit/>
          </a:bodyPr>
          <a:lstStyle/>
          <a:p>
            <a:pPr algn="r">
              <a:buNone/>
              <a:defRPr sz="1800" b="0">
                <a:solidFill>
                  <a:srgbClr val="5F6B72"/>
                </a:solidFill>
                <a:latin typeface="Arial"/>
                <a:ea typeface="Arial"/>
                <a:cs typeface="Arial"/>
              </a:defRPr>
            </a:pPr>
            <a:r>
              <a:rPr sz="1800" b="0">
                <a:solidFill>
                  <a:srgbClr val="5F6B72"/>
                </a:solidFill>
                <a:latin typeface="Arial"/>
                <a:ea typeface="Arial"/>
                <a:cs typeface="Arial"/>
              </a:rPr>
              <a:t>07</a:t>
            </a:r>
          </a:p>
        </p:txBody>
      </p:sp>
      <p:pic>
        <p:nvPicPr>
          <p:cNvPr id="13" name="Imagem 6">
            <a:extLst>
              <a:ext uri="{FF2B5EF4-FFF2-40B4-BE49-F238E27FC236}">
                <a16:creationId xmlns:a16="http://schemas.microsoft.com/office/drawing/2014/main" id="{558DF00E-A42D-7EB2-C150-584724216A8A}"/>
              </a:ext>
            </a:extLst>
          </p:cNvPr>
          <p:cNvPicPr>
            <a:picLocks noChangeAspect="1"/>
          </p:cNvPicPr>
          <p:nvPr/>
        </p:nvPicPr>
        <p:blipFill>
          <a:blip r:embed="rId3"/>
          <a:stretch>
            <a:fillRect/>
          </a:stretch>
        </p:blipFill>
        <p:spPr>
          <a:xfrm>
            <a:off x="0" y="6005457"/>
            <a:ext cx="2162477" cy="790685"/>
          </a:xfrm>
          <a:prstGeom prst="rect">
            <a:avLst/>
          </a:prstGeom>
        </p:spPr>
      </p:pic>
      <p:sp>
        <p:nvSpPr>
          <p:cNvPr id="6" name="CaixaDeTexto 5">
            <a:extLst>
              <a:ext uri="{FF2B5EF4-FFF2-40B4-BE49-F238E27FC236}">
                <a16:creationId xmlns:a16="http://schemas.microsoft.com/office/drawing/2014/main" id="{C6CA0FA0-5C87-ADA5-9CC6-B44F5A44FA09}"/>
              </a:ext>
            </a:extLst>
          </p:cNvPr>
          <p:cNvSpPr txBox="1"/>
          <p:nvPr/>
        </p:nvSpPr>
        <p:spPr>
          <a:xfrm>
            <a:off x="400050" y="1710273"/>
            <a:ext cx="11241344" cy="1938992"/>
          </a:xfrm>
          <a:prstGeom prst="rect">
            <a:avLst/>
          </a:prstGeom>
          <a:noFill/>
        </p:spPr>
        <p:txBody>
          <a:bodyPr wrap="square" rtlCol="0">
            <a:spAutoFit/>
          </a:bodyPr>
          <a:lstStyle/>
          <a:p>
            <a:r>
              <a:rPr lang="pt-BR" sz="2000" dirty="0"/>
              <a:t>A compilação e a execução de um programa em Java ocorrem em duas etapas bem definidas para garantir a independência de plataforma. </a:t>
            </a:r>
          </a:p>
          <a:p>
            <a:pPr marL="342900" indent="-342900">
              <a:buFont typeface="Arial" panose="020B0604020202020204" pitchFamily="34" charset="0"/>
              <a:buChar char="•"/>
            </a:pPr>
            <a:r>
              <a:rPr lang="pt-BR" sz="2000" dirty="0"/>
              <a:t>Primeiramente, o código-fonte gravado no arquivo </a:t>
            </a:r>
            <a:r>
              <a:rPr lang="pt-BR" dirty="0"/>
              <a:t>.</a:t>
            </a:r>
            <a:r>
              <a:rPr lang="pt-BR" dirty="0" err="1"/>
              <a:t>java</a:t>
            </a:r>
            <a:r>
              <a:rPr lang="pt-BR" sz="2000" dirty="0"/>
              <a:t> é processado pelo compilador (</a:t>
            </a:r>
            <a:r>
              <a:rPr lang="pt-BR" dirty="0" err="1"/>
              <a:t>javac</a:t>
            </a:r>
            <a:r>
              <a:rPr lang="pt-BR" sz="2000" dirty="0"/>
              <a:t>), que verifica a sintaxe e o transforma em </a:t>
            </a:r>
            <a:r>
              <a:rPr lang="pt-BR" sz="2000" i="1" dirty="0" err="1"/>
              <a:t>bytecodes</a:t>
            </a:r>
            <a:r>
              <a:rPr lang="pt-BR" sz="2000" dirty="0"/>
              <a:t> gravados em um arquivo </a:t>
            </a:r>
            <a:r>
              <a:rPr lang="pt-BR" dirty="0"/>
              <a:t>.class.</a:t>
            </a:r>
          </a:p>
          <a:p>
            <a:pPr marL="342900" indent="-342900">
              <a:buFont typeface="Arial" panose="020B0604020202020204" pitchFamily="34" charset="0"/>
              <a:buChar char="•"/>
            </a:pPr>
            <a:r>
              <a:rPr lang="pt-BR" sz="2000" dirty="0"/>
              <a:t>Em seguida, a Máquina Virtual Java (</a:t>
            </a:r>
            <a:r>
              <a:rPr lang="pt-BR" sz="1600" dirty="0" err="1"/>
              <a:t>java</a:t>
            </a:r>
            <a:r>
              <a:rPr lang="pt-BR" sz="2000" dirty="0"/>
              <a:t>) lê esse arquivo </a:t>
            </a:r>
            <a:r>
              <a:rPr lang="pt-BR" sz="1600" dirty="0"/>
              <a:t>.</a:t>
            </a:r>
            <a:r>
              <a:rPr lang="pt-BR" sz="1600" dirty="0" err="1"/>
              <a:t>class</a:t>
            </a:r>
            <a:r>
              <a:rPr lang="pt-BR" sz="2000" dirty="0"/>
              <a:t> e traduz as instruções genéricas para a linguagem de máquina nativa do sistema operacional em uso. </a:t>
            </a:r>
            <a:endParaRPr lang="pt-BR" sz="2000" b="1" i="1" dirty="0"/>
          </a:p>
        </p:txBody>
      </p:sp>
      <p:pic>
        <p:nvPicPr>
          <p:cNvPr id="9" name="Imagem 8">
            <a:extLst>
              <a:ext uri="{FF2B5EF4-FFF2-40B4-BE49-F238E27FC236}">
                <a16:creationId xmlns:a16="http://schemas.microsoft.com/office/drawing/2014/main" id="{DCFCD46B-7E5A-4DB6-3F01-65B78A526101}"/>
              </a:ext>
            </a:extLst>
          </p:cNvPr>
          <p:cNvPicPr>
            <a:picLocks noChangeAspect="1"/>
          </p:cNvPicPr>
          <p:nvPr/>
        </p:nvPicPr>
        <p:blipFill>
          <a:blip r:embed="rId4"/>
          <a:srcRect l="20540" t="16817" r="14064" b="14229"/>
          <a:stretch>
            <a:fillRect/>
          </a:stretch>
        </p:blipFill>
        <p:spPr>
          <a:xfrm>
            <a:off x="5754022" y="3970734"/>
            <a:ext cx="5761703" cy="2430065"/>
          </a:xfrm>
          <a:prstGeom prst="rect">
            <a:avLst/>
          </a:prstGeom>
        </p:spPr>
      </p:pic>
    </p:spTree>
    <p:extLst>
      <p:ext uri="{BB962C8B-B14F-4D97-AF65-F5344CB8AC3E}">
        <p14:creationId xmlns:p14="http://schemas.microsoft.com/office/powerpoint/2010/main" val="4223729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Retângulo 7">
            <a:extLst>
              <a:ext uri="{FF2B5EF4-FFF2-40B4-BE49-F238E27FC236}">
                <a16:creationId xmlns:a16="http://schemas.microsoft.com/office/drawing/2014/main" id="{27CE0FA9-17DC-4079-A567-5A51DE2A43D5}"/>
              </a:ext>
            </a:extLst>
          </p:cNvPr>
          <p:cNvSpPr>
            <a:spLocks noGrp="1"/>
          </p:cNvSpPr>
          <p:nvPr/>
        </p:nvSpPr>
        <p:spPr>
          <a:xfrm>
            <a:off x="400050" y="266700"/>
            <a:ext cx="4762500" cy="285750"/>
          </a:xfrm>
          <a:prstGeom prst="rect">
            <a:avLst/>
          </a:prstGeom>
          <a:noFill/>
          <a:ln w="0">
            <a:noFill/>
            <a:prstDash val="solid"/>
          </a:ln>
        </p:spPr>
        <p:txBody>
          <a:bodyPr lIns="0" tIns="0" rIns="0" bIns="0" anchor="ctr">
            <a:noAutofit/>
          </a:bodyPr>
          <a:lstStyle/>
          <a:p>
            <a:pPr algn="l">
              <a:buNone/>
              <a:defRPr sz="1800" b="1">
                <a:solidFill>
                  <a:srgbClr val="1565C0"/>
                </a:solidFill>
                <a:latin typeface="Arial"/>
                <a:ea typeface="Arial"/>
                <a:cs typeface="Arial"/>
              </a:defRPr>
            </a:pPr>
            <a:r>
              <a:rPr sz="1800" b="1">
                <a:solidFill>
                  <a:srgbClr val="1565C0"/>
                </a:solidFill>
                <a:latin typeface="Arial"/>
                <a:ea typeface="Arial"/>
                <a:cs typeface="Arial"/>
              </a:rPr>
              <a:t>PROGRAMAÇÃO ESTRUTURADA • AULA 4</a:t>
            </a:r>
          </a:p>
        </p:txBody>
      </p:sp>
      <p:sp>
        <p:nvSpPr>
          <p:cNvPr id="2" name="Retângulo 1">
            <a:extLst>
              <a:ext uri="{FF2B5EF4-FFF2-40B4-BE49-F238E27FC236}">
                <a16:creationId xmlns:a16="http://schemas.microsoft.com/office/drawing/2014/main" id="{B75F5B98-E150-4F37-8850-322DC3974FD3}"/>
              </a:ext>
            </a:extLst>
          </p:cNvPr>
          <p:cNvSpPr>
            <a:spLocks noGrp="1"/>
          </p:cNvSpPr>
          <p:nvPr/>
        </p:nvSpPr>
        <p:spPr>
          <a:xfrm>
            <a:off x="4673702" y="3378966"/>
            <a:ext cx="2277704" cy="666750"/>
          </a:xfrm>
          <a:prstGeom prst="rect">
            <a:avLst/>
          </a:prstGeom>
          <a:noFill/>
          <a:ln w="0">
            <a:noFill/>
            <a:prstDash val="solid"/>
          </a:ln>
        </p:spPr>
        <p:txBody>
          <a:bodyPr lIns="0" tIns="0" rIns="0" bIns="0" anchor="ctr">
            <a:noAutofit/>
          </a:bodyPr>
          <a:lstStyle/>
          <a:p>
            <a:pPr algn="l">
              <a:buNone/>
              <a:defRPr sz="3750" b="1">
                <a:solidFill>
                  <a:srgbClr val="10212B"/>
                </a:solidFill>
                <a:latin typeface="Arial"/>
                <a:ea typeface="Arial"/>
                <a:cs typeface="Arial"/>
              </a:defRPr>
            </a:pPr>
            <a:r>
              <a:rPr lang="pt-BR" sz="3750" b="1" dirty="0">
                <a:solidFill>
                  <a:srgbClr val="10212B"/>
                </a:solidFill>
                <a:latin typeface="Arial"/>
                <a:ea typeface="Arial"/>
                <a:cs typeface="Arial"/>
              </a:rPr>
              <a:t>Dúvidas?</a:t>
            </a:r>
            <a:endParaRPr sz="3750" b="1" dirty="0">
              <a:solidFill>
                <a:srgbClr val="10212B"/>
              </a:solidFill>
              <a:latin typeface="Arial"/>
              <a:ea typeface="Arial"/>
              <a:cs typeface="Arial"/>
            </a:endParaRPr>
          </a:p>
        </p:txBody>
      </p:sp>
      <p:sp>
        <p:nvSpPr>
          <p:cNvPr id="3" name="Retângulo 2">
            <a:extLst>
              <a:ext uri="{FF2B5EF4-FFF2-40B4-BE49-F238E27FC236}">
                <a16:creationId xmlns:a16="http://schemas.microsoft.com/office/drawing/2014/main" id="{CB787ABB-15D9-497C-9B60-E443772238D7}"/>
              </a:ext>
            </a:extLst>
          </p:cNvPr>
          <p:cNvSpPr>
            <a:spLocks noGrp="1"/>
          </p:cNvSpPr>
          <p:nvPr/>
        </p:nvSpPr>
        <p:spPr>
          <a:xfrm>
            <a:off x="400050" y="1295400"/>
            <a:ext cx="11391900" cy="28575"/>
          </a:xfrm>
          <a:prstGeom prst="rect">
            <a:avLst/>
          </a:prstGeom>
          <a:solidFill>
            <a:srgbClr val="1565C0"/>
          </a:solidFill>
          <a:ln w="0">
            <a:noFill/>
            <a:prstDash val="solid"/>
          </a:ln>
        </p:spPr>
        <p:txBody>
          <a:bodyPr/>
          <a:lstStyle/>
          <a:p>
            <a:endParaRPr/>
          </a:p>
        </p:txBody>
      </p:sp>
      <p:sp>
        <p:nvSpPr>
          <p:cNvPr id="4" name="Retângulo 3">
            <a:extLst>
              <a:ext uri="{FF2B5EF4-FFF2-40B4-BE49-F238E27FC236}">
                <a16:creationId xmlns:a16="http://schemas.microsoft.com/office/drawing/2014/main" id="{60084E9A-5698-424E-8A21-D789972F46BA}"/>
              </a:ext>
            </a:extLst>
          </p:cNvPr>
          <p:cNvSpPr>
            <a:spLocks noGrp="1"/>
          </p:cNvSpPr>
          <p:nvPr/>
        </p:nvSpPr>
        <p:spPr>
          <a:xfrm>
            <a:off x="11239500" y="6286500"/>
            <a:ext cx="552450" cy="304800"/>
          </a:xfrm>
          <a:prstGeom prst="rect">
            <a:avLst/>
          </a:prstGeom>
          <a:noFill/>
          <a:ln w="0">
            <a:noFill/>
            <a:prstDash val="solid"/>
          </a:ln>
        </p:spPr>
        <p:txBody>
          <a:bodyPr lIns="0" tIns="0" rIns="0" bIns="0" anchor="ctr">
            <a:noAutofit/>
          </a:bodyPr>
          <a:lstStyle/>
          <a:p>
            <a:pPr algn="r">
              <a:buNone/>
              <a:defRPr sz="1800" b="0">
                <a:solidFill>
                  <a:srgbClr val="5F6B72"/>
                </a:solidFill>
                <a:latin typeface="Arial"/>
                <a:ea typeface="Arial"/>
                <a:cs typeface="Arial"/>
              </a:defRPr>
            </a:pPr>
            <a:r>
              <a:rPr sz="1800" b="0">
                <a:solidFill>
                  <a:srgbClr val="5F6B72"/>
                </a:solidFill>
                <a:latin typeface="Arial"/>
                <a:ea typeface="Arial"/>
                <a:cs typeface="Arial"/>
              </a:rPr>
              <a:t>09</a:t>
            </a:r>
          </a:p>
        </p:txBody>
      </p:sp>
      <p:pic>
        <p:nvPicPr>
          <p:cNvPr id="16" name="Imagem 9"/>
          <p:cNvPicPr>
            <a:picLocks noChangeAspect="1"/>
          </p:cNvPicPr>
          <p:nvPr/>
        </p:nvPicPr>
        <p:blipFill>
          <a:blip r:embed="rId3"/>
          <a:stretch>
            <a:fillRect/>
          </a:stretch>
        </p:blipFill>
        <p:spPr>
          <a:xfrm>
            <a:off x="0" y="6067315"/>
            <a:ext cx="2162477" cy="790685"/>
          </a:xfrm>
          <a:prstGeom prst="rect">
            <a:avLst/>
          </a:prstGeom>
        </p:spPr>
      </p:pic>
    </p:spTree>
    <p:extLst>
      <p:ext uri="{BB962C8B-B14F-4D97-AF65-F5344CB8AC3E}">
        <p14:creationId xmlns:p14="http://schemas.microsoft.com/office/powerpoint/2010/main" val="392454658"/>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98</TotalTime>
  <Words>3925</Words>
  <Application>Microsoft Office PowerPoint</Application>
  <DocSecurity>0</DocSecurity>
  <PresentationFormat>Widescreen</PresentationFormat>
  <Paragraphs>303</Paragraphs>
  <Slides>21</Slides>
  <Notes>21</Notes>
  <HiddenSlides>0</HiddenSlides>
  <MMClips>0</MMClips>
  <ScaleCrop>false</ScaleCrop>
  <HeadingPairs>
    <vt:vector size="6" baseType="variant">
      <vt:variant>
        <vt:lpstr>Fontes usadas</vt:lpstr>
      </vt:variant>
      <vt:variant>
        <vt:i4>3</vt:i4>
      </vt:variant>
      <vt:variant>
        <vt:lpstr>Tema</vt:lpstr>
      </vt:variant>
      <vt:variant>
        <vt:i4>1</vt:i4>
      </vt:variant>
      <vt:variant>
        <vt:lpstr>Títulos de slides</vt:lpstr>
      </vt:variant>
      <vt:variant>
        <vt:i4>21</vt:i4>
      </vt:variant>
    </vt:vector>
  </HeadingPairs>
  <TitlesOfParts>
    <vt:vector size="25" baseType="lpstr">
      <vt:lpstr>Arial</vt:lpstr>
      <vt:lpstr>Calibri</vt:lpstr>
      <vt:lpstr>Consolas</vt:lpstr>
      <vt:lpstr>ChatGPT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Youth Space</cp:lastModifiedBy>
  <cp:revision>2</cp:revision>
  <dcterms:created xsi:type="dcterms:W3CDTF">2026-08-06T18:44:51Z</dcterms:created>
  <dcterms:modified xsi:type="dcterms:W3CDTF">2026-08-10T14:14:51Z</dcterms:modified>
</cp:coreProperties>
</file>