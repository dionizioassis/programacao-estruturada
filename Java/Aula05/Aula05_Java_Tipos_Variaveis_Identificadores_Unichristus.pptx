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81" r:id="rId6"/>
    <p:sldId id="282" r:id="rId7"/>
    <p:sldId id="283" r:id="rId8"/>
    <p:sldId id="260" r:id="rId9"/>
    <p:sldId id="285" r:id="rId10"/>
    <p:sldId id="284" r:id="rId11"/>
    <p:sldId id="293" r:id="rId12"/>
    <p:sldId id="286" r:id="rId13"/>
    <p:sldId id="287" r:id="rId14"/>
    <p:sldId id="288" r:id="rId15"/>
    <p:sldId id="289" r:id="rId16"/>
    <p:sldId id="290" r:id="rId17"/>
    <p:sldId id="291" r:id="rId18"/>
    <p:sldId id="261" r:id="rId19"/>
    <p:sldId id="292" r:id="rId20"/>
    <p:sldId id="262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Apresente o recorte: tipos, variáveis, identificadores, literais e final. Informe que a aula usa apenas valores definidos no código; entrada com Scanner, operadores e expressões compostas serão tratados depois.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</a:t>
            </a:r>
          </a:p>
          <a:p>
            <a:r>
              <a:t>- JANDL JUNIOR, P. Java: Guia do Programador. 4. ed. Novatec, 2021.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Leia os objetivos e estabeleça o critério de conclusão: declarar variáveis locais válidas, compilar um exemplo e justificar os principais diagnósticos de tipo.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</a:t>
            </a:r>
          </a:p>
          <a:p>
            <a:r>
              <a:t>- JANDL JUNIOR, P. Java: Guia do Programador. 4. ed. Novatec, 2021.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>
            <a:endParaRPr/>
          </a:p>
          <a:p>
            <a:r>
              <a:t>Mostre a progressão dos cinco blocos. Reserve explicitamente os 15 minutos finais para as duas questões; o Live Coding deve terminar antes desse intervalo.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</a:t>
            </a:r>
          </a:p>
          <a:p>
            <a:r>
              <a:t>- JANDL JUNIOR, P. Java: Guia do Programador. 4. ed. Novatec, 2021.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249F-1B15-F4C3-A767-17026277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FF1AE-9614-2D3C-3E7C-0C46C31B0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9501E-F7FE-99BB-C00E-2A3AE822D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79618-4279-93A7-BBA4-4BC03240EE2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7087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6AD0-150D-A4C3-380D-7416EC68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85B07-53D1-4D5D-28B2-58409C8B1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6CBAE-C0A2-E4B5-7237-4AC6701BF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7E0FB-96F5-CA9C-C912-F0FA33BAE62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1301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DBE2-3691-CDAD-BAB5-9252A880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4B73E-6448-A0AD-6901-E79067AD2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49515-6488-EBFE-EBA0-A0E942CF0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Retome o primeiro programa da Aula 4. O argumento de println era um literal fixo. Destaque que a ausência de um identificador impede reutilizar esse dado por nome. A partir de agora, os valores serão associados a variáveis.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9840E-2C0C-E9D7-6189-9D5614F019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4388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3620-CC40-8800-DDD1-F45D546F8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71F86-3C70-07C0-B8ED-96AA94730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111FD-24B2-92B0-23FD-E9896BF4F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A760D-C8AA-CA00-9436-C08B057AD0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6177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8FD47-22DF-B5C1-0DEC-A4EF5729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C7482-7C8D-7233-5EB5-5377B5C66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A0506-0A8B-27FA-F275-890E28560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E0E99-862D-60B3-4A01-690C22C5C1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668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FC34-3DFB-CE4D-74A4-690716D7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6C1F5-7609-F50C-78EF-7729EAC67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D49D1-E8D8-7818-3463-BFCB87038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1CAD1-FBDD-9EF6-51FF-C1A74FEB7B6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192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37FA8-E329-6D1A-7D36-76BC05EA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C9DCB-1D31-B58E-E2AE-1095DF229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BBF00-D9CE-1EE7-8D41-7832FCD23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96A24-1F3A-8F51-0677-31ECA253C2D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27152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D24D1-8936-76EA-6664-56E1D02D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91422-774D-8AE4-0602-2CFE1F804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2F75D-806A-B079-A1D2-AAB25BC40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E30A0-C758-3FED-F949-F0CF4B0F054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03446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18A2-88E1-5F9C-6932-BF97F37A7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3D21B-2A0A-3780-0B72-F76173E9F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D6D083-E73A-0689-F9BB-E607DF16B1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A1F7-8FF4-262F-4C72-FF83B2A516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1593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EB437-47CF-EB74-3A52-D1CC66D1A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ECA26-1429-EC6F-4E82-2A74805DB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BA717-0D23-4C24-2EEF-27DBD346A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BBF08-8812-D626-2C56-C67EE99F765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7731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7B242-2D6D-C171-CE37-23158FC3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4A887-5590-96B9-13CF-6041D4056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03E2D-D580-E987-3482-43DAEE039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616C1-923C-36FC-99A5-4C1C2A97294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536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1BC5-F294-D292-03B6-D2BB149C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43043-4F7B-9E7D-410F-0AC63A849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8A246-05A6-63B8-3CB8-F6D982E49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Defina variável por três componentes. Nome é o identificador no código. Tipo determina os valores permitidos. Valor é o conteúdo atual. Evite afirmar que uma variável Java expõe diretamente um endereço físico; o nome funciona como representação simbólica para o programador.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1.5.</a:t>
            </a:r>
          </a:p>
          <a:p>
            <a:r>
              <a:t>- JANDL JUNIOR, P. Java: Guia do Programador. 4. ed. Novatec, 2021. Cap. 2, seção 2.7.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2D6B1-6C8D-1354-ED7F-9E761250548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3748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Apresente tipo como um conjunto de valores e regras. Explique que essa informação permite ao compilador rejeitar atribuições incompatíveis. Não introduza ainda operadores; apenas mostre que tipos delimitam valores representáveis.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1.6.</a:t>
            </a:r>
          </a:p>
          <a:p>
            <a:r>
              <a:t>- JANDL JUNIOR, P. Java: Guia do Programador. 4. ed. Novatec, 2021. Cap. 2, seção 2.6.</a:t>
            </a:r>
          </a:p>
          <a:p>
            <a:r>
              <a:t>- Oracle. Java Language Specification, Java SE 21, cap. 4 - Types, Values, and Variables. https://docs.oracle.com/javase/specs/jls/se21/html/jls-4.html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0398-EBEC-BDCE-FDB1-FCDDD4F5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DD76E-19EB-373C-D163-B9F0F8078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8F349-2A0C-4431-5CC9-BA2C6936A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Apresente tipo como um conjunto de valores e regras. Explique que essa informação permite ao compilador rejeitar atribuições incompatíveis. Não introduza ainda operadores; apenas mostre que tipos delimitam valores representáveis.</a:t>
            </a:r>
          </a:p>
          <a:p>
            <a:endParaRPr/>
          </a:p>
          <a:p>
            <a:r>
              <a:t>[Sources]</a:t>
            </a:r>
          </a:p>
          <a:p>
            <a:r>
              <a:t>- ASCENCIO, A. F. G.; CAMPOS, E. A. V. Fundamentos da programação de computadores. 3. ed. Pearson, 2012. Cap. 1, seção 1.6.</a:t>
            </a:r>
          </a:p>
          <a:p>
            <a:r>
              <a:t>- JANDL JUNIOR, P. Java: Guia do Programador. 4. ed. Novatec, 2021. Cap. 2, seção 2.6.</a:t>
            </a:r>
          </a:p>
          <a:p>
            <a:r>
              <a:t>- Oracle. Java Language Specification, Java SE 21, cap. 4 - Types, Values, and Variables. https://docs.oracle.com/javase/specs/jls/se21/html/jls-4.html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C4C152-C565-7F5F-4B9E-C2671B36DA8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06502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>
            <a:endParaRPr/>
          </a:p>
          <a:p>
            <a:r>
              <a:t>A Java Language Specification divide os tipos em primitivos e de referência. Enumere os oito primitivos. Esclareça que String é uma classe e, portanto, tipo de referência. Arranjos também são tipos de referência, mas serão aprofundados em aula posterior.</a:t>
            </a:r>
          </a:p>
          <a:p>
            <a:endParaRPr/>
          </a:p>
          <a:p>
            <a:r>
              <a:t>[Sources]</a:t>
            </a:r>
          </a:p>
          <a:p>
            <a:r>
              <a:t>- Oracle. Java Language Specification, Java SE 21, cap. 4 - Types, Values, and Variables. https://docs.oracle.com/javase/specs/jls/se21/html/jls-4.html</a:t>
            </a:r>
          </a:p>
          <a:p>
            <a:r>
              <a:t>- JANDL JUNIOR, P. Java: Guia do Programador. 4. ed. Novatec, 2021. Cap. 2, seção 2.6.</a:t>
            </a:r>
          </a:p>
          <a:p>
            <a:r>
              <a:t>- Identidade visual e logotipo: Aula_04_Java_Historico_Ambiente_Primeiro_Programa_Unichristus.pptx, apresentação-base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5E09F77-A77B-44E2-AD9F-67EF1CCD9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23ADCE1-B7FD-4FAD-BC88-0A64E8C84FF7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378C5BA-5034-4E0A-82C6-942D53EF34D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0485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49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Java: tipos primitivos,</a:t>
            </a:r>
          </a:p>
          <a:p>
            <a:pPr algn="l">
              <a:buNone/>
              <a:defRPr sz="49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variáveis e identificadores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1D427F-5806-4324-A23E-6A3DEE6203D5}"/>
              </a:ext>
            </a:extLst>
          </p:cNvPr>
          <p:cNvSpPr>
            <a:spLocks noGrp="1"/>
          </p:cNvSpPr>
          <p:nvPr/>
        </p:nvSpPr>
        <p:spPr>
          <a:xfrm>
            <a:off x="552450" y="3476625"/>
            <a:ext cx="10496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025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5F6B72"/>
                </a:solidFill>
                <a:latin typeface="Arial"/>
                <a:ea typeface="Arial"/>
                <a:cs typeface="Arial"/>
              </a:rPr>
              <a:t>Tipos</a:t>
            </a:r>
            <a:r>
              <a:rPr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 de dados • </a:t>
            </a:r>
            <a:r>
              <a:rPr lang="pt-BR"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variáveis </a:t>
            </a:r>
            <a:r>
              <a:rPr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• </a:t>
            </a:r>
            <a:r>
              <a:rPr lang="pt-BR"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constantes</a:t>
            </a:r>
            <a:r>
              <a:rPr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 • </a:t>
            </a:r>
            <a:r>
              <a:rPr lang="pt-BR"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operadores</a:t>
            </a:r>
            <a:r>
              <a:rPr sz="2025" b="0" dirty="0">
                <a:solidFill>
                  <a:srgbClr val="5F6B72"/>
                </a:solidFill>
                <a:latin typeface="Arial"/>
                <a:ea typeface="Arial"/>
                <a:cs typeface="Arial"/>
              </a:rPr>
              <a:t> • </a:t>
            </a:r>
            <a:r>
              <a:rPr lang="pt-BR" sz="2025" b="0" dirty="0" err="1">
                <a:solidFill>
                  <a:srgbClr val="5F6B72"/>
                </a:solidFill>
                <a:latin typeface="Arial"/>
                <a:ea typeface="Arial"/>
                <a:cs typeface="Arial"/>
              </a:rPr>
              <a:t>Exercicios</a:t>
            </a:r>
            <a:endParaRPr sz="2025" b="0" dirty="0">
              <a:solidFill>
                <a:srgbClr val="5F6B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C548D3F-12B9-4D5B-86D0-7FAF4E48A94C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Prof. Dionizio Porfírio</a:t>
            </a:r>
          </a:p>
          <a:p>
            <a:pPr algn="l">
              <a:buNone/>
              <a:defRPr sz="18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Unichristus • 2026.2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ABE8E3-1C56-47FA-B4DF-E85154722284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7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65" y="6005457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E3F1717-BE1A-4C0D-AA82-21D6CAAB039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48F4E0-5B80-4402-B336-B1A24D984A7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Objetivos de aprendizagem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7DF4AAD-C3B2-434A-9F95-3BEE55C87C22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1A79A10-5985-4270-8EFD-5B602BFC646D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735455-12F4-4A91-9D76-11C927059AE2}"/>
              </a:ext>
            </a:extLst>
          </p:cNvPr>
          <p:cNvSpPr>
            <a:spLocks noGrp="1"/>
          </p:cNvSpPr>
          <p:nvPr/>
        </p:nvSpPr>
        <p:spPr>
          <a:xfrm>
            <a:off x="400050" y="1581150"/>
            <a:ext cx="1095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2B"/>
                </a:solidFill>
                <a:latin typeface="Arial"/>
                <a:ea typeface="Arial"/>
                <a:cs typeface="Arial"/>
              </a:rPr>
              <a:t>Ao final da aula, o estudante deverá ser capaz de: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D31640-48B8-417E-9BDF-7E5104875838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11279444" cy="3899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20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Entender a Estrutura sequencial em JAVA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20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20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Utilizar variáveis e constantes no JAVA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20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200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Utilizar entrada e saída de dados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endParaRPr lang="pt-BR" sz="200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  <a:p>
            <a:pPr marL="342900" indent="-342900" algn="l">
              <a:buFont typeface="Arial" panose="020B0604020202020204" pitchFamily="34" charset="0"/>
              <a:buChar char="•"/>
              <a:defRPr sz="1800" b="0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2000" b="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Utilizar os operadores aritméticos e lógicos</a:t>
            </a:r>
            <a:endParaRPr sz="2000" b="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1784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6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607DC1E-DFA3-4608-857A-A401F791686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BCE607E-CE84-4715-8191-AD184D4ABD8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60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600" dirty="0"/>
              <a:t>Estrutura sequencial em Java</a:t>
            </a:r>
            <a:endParaRPr sz="360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2E1FCC-9D1D-41F9-B9B6-BFBA6975E4C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0936FD9-02D5-423B-90D7-53DBDF3AB65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3" name="Imagem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5F8161FA-8A6C-6C63-2828-407688CDD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865" y="1702404"/>
            <a:ext cx="5811813" cy="1998058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25B8497B-A930-2CF9-739B-AB69211926D9}"/>
              </a:ext>
            </a:extLst>
          </p:cNvPr>
          <p:cNvSpPr txBox="1"/>
          <p:nvPr/>
        </p:nvSpPr>
        <p:spPr>
          <a:xfrm>
            <a:off x="301728" y="1575704"/>
            <a:ext cx="58818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Os pacotes de classes são arquivos contendo diferentes classes que possuem vários métodos, ou seja, funções, os quais podem ser utilizados nos programas escritos em Java. A diretiva </a:t>
            </a:r>
            <a:r>
              <a:rPr lang="pt-BR" sz="2000" dirty="0" err="1"/>
              <a:t>import</a:t>
            </a:r>
            <a:r>
              <a:rPr lang="pt-BR" sz="2000" dirty="0"/>
              <a:t> permite que o programa reconheça as classes do pacote e, consequentemente, a utilização de seus métodos.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É importante salientar que a linguagem Java é sensível a letras maiúsculas e minúsculas, ou seja, considera letras maiúsculas diferentes de minúsculas (por exemplo, </a:t>
            </a:r>
            <a:r>
              <a:rPr lang="pt-BR" sz="2000" i="1" dirty="0"/>
              <a:t>a </a:t>
            </a:r>
            <a:r>
              <a:rPr lang="pt-BR" sz="2000" dirty="0"/>
              <a:t>é diferente de </a:t>
            </a:r>
            <a:r>
              <a:rPr lang="pt-BR" sz="2000" i="1" dirty="0"/>
              <a:t>A</a:t>
            </a:r>
            <a:r>
              <a:rPr lang="pt-BR" sz="2000" dirty="0"/>
              <a:t>). Sendo assim, cada comando tem a própria sintaxe, que, às vezes, é somente com letras minúsculas e outras vezes com letras maiúsculas e minúsculas.</a:t>
            </a:r>
          </a:p>
        </p:txBody>
      </p:sp>
    </p:spTree>
    <p:extLst>
      <p:ext uri="{BB962C8B-B14F-4D97-AF65-F5344CB8AC3E}">
        <p14:creationId xmlns:p14="http://schemas.microsoft.com/office/powerpoint/2010/main" val="951032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15759EB-BBDA-4854-A7C0-D8FE4DA6BFC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834679-C3F5-45D8-85D6-74D3CFACCF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Declaração de variáveis em Java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5F78CE-7617-4BF5-8DD7-919C6D74351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AB07C1-A5E4-47D6-A75E-FBDC11D1970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8BDF78C-7785-4EF1-8486-C63CC6BEB35C}"/>
              </a:ext>
            </a:extLst>
          </p:cNvPr>
          <p:cNvSpPr>
            <a:spLocks noGrp="1"/>
          </p:cNvSpPr>
          <p:nvPr/>
        </p:nvSpPr>
        <p:spPr>
          <a:xfrm>
            <a:off x="400050" y="1602657"/>
            <a:ext cx="11391900" cy="1520927"/>
          </a:xfrm>
          <a:prstGeom prst="rect">
            <a:avLst/>
          </a:prstGeom>
          <a:solidFill>
            <a:srgbClr val="E8F4F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16EC7E3-84A6-4C2E-96D6-0E4FB894BD6F}"/>
              </a:ext>
            </a:extLst>
          </p:cNvPr>
          <p:cNvSpPr>
            <a:spLocks noGrp="1"/>
          </p:cNvSpPr>
          <p:nvPr/>
        </p:nvSpPr>
        <p:spPr>
          <a:xfrm>
            <a:off x="537702" y="1631231"/>
            <a:ext cx="11254248" cy="14923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r>
              <a:rPr lang="pt-BR" sz="2400" dirty="0"/>
              <a:t>As </a:t>
            </a:r>
            <a:r>
              <a:rPr lang="pt-BR" sz="2400" i="1" dirty="0"/>
              <a:t>variáveis </a:t>
            </a:r>
            <a:r>
              <a:rPr lang="pt-BR" sz="2400" dirty="0"/>
              <a:t>são declaradas após a especificação de seus tipos. Os tipos de dados mais utilizados são: </a:t>
            </a:r>
            <a:r>
              <a:rPr lang="pt-BR" sz="2400" b="1" dirty="0"/>
              <a:t>int</a:t>
            </a:r>
            <a:r>
              <a:rPr lang="pt-BR" sz="2400" dirty="0"/>
              <a:t> (para números inteiros), </a:t>
            </a:r>
            <a:r>
              <a:rPr lang="pt-BR" sz="2400" b="1" dirty="0" err="1"/>
              <a:t>float</a:t>
            </a:r>
            <a:r>
              <a:rPr lang="pt-BR" sz="2400" dirty="0"/>
              <a:t> e </a:t>
            </a:r>
            <a:r>
              <a:rPr lang="pt-BR" sz="2400" b="1" dirty="0"/>
              <a:t>double</a:t>
            </a:r>
            <a:r>
              <a:rPr lang="pt-BR" sz="2400" dirty="0"/>
              <a:t> (para números reais), </a:t>
            </a:r>
            <a:r>
              <a:rPr lang="pt-BR" sz="2400" b="1" dirty="0"/>
              <a:t>char</a:t>
            </a:r>
            <a:r>
              <a:rPr lang="pt-BR" sz="2400" dirty="0"/>
              <a:t> (para um caractere), </a:t>
            </a:r>
            <a:r>
              <a:rPr lang="pt-BR" sz="2400" b="1" dirty="0"/>
              <a:t>String</a:t>
            </a:r>
            <a:r>
              <a:rPr lang="pt-BR" sz="2400" dirty="0"/>
              <a:t> (para vários caracteres) e </a:t>
            </a:r>
            <a:r>
              <a:rPr lang="pt-BR" sz="2400" b="1" dirty="0" err="1"/>
              <a:t>boolean</a:t>
            </a:r>
            <a:r>
              <a:rPr lang="pt-BR" sz="2400" dirty="0"/>
              <a:t> (para verdadeiro ou falso).</a:t>
            </a:r>
            <a:endParaRPr sz="280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C842715-EFD2-1A9F-6658-4168FB192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7827" y="3519948"/>
            <a:ext cx="8837898" cy="31623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646789-408C-6D8E-DB3C-7ACD0DD4B562}"/>
              </a:ext>
            </a:extLst>
          </p:cNvPr>
          <p:cNvSpPr txBox="1"/>
          <p:nvPr/>
        </p:nvSpPr>
        <p:spPr>
          <a:xfrm>
            <a:off x="400050" y="3549751"/>
            <a:ext cx="18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Exemplos:</a:t>
            </a:r>
          </a:p>
        </p:txBody>
      </p:sp>
    </p:spTree>
    <p:extLst>
      <p:ext uri="{BB962C8B-B14F-4D97-AF65-F5344CB8AC3E}">
        <p14:creationId xmlns:p14="http://schemas.microsoft.com/office/powerpoint/2010/main" val="39634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435579-3D55-A569-173E-52BC31B3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96067E8B-EBA9-F3C0-2497-AF228B8DC20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0425C13-2A07-BAF2-8845-5B2C591E8583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Tipos Primitivos em Java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80A665-A15D-F58A-7A7A-57EB481C9274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5B5D997-B22A-2661-572E-84B951AE758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A35567F-F5FE-3810-7753-7095DA75031B}"/>
              </a:ext>
            </a:extLst>
          </p:cNvPr>
          <p:cNvSpPr>
            <a:spLocks noGrp="1"/>
          </p:cNvSpPr>
          <p:nvPr/>
        </p:nvSpPr>
        <p:spPr>
          <a:xfrm>
            <a:off x="537702" y="1599364"/>
            <a:ext cx="11254248" cy="733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r>
              <a:rPr lang="pt-BR" sz="2800" dirty="0"/>
              <a:t>A linguagem Java possui os tipos primitivos de dados listados a seguir.</a:t>
            </a:r>
            <a:endParaRPr sz="400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DC725339-A631-9FFA-5AC2-2BE498C90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B455ABB-245E-310D-74FA-41C89BAE8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238" y="2381099"/>
            <a:ext cx="10107436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0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52E453-17B4-6E21-E6CF-A885EF9E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3664849-9454-BA15-0D67-1B96808C74D4}"/>
              </a:ext>
            </a:extLst>
          </p:cNvPr>
          <p:cNvSpPr>
            <a:spLocks noGrp="1"/>
          </p:cNvSpPr>
          <p:nvPr/>
        </p:nvSpPr>
        <p:spPr>
          <a:xfrm>
            <a:off x="4424516" y="1400175"/>
            <a:ext cx="7600336" cy="4905375"/>
          </a:xfrm>
          <a:prstGeom prst="roundRect">
            <a:avLst>
              <a:gd name="adj" fmla="val 2192"/>
            </a:avLst>
          </a:prstGeom>
          <a:solidFill>
            <a:srgbClr val="14252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A06F7B-A1E2-7E3F-5658-19F83F82B25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345637-B5DD-DF06-80E9-A9B5093B431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Declaração de constantes em Java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606FA2-400C-7E76-FDF3-5188713B7A01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AC8BB9-CFD4-935A-AD43-ACB0189C7CE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221AF1E-E89D-24CC-BA86-3F872A3A9C3E}"/>
              </a:ext>
            </a:extLst>
          </p:cNvPr>
          <p:cNvSpPr>
            <a:spLocks noGrp="1"/>
          </p:cNvSpPr>
          <p:nvPr/>
        </p:nvSpPr>
        <p:spPr>
          <a:xfrm>
            <a:off x="508206" y="1504950"/>
            <a:ext cx="3719666" cy="44939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just"/>
            <a:r>
              <a:rPr lang="pt-BR" sz="2000" dirty="0"/>
              <a:t>O escopo de uma constante em Java é determinado pelo local de sua declaração, definindo em quais partes do código ela pode ser acessada sem erros de compilação.</a:t>
            </a:r>
          </a:p>
          <a:p>
            <a:pPr algn="just"/>
            <a:r>
              <a:rPr lang="pt-BR" sz="2000" dirty="0"/>
              <a:t> </a:t>
            </a:r>
          </a:p>
          <a:p>
            <a:pPr algn="just"/>
            <a:r>
              <a:rPr lang="pt-BR" sz="2000" dirty="0"/>
              <a:t>Constantes declaradas no nível da classe (fora de qualquer método) possuem escopo abrangente e podem ser utilizadas por toda a classe. Já constantes declaradas dentro de um método possuem escopo local, ficando restritas exclusivamente ao bloco daquele método</a:t>
            </a:r>
            <a:r>
              <a:rPr lang="pt-BR" dirty="0"/>
              <a:t>.</a:t>
            </a:r>
            <a:endParaRPr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5F081A32-C8C8-ED9F-B8FD-5B438F7E1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B3D9E2D-B484-34B3-3365-B04DB4CEFC0B}"/>
              </a:ext>
            </a:extLst>
          </p:cNvPr>
          <p:cNvSpPr>
            <a:spLocks noGrp="1"/>
          </p:cNvSpPr>
          <p:nvPr/>
        </p:nvSpPr>
        <p:spPr>
          <a:xfrm>
            <a:off x="4572000" y="1578385"/>
            <a:ext cx="7452852" cy="46033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ExemploConstantes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Constante de classe (escopo abrangente / global da classe)</a:t>
            </a: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3.14159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pt-BR" sz="16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Constante local (restrita apenas ao método main)</a:t>
            </a: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pt-BR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LIMITE_MAXIMO</a:t>
            </a:r>
            <a:r>
              <a:rPr lang="pt-BR" sz="16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"Valor de PI: "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"Limite: "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LIMITE_MAXIMO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outroMetodo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PI pode ser acessado aqui normalmente.</a:t>
            </a: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6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6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"Acessando PI em outro método: "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6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A linha abaixo geraria ERRO de compilação, pois LIMITE_MAXIMO é local do main:</a:t>
            </a: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6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System.out.println(LIMITE_MAXIMO); </a:t>
            </a:r>
            <a:endParaRPr lang="pt-BR" sz="16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800"/>
              </a:lnSpc>
              <a:buNone/>
            </a:pPr>
            <a:r>
              <a:rPr lang="pt-BR" sz="16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664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F3C9AF-02DE-8DB8-D521-F0BB5C9E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06BF745E-516F-A423-E1A8-D8A05BC855D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5EE030-229D-6034-92C0-9703B03C98B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Comando de atribuição em Java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81176BF-C753-BFE3-5392-193677F153B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7196DCF-CB05-10C3-FDF9-A23BA4FA1F3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8176E9D-8AD0-961E-E9AD-A5D0EC30653E}"/>
              </a:ext>
            </a:extLst>
          </p:cNvPr>
          <p:cNvSpPr>
            <a:spLocks noGrp="1"/>
          </p:cNvSpPr>
          <p:nvPr/>
        </p:nvSpPr>
        <p:spPr>
          <a:xfrm>
            <a:off x="508206" y="1504950"/>
            <a:ext cx="10474426" cy="12251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just"/>
            <a:r>
              <a:rPr lang="pt-BR" sz="2000" dirty="0"/>
              <a:t>O </a:t>
            </a:r>
            <a:r>
              <a:rPr lang="pt-BR" sz="2000" i="1" dirty="0"/>
              <a:t>comando de atribuição </a:t>
            </a:r>
            <a:r>
              <a:rPr lang="pt-BR" sz="2000" dirty="0"/>
              <a:t>é utilizado para conceder valores ou operações às variáveis, sendo representado por = (sinal de igualdade).</a:t>
            </a:r>
          </a:p>
          <a:p>
            <a:pPr algn="just"/>
            <a:r>
              <a:rPr lang="pt-BR" sz="2000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Exemplo:</a:t>
            </a:r>
            <a:endParaRPr sz="2000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5D100475-FAD7-D29C-D4AE-B0473AFFF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DF352F7-5610-6DDE-59E3-A8890E0F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315"/>
          <a:stretch>
            <a:fillRect/>
          </a:stretch>
        </p:blipFill>
        <p:spPr>
          <a:xfrm>
            <a:off x="432927" y="2711641"/>
            <a:ext cx="2392310" cy="122516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8E47CD0-BFAE-504B-D86C-30CE9C7F4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3058" y="2572517"/>
            <a:ext cx="9678942" cy="225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5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8EB55FE7-B278-4FD7-87A9-E18305988EC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7CADEC0-0E5E-4308-8016-8AC8D5296E9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Comando de entrada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CA6E08-E19D-4BD8-A563-A62C7D5FBFB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FE93B18-3C30-4432-95BE-AAD8D172AA9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B4E8ACBC-6F80-7A5A-8342-6627F1B53AC1}"/>
              </a:ext>
            </a:extLst>
          </p:cNvPr>
          <p:cNvSpPr txBox="1"/>
          <p:nvPr/>
        </p:nvSpPr>
        <p:spPr>
          <a:xfrm>
            <a:off x="491613" y="1730477"/>
            <a:ext cx="3264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Comando de entrada em Java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0E35879-6A80-8F01-2AC2-155DCA1E6381}"/>
              </a:ext>
            </a:extLst>
          </p:cNvPr>
          <p:cNvSpPr txBox="1"/>
          <p:nvPr/>
        </p:nvSpPr>
        <p:spPr>
          <a:xfrm>
            <a:off x="580103" y="2231922"/>
            <a:ext cx="9940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O comando de entrada em Java é utilizado para capturar dados informados pelo usuário via teclado e armazená-los em variáveis. Uma das formas mais comuns de realizar essa leitura é por meio da classe Scanner, pertencente ao pacote java.util, que deve ser importada no início do programa antes de sua instanciação e uso.</a:t>
            </a:r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82B5905A-A191-43E6-4E1A-0706F6559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13" y="3533586"/>
            <a:ext cx="3819833" cy="132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42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9595BF-8A29-5278-59F2-4E1062489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C574A9C5-06E2-039B-C65F-9F935606E5E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19FCA4-586C-08FA-D90B-593C9585CAE4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Comando de entrada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30BA24-8092-98D7-3FED-D9D8C58B574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927907-75A6-AD12-1370-88E0DFEB5CE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9B8841A6-4B26-7DFE-BF09-F5ACBC00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35AE82CF-A6A0-9774-A8CD-F42A84B83CA0}"/>
              </a:ext>
            </a:extLst>
          </p:cNvPr>
          <p:cNvSpPr txBox="1"/>
          <p:nvPr/>
        </p:nvSpPr>
        <p:spPr>
          <a:xfrm>
            <a:off x="491613" y="1730477"/>
            <a:ext cx="3264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Comando de entrada em Java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3FE2086-EFA9-7329-67C4-5EE4EB4C8B7D}"/>
              </a:ext>
            </a:extLst>
          </p:cNvPr>
          <p:cNvSpPr txBox="1"/>
          <p:nvPr/>
        </p:nvSpPr>
        <p:spPr>
          <a:xfrm>
            <a:off x="580103" y="2231922"/>
            <a:ext cx="9940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linguagem Java, todos os dados lidos do teclado são capturados inicialmente como cadeias de caracteres (</a:t>
            </a:r>
            <a:r>
              <a:rPr lang="pt-BR" i="1" dirty="0" err="1"/>
              <a:t>Strings</a:t>
            </a:r>
            <a:r>
              <a:rPr lang="pt-BR" dirty="0"/>
              <a:t>). Para que esses valores possam ser processados em operações matemáticas ou lógicas, é necessário utilizar métodos de conversão de tipos (conhecidos como </a:t>
            </a:r>
            <a:r>
              <a:rPr lang="pt-BR" i="1" dirty="0" err="1"/>
              <a:t>parsing</a:t>
            </a:r>
            <a:r>
              <a:rPr lang="pt-BR" dirty="0"/>
              <a:t>), fornecidos pelas classes invólucro (</a:t>
            </a:r>
            <a:r>
              <a:rPr lang="pt-BR" i="1" dirty="0" err="1"/>
              <a:t>Wrapper</a:t>
            </a:r>
            <a:r>
              <a:rPr lang="pt-BR" i="1" dirty="0"/>
              <a:t> Classes</a:t>
            </a:r>
            <a:r>
              <a:rPr lang="pt-BR" dirty="0"/>
              <a:t>) de cada tipo primitivo.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B6356F-6B6B-9809-0D28-F3E5BDA22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907" y="3429000"/>
            <a:ext cx="7839286" cy="231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359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77567-7480-98AE-E447-F48F8015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3F0603D6-E19E-29D2-CC22-0B52367FF91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B66BC64-B973-B74E-21A7-0E64608A0A9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Comando de saída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A3BD00-C7BE-1081-E15F-C322AD480863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15485B6-D001-E8BC-B51A-69CFD2AA03F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32930467-5466-8FBD-E61E-711067297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FD508623-99A0-09D2-47AE-2A50C1851AF9}"/>
              </a:ext>
            </a:extLst>
          </p:cNvPr>
          <p:cNvSpPr txBox="1"/>
          <p:nvPr/>
        </p:nvSpPr>
        <p:spPr>
          <a:xfrm>
            <a:off x="400050" y="1504950"/>
            <a:ext cx="431789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Os comandos de saída exibe dados no console, seja texto puro ou valores de variáveis concatenados pelo operador </a:t>
            </a:r>
            <a:r>
              <a:rPr lang="pt-BR" dirty="0"/>
              <a:t>+. </a:t>
            </a:r>
            <a:r>
              <a:rPr lang="pt-BR" sz="2000" dirty="0"/>
              <a:t>A diferença essencial entre os dois principais métodos é o posicionamento do cursor: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sz="2000" b="1" dirty="0"/>
              <a:t>:</a:t>
            </a:r>
            <a:r>
              <a:rPr lang="pt-BR" sz="2000" dirty="0"/>
              <a:t> Imprime o conteúdo e </a:t>
            </a:r>
            <a:r>
              <a:rPr lang="pt-BR" sz="2000" b="1" dirty="0"/>
              <a:t>mantém o cursor na mesma linha</a:t>
            </a:r>
            <a:r>
              <a:rPr lang="pt-BR" sz="20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sz="2000" b="1" dirty="0"/>
              <a:t>:</a:t>
            </a:r>
            <a:r>
              <a:rPr lang="pt-BR" sz="2000" dirty="0"/>
              <a:t> Imprime o conteúdo e </a:t>
            </a:r>
            <a:r>
              <a:rPr lang="pt-BR" sz="2000" b="1" dirty="0"/>
              <a:t>salta para a linha seguinte</a:t>
            </a:r>
            <a:r>
              <a:rPr lang="pt-BR" sz="2000" dirty="0"/>
              <a:t>.</a:t>
            </a:r>
          </a:p>
          <a:p>
            <a:endParaRPr lang="pt-BR" sz="2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AAA3FDF-915D-0A92-4398-AEA6254A5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947" y="1504950"/>
            <a:ext cx="7266303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27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ADD97-CAE6-6483-4B7B-6AB26ECC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85265EBC-4B4A-90AE-821D-037E1C5A531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A7A4257-A408-65A4-01BF-77E6B841A4D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Comando de saída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947BB4-66F5-301B-CD34-953E0359A199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0B9381-2A32-AED9-53FE-AB933BF7836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5E901A6D-8C82-EC34-4F20-ACA095EA3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7C1713FA-33C2-9A59-E83F-6EC0BAC5F8C4}"/>
              </a:ext>
            </a:extLst>
          </p:cNvPr>
          <p:cNvSpPr txBox="1"/>
          <p:nvPr/>
        </p:nvSpPr>
        <p:spPr>
          <a:xfrm>
            <a:off x="400050" y="1504950"/>
            <a:ext cx="98648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Além desses métodos temos também o print formatado.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 err="1"/>
              <a:t>System.out.printf</a:t>
            </a:r>
            <a:r>
              <a:rPr lang="pt-BR" sz="2000" b="1" dirty="0"/>
              <a:t>()</a:t>
            </a:r>
            <a:r>
              <a:rPr lang="pt-BR" b="1" dirty="0"/>
              <a:t> </a:t>
            </a:r>
            <a:r>
              <a:rPr lang="pt-BR" sz="2000" dirty="0"/>
              <a:t>Permite formatar </a:t>
            </a:r>
            <a:r>
              <a:rPr lang="pt-BR" sz="2000" dirty="0" err="1"/>
              <a:t>strings</a:t>
            </a:r>
            <a:r>
              <a:rPr lang="pt-BR" sz="2000" dirty="0"/>
              <a:t> utilizando especificadores de formato, sem a necessidade de concatenar valores com </a:t>
            </a:r>
            <a:r>
              <a:rPr lang="pt-BR" dirty="0"/>
              <a:t>+.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Uso ideal:</a:t>
            </a:r>
            <a:r>
              <a:rPr lang="pt-BR" sz="2000" dirty="0"/>
              <a:t> Exibir valores numéricos com casas decimais fixas, alinhar textos em tabelas ou formatar datas e horas.</a:t>
            </a:r>
            <a:endParaRPr lang="pt-BR" sz="2000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56EC50-721B-D1A1-5C95-00CD5DC73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05" y="3618453"/>
            <a:ext cx="7745092" cy="113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660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B3B7E6-0F9F-3227-E1B1-76CCF5659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BBD2B471-CB6E-D89C-F5FA-E3D6EDC81FE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C9FD45-CF1D-869F-C7F0-C1E6B478ED56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Operadores </a:t>
            </a:r>
            <a:r>
              <a:rPr lang="pt-BR" sz="3750" dirty="0" err="1"/>
              <a:t>aritiméticos</a:t>
            </a:r>
            <a:r>
              <a:rPr lang="pt-BR" sz="3750" dirty="0"/>
              <a:t>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490C9FE-A894-918E-485B-039522376598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8D02F9C-7936-3279-C6F4-590D7590846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6A2299DE-B1CD-501C-502E-6A8C4F08C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B07FC7B-8D59-2772-0379-0DA6F5D80077}"/>
              </a:ext>
            </a:extLst>
          </p:cNvPr>
          <p:cNvSpPr txBox="1"/>
          <p:nvPr/>
        </p:nvSpPr>
        <p:spPr>
          <a:xfrm>
            <a:off x="400051" y="1574390"/>
            <a:ext cx="39261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Os operadores aritméticos são utilizados em Java para realizar cálculos matemáticos básicos em variáveis e valores numéricos. Eles operam sobre tipos de dados numéricos (como int, double e </a:t>
            </a:r>
            <a:r>
              <a:rPr lang="pt-BR" sz="2000" dirty="0" err="1"/>
              <a:t>float</a:t>
            </a:r>
            <a:r>
              <a:rPr lang="pt-BR" sz="2000" dirty="0"/>
              <a:t>) e seguem as regras padrão de precedência matemática.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3DD05F4-F442-129B-9FE1-542BAC343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434" y="1562755"/>
            <a:ext cx="6905291" cy="408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67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1B0B6-CF37-4EFA-6769-D493D5FA9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5B937CEE-25D6-98A5-5BE4-81E449F8459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4E5039E-929F-0276-E8AE-57052760E39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Operadores aritméticos e de atribuição 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8E01372-A0CF-1957-604B-20811FDBA8D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C88ADE-ADF9-6166-7A51-08657BE5C0F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97BA2F30-E0C0-3C0A-440B-C2D4E404A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EF335D1B-D701-8BA4-26C9-BBE45CD3FA66}"/>
              </a:ext>
            </a:extLst>
          </p:cNvPr>
          <p:cNvSpPr txBox="1"/>
          <p:nvPr/>
        </p:nvSpPr>
        <p:spPr>
          <a:xfrm>
            <a:off x="400051" y="1574390"/>
            <a:ext cx="51846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Os operadores de atribuição composta, incremento (</a:t>
            </a:r>
            <a:r>
              <a:rPr lang="pt-BR" dirty="0"/>
              <a:t>++</a:t>
            </a:r>
            <a:r>
              <a:rPr lang="pt-BR" sz="2000" dirty="0"/>
              <a:t>) e decremento (</a:t>
            </a:r>
            <a:r>
              <a:rPr lang="pt-BR" dirty="0"/>
              <a:t>--</a:t>
            </a:r>
            <a:r>
              <a:rPr lang="pt-BR" sz="2000" dirty="0"/>
              <a:t>) alteram o valor armazenado na variável e permitem operações enxutas em Java. Nos operadores de incremento e decremento, a posição do símbolo altera a ordem de execução: </a:t>
            </a:r>
          </a:p>
          <a:p>
            <a:pPr algn="just"/>
            <a:r>
              <a:rPr lang="pt-BR" sz="2000" b="1" dirty="0"/>
              <a:t>pré-fixado</a:t>
            </a:r>
            <a:r>
              <a:rPr lang="pt-BR" sz="2000" dirty="0"/>
              <a:t> altera antes da atribuição, enquanto </a:t>
            </a:r>
            <a:r>
              <a:rPr lang="pt-BR" sz="2000" b="1" dirty="0"/>
              <a:t>pós-fixado</a:t>
            </a:r>
            <a:r>
              <a:rPr lang="pt-BR" sz="2000" dirty="0"/>
              <a:t> altera depois.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604A73-F5B0-0EED-08A2-9B33DEEAC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81" y="1380362"/>
            <a:ext cx="4548043" cy="547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53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AED70D-A88F-7D41-25A1-360DE4FD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03F0BD0-8741-EF0F-FCDF-2461E8B9565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44E352D-C0A6-E9C0-FC4A-FF1D0B3C14E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/>
              <a:t>Operadores relacionais </a:t>
            </a:r>
            <a:r>
              <a:rPr lang="pt-BR" sz="3750" dirty="0"/>
              <a:t>em Java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BF4125-B4F7-CA94-7AA8-856D7640901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8BC654-C523-DC9F-B22F-489ADDDD3DC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ACD0166D-7850-09DF-D15D-5EEF5E33A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F7C2FFA-5C86-B78A-39D6-A17F0C67313A}"/>
              </a:ext>
            </a:extLst>
          </p:cNvPr>
          <p:cNvSpPr txBox="1"/>
          <p:nvPr/>
        </p:nvSpPr>
        <p:spPr>
          <a:xfrm>
            <a:off x="400050" y="1574390"/>
            <a:ext cx="11487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Os operadores relacionais são utilizados para comparar dois valores ou variáveis em Java. O resultado de qualquer comparação relacional é sempre um valor booleano: verdadeiro (</a:t>
            </a:r>
            <a:r>
              <a:rPr lang="pt-BR" dirty="0" err="1"/>
              <a:t>true</a:t>
            </a:r>
            <a:r>
              <a:rPr lang="pt-BR" sz="2000" dirty="0"/>
              <a:t>) ou falso (</a:t>
            </a:r>
            <a:r>
              <a:rPr lang="pt-BR" dirty="0"/>
              <a:t>false</a:t>
            </a:r>
            <a:r>
              <a:rPr lang="pt-BR" sz="2000" dirty="0"/>
              <a:t>).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34FE71-5E8D-BD94-F7B1-1E4844048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2133" y="2371725"/>
            <a:ext cx="7067734" cy="363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4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F3B68-E96F-1CDF-6AD8-DB881E8F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313D07E2-0732-AE82-B781-607E7D7CF20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3DD1CC-5425-DFB0-504F-FD09FECD3AB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Funções matemáticas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1823364-9048-6BC5-7497-0C6B705E0CFE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B0A807-487C-C699-7296-0F276393DEA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227BA63A-766C-E663-DA9F-8E61A8124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00707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27B4661E-5202-AA61-1B59-4D580BAB2631}"/>
              </a:ext>
            </a:extLst>
          </p:cNvPr>
          <p:cNvSpPr txBox="1"/>
          <p:nvPr/>
        </p:nvSpPr>
        <p:spPr>
          <a:xfrm>
            <a:off x="400050" y="1574390"/>
            <a:ext cx="114871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A classe </a:t>
            </a:r>
            <a:r>
              <a:rPr lang="pt-BR" dirty="0" err="1"/>
              <a:t>Math</a:t>
            </a:r>
            <a:r>
              <a:rPr lang="pt-BR" sz="2000" dirty="0"/>
              <a:t> da linguagem Java fornece diversos métodos estáticos para a execução de operações matemáticas fundamentais, como arredondamentos, potências, raízes e funções trigonométricas.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2B567F2-6D96-57DC-2CF1-27BBA9787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456" y="2335356"/>
            <a:ext cx="8191088" cy="42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53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67888A-10C7-B1FC-B64A-278F5127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4C493CD6-297A-6C20-1E81-EB2E823056C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24442FB-F2C0-5E3E-529D-BC28F18DB8D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Funções matemáticas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A311B4-311E-F35A-6E65-A958E63C8A51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25D30C-09B5-E25C-3340-51C6861C6CEF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D3BCF532-77F3-FB65-79E6-649AD35AD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87895E2-F08A-3E88-B5DE-8EA2FE2D5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628" y="1400175"/>
            <a:ext cx="7515780" cy="492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04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073087-AB50-A215-1FE2-88C2CDB4C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A9C73C88-7708-BD8A-3AD1-11EB6F705C2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782C3EE-8367-BF50-87BE-6796FDC4ADD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7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750" dirty="0"/>
              <a:t>Funções matemáticas</a:t>
            </a:r>
            <a:endParaRPr sz="37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47CF31-AE6E-12DE-46DC-EB6CD8D4A3B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F94A3E6-3D17-A1E7-2893-DB99D4CCFEB3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7" name="Imagem 19">
            <a:extLst>
              <a:ext uri="{FF2B5EF4-FFF2-40B4-BE49-F238E27FC236}">
                <a16:creationId xmlns:a16="http://schemas.microsoft.com/office/drawing/2014/main" id="{E4FEB414-A233-9576-5A6A-22456E55C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1114"/>
            <a:ext cx="2162477" cy="79068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735264F-B368-B8BE-C6C1-7FF53240A9C6}"/>
              </a:ext>
            </a:extLst>
          </p:cNvPr>
          <p:cNvSpPr txBox="1"/>
          <p:nvPr/>
        </p:nvSpPr>
        <p:spPr>
          <a:xfrm>
            <a:off x="400050" y="1574390"/>
            <a:ext cx="11487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As palavras reservadas são termos que possuem significado especial para o compilador do Java e não podem ser usados como nomes de variáveis, métodos ou classes. Já os literais reservados representam valores fixos pré-definidos na linguagem. São eles: </a:t>
            </a:r>
            <a:r>
              <a:rPr lang="pt-BR" dirty="0" err="1"/>
              <a:t>null</a:t>
            </a:r>
            <a:r>
              <a:rPr lang="pt-BR" dirty="0"/>
              <a:t>, </a:t>
            </a:r>
            <a:r>
              <a:rPr lang="pt-BR" dirty="0" err="1"/>
              <a:t>true</a:t>
            </a:r>
            <a:r>
              <a:rPr lang="pt-BR" dirty="0"/>
              <a:t> e false.</a:t>
            </a:r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0F006A-1993-2F41-8156-922DE1E98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380" y="2738819"/>
            <a:ext cx="8200104" cy="407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85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15759EB-BBDA-4854-A7C0-D8FE4DA6BFC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6834679-C3F5-45D8-85D6-74D3CFACCFFF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Exercícios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B5F78CE-7617-4BF5-8DD7-919C6D74351D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AB07C1-A5E4-47D6-A75E-FBDC11D19708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1F93C9B-31F8-A770-6494-211C39E80C4C}"/>
              </a:ext>
            </a:extLst>
          </p:cNvPr>
          <p:cNvSpPr txBox="1"/>
          <p:nvPr/>
        </p:nvSpPr>
        <p:spPr>
          <a:xfrm>
            <a:off x="400050" y="1602551"/>
            <a:ext cx="107073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quatro números inteiros, calcule e mostre a soma desses números.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três notas, calcule e mostre a média aritmética.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três notas e seus respectivos pesos, calcule e mostre a média ponderada.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o salário de um funcionário, calcule e mostre o novo salário, sabendo-se que este sofreu um aumento de 25%.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o salário de um funcionário e o percentual de aumento, calcule e mostre o valor do aumento e o novo salário.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2400" dirty="0"/>
              <a:t>Faça um programa que receba o salário base de um funcionário, calcule e mostre o salário a receber, sabendo-se que o funcionário tem gratificação de 5% sobre o salário base e paga imposto de 7% também sobre o salário base.</a:t>
            </a:r>
          </a:p>
        </p:txBody>
      </p:sp>
    </p:spTree>
    <p:extLst>
      <p:ext uri="{BB962C8B-B14F-4D97-AF65-F5344CB8AC3E}">
        <p14:creationId xmlns:p14="http://schemas.microsoft.com/office/powerpoint/2010/main" val="396345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F0C54-9090-9AB9-A17B-A23768AB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9287D70-97B9-6E7E-8793-5992A6E4DA2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9C72538-3392-BC3C-DB87-BCBCE9846DA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3450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450" dirty="0"/>
              <a:t>Exercícios resolvidos</a:t>
            </a:r>
            <a:endParaRPr sz="3450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E3155AB-B743-4448-9578-047C994E9CC7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E3E8CF-17D8-5C79-D762-D0C4C497B5B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9" name="Imagem 10">
            <a:extLst>
              <a:ext uri="{FF2B5EF4-FFF2-40B4-BE49-F238E27FC236}">
                <a16:creationId xmlns:a16="http://schemas.microsoft.com/office/drawing/2014/main" id="{F37051EC-6FE0-42D1-06A4-624382C10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6056"/>
            <a:ext cx="2162477" cy="79068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80CBAC4-2B1D-7E5E-1EB3-BC0D18392607}"/>
              </a:ext>
            </a:extLst>
          </p:cNvPr>
          <p:cNvSpPr txBox="1"/>
          <p:nvPr/>
        </p:nvSpPr>
        <p:spPr>
          <a:xfrm>
            <a:off x="400050" y="1602551"/>
            <a:ext cx="1070732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pt-BR" sz="2000" dirty="0"/>
              <a:t>Faça um programa que receba o salário base de um funcionário, calcule e mostre seu salário a receber, sabendo-se que o funcionário tem gratificação de R$ 50 e paga imposto de 10% sobre o salário base.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pt-BR" sz="2000" dirty="0"/>
              <a:t>Faça um programa que receba o valor de um depósito e o valor da taxa de juros, calcule e mostre o valor do rendimento e o valor total depois do rendimento. 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pt-BR" sz="2000" dirty="0"/>
              <a:t>Faça um programa que calcule e mostre a área de um triângulo. Sabe-se que: Área = (base * altura)/2.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pt-BR" sz="2000" dirty="0"/>
              <a:t>Faça um programa que calcule e mostre a área de um círculo. Sabe-se que: Área = p * R2.</a:t>
            </a:r>
          </a:p>
          <a:p>
            <a:pPr marL="342900" indent="-342900">
              <a:buFont typeface="+mj-lt"/>
              <a:buAutoNum type="arabicPeriod" startAt="7"/>
            </a:pPr>
            <a:r>
              <a:rPr lang="pt-BR" sz="2000" dirty="0"/>
              <a:t>Faça um programa que receba um número positivo e maior que zero, calcule e mostre:</a:t>
            </a:r>
          </a:p>
          <a:p>
            <a:pPr lvl="1"/>
            <a:r>
              <a:rPr lang="pt-BR" sz="2000" b="1" dirty="0"/>
              <a:t>a) </a:t>
            </a:r>
            <a:r>
              <a:rPr lang="pt-BR" sz="2000" dirty="0"/>
              <a:t>o número digitado ao quadrado;</a:t>
            </a:r>
          </a:p>
          <a:p>
            <a:pPr lvl="1"/>
            <a:r>
              <a:rPr lang="pt-BR" sz="2000" b="1" dirty="0"/>
              <a:t>b) </a:t>
            </a:r>
            <a:r>
              <a:rPr lang="pt-BR" sz="2000" dirty="0"/>
              <a:t>o número digitado ao cubo;</a:t>
            </a:r>
          </a:p>
          <a:p>
            <a:pPr lvl="1"/>
            <a:r>
              <a:rPr lang="pt-BR" sz="2000" b="1" dirty="0"/>
              <a:t>c) </a:t>
            </a:r>
            <a:r>
              <a:rPr lang="pt-BR" sz="2000" dirty="0"/>
              <a:t>a raiz quadrada do número digitado;</a:t>
            </a:r>
          </a:p>
          <a:p>
            <a:pPr lvl="1"/>
            <a:r>
              <a:rPr lang="pt-BR" sz="2000" b="1" dirty="0"/>
              <a:t>d) </a:t>
            </a:r>
            <a:r>
              <a:rPr lang="pt-BR" sz="2000" dirty="0"/>
              <a:t>a raiz cúbica do número digitado.</a:t>
            </a:r>
          </a:p>
        </p:txBody>
      </p:sp>
    </p:spTree>
    <p:extLst>
      <p:ext uri="{BB962C8B-B14F-4D97-AF65-F5344CB8AC3E}">
        <p14:creationId xmlns:p14="http://schemas.microsoft.com/office/powerpoint/2010/main" val="224715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B54BF102-0996-4FEE-9A7C-406FC912C8A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800" b="1">
                <a:solidFill>
                  <a:srgbClr val="1565C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65C0"/>
                </a:solidFill>
                <a:latin typeface="Arial"/>
                <a:ea typeface="Arial"/>
                <a:cs typeface="Arial"/>
              </a:rPr>
              <a:t>PROGRAMAÇÃO ESTRUTURADA • AULA 5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E841354-EA15-4E4A-B258-C89F42FE92AC}"/>
              </a:ext>
            </a:extLst>
          </p:cNvPr>
          <p:cNvSpPr>
            <a:spLocks noGrp="1"/>
          </p:cNvSpPr>
          <p:nvPr/>
        </p:nvSpPr>
        <p:spPr>
          <a:xfrm>
            <a:off x="5022747" y="3138487"/>
            <a:ext cx="214650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3225" b="1">
                <a:solidFill>
                  <a:srgbClr val="10212B"/>
                </a:solidFill>
                <a:latin typeface="Arial"/>
                <a:ea typeface="Arial"/>
                <a:cs typeface="Arial"/>
              </a:defRPr>
            </a:pPr>
            <a:r>
              <a:rPr lang="pt-BR" sz="3225" b="1" dirty="0">
                <a:solidFill>
                  <a:srgbClr val="10212B"/>
                </a:solidFill>
                <a:latin typeface="Arial"/>
                <a:ea typeface="Arial"/>
                <a:cs typeface="Arial"/>
              </a:rPr>
              <a:t>Obrigado!</a:t>
            </a:r>
            <a:endParaRPr sz="3225" b="1" dirty="0">
              <a:solidFill>
                <a:srgbClr val="10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C7DFF74-1421-42EF-B9EE-68BB2517D16A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1391900" cy="28575"/>
          </a:xfrm>
          <a:prstGeom prst="rect">
            <a:avLst/>
          </a:prstGeom>
          <a:solidFill>
            <a:srgbClr val="1565C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0D2ED0-E502-4822-B3E5-91F19A92DE5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r">
              <a:buNone/>
              <a:defRPr sz="1800" b="0">
                <a:solidFill>
                  <a:srgbClr val="5F6B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B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3" name="Imagem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67315"/>
            <a:ext cx="2162477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2307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4383</Words>
  <Application>Microsoft Office PowerPoint</Application>
  <DocSecurity>0</DocSecurity>
  <PresentationFormat>Widescreen</PresentationFormat>
  <Paragraphs>294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DIONIZIO PORFIRIO DE ASSIS</cp:lastModifiedBy>
  <cp:revision>5</cp:revision>
  <dcterms:created xsi:type="dcterms:W3CDTF">2026-08-06T19:23:02Z</dcterms:created>
  <dcterms:modified xsi:type="dcterms:W3CDTF">2026-08-17T12:14:06Z</dcterms:modified>
</cp:coreProperties>
</file>