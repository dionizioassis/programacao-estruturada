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1" r:id="rId25"/>
    <p:sldId id="307" r:id="rId26"/>
    <p:sldId id="308" r:id="rId27"/>
    <p:sldId id="309" r:id="rId28"/>
    <p:sldId id="31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67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 min. Abra a aula conectando com condicionais: decisões escolhem caminhos; repetições executam um caminho várias vezes. Explique que a aula terá três live codings e exercícios ao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 Use os objetivos como contrato da aula. Destaque que sintaxe sozinha não basta: o ponto central é reconhecer quando e como a condição deve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 Pergunte quantas linhas seriam necessárias para imprimir de 1 a 1000 sem laço. Introduza o termo iteracao e a ideia de condição de continuidade/parada.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Faça três perguntas rápidas: tabuada de 1 a 10 -&gt; for; pedir senha até acertar -&gt; while; menu que precisa aparecer ao menos uma vez -&gt; do-while.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 min. Simule i=1,2,3,4,5 e depois i=6. Pergunte em qual momento a condição é testada e por que 6 não é impresso.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Antes de mostrar cada saída, peça a previsão. Mostre que i += 2 é equivalente a i = i + 2.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10–12 min. Código completo e entradas de teste estão no Guia do Professor. Escreva por etapas: Scanner -&gt; soma/aprovados -&gt; for -&gt; if -&gt; calculo final. Rode com 8, 5.5, 7, 9,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Retome o live coding e aponte exatamente qual variável é acumulador e qual é contador. Reforce o valor neutro de soma e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 min. Explique pré-teste. Dê o contraexemplo: int x=10; while(x&lt;5) nunca entra. A condição é o contrato do laço.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Faça a tabela antes de executar. Pergunte qual é o valor de x ao sair do laço. Depois rode para validar a previsão.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8–10 min. Código completo no Guia. Construa primeiro com uma leitura, depois o while, depois a releitura. Mostre o bug que ocorreria se esquecesse a segunda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 min. Diferencie sentinela de dado válido. Pergunte onde a sentinela deve ser lida e por que precisa existir nova leitura dentro do laço.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Mostre o laço defeituoso sem executar por muito tempo. Pergunte qual linha falta. Cite também o caso i-- com condição i &lt;=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 min. Compare mentalmente com while. Reforce o ponto e virgula no final, erro sintatico muito comum.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min. Peça aos alunos para prever a saída antes de mostrar. Esse contraste deve ficar claro antes do live coding com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10–12 min. Código completo no Guia. Construa o do-while primeiro, depois o switch e por fim os for internos. É uma boa revisão da aula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 Demonstre rapidamente. Não aprofundar em laços aninhados ainda; apenas dar semantica correta, pois break já apareceu no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 min. Este slide funciona como ponte para exercícios. Leia enunciados e peça que identifiquem o padrão antes de codificar.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10–15 min. Deixe os alunos tentarem. Resolva um coletivamente se necessário. Soluções completas e testes no Guia do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12–18 min. Exercício 3 é adaptado do Capítulo 5 do livro-base. Exercício 4 segue o problema de investimentos do mesmo capítulo. Soluções completas no Guia.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5–8 min. Opcional se o tempo estiver curto. Peça primeiro que os alunos escrevam while e do-while sem olhar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 min. Feche retomando a decisão de escolha do laço. Faça a ponte para vetores: o for será essencial para percorrer índices.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8BD4E-2C45-5767-E49A-6B4C21EA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7ECCF-6371-941B-ABD3-431A05591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6D12A-B9E5-B4B4-CBBC-959A5A4CF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0FBAD-2847-75DB-1464-A87E7D41BD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87252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5F15-EBAA-6628-0207-995AC0AA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701CC-9C23-1D9E-BA1A-A84CD82DF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25BBE-5E14-E24B-6091-F13BD07B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8E1E-A09E-A5CE-40C6-AA9E7B9D1A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30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4F011-B8B7-E30B-C88B-7FAF50C2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FB8C8-CC51-D24E-874B-0710DE5EC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83372-B265-8914-3BAC-8280DDCE8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5C42B-D537-1392-62E8-2B45951578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33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AD93-E850-D6DD-B095-9AF1140A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34644-FCEF-7D5B-3419-D0E32F6D7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821F7-3094-0694-9E32-CB87321F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0075B-7DFB-8C75-8042-0F0AC2BE9E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57011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EA3E4-FFA6-EA92-F299-5157A138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5C4C0-D641-B43C-4029-42227F4A1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45157-39D3-EA08-96F5-AB327AE3D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541CE-6D1D-BA0E-8591-D488B020795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996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65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ESTRUTURADA • AULA 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02336" y="1307592"/>
            <a:ext cx="10972800" cy="0"/>
          </a:xfrm>
          <a:prstGeom prst="line">
            <a:avLst/>
          </a:prstGeom>
          <a:noFill/>
          <a:ln w="12700">
            <a:solidFill>
              <a:srgbClr val="D9E0E5"/>
            </a:solidFill>
            <a:prstDash val="solid"/>
          </a:ln>
        </p:spPr>
      </p:sp>
      <p:pic>
        <p:nvPicPr>
          <p:cNvPr id="4" name="Image 0" descr="/mnt/data/aula7_work/media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6089904"/>
            <a:ext cx="1755648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16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5176" cy="6858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ESTRUTURADA • AULA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Estruturas de repetição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• while • do-while • contadores • acumuladores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5623560" cy="86868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86384" y="404164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prático: escolher o laço adequado e controlar corretamente a repetição.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3400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Dionizio Porfírio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Unichristus • 2026.2</a:t>
            </a:r>
            <a:endParaRPr lang="en-US" sz="1800" dirty="0"/>
          </a:p>
        </p:txBody>
      </p:sp>
      <p:pic>
        <p:nvPicPr>
          <p:cNvPr id="9" name="Image 0" descr="/mnt/data/aula7_work/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6007608"/>
            <a:ext cx="21579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45952" y="62865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627632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da aula, o estudante deverá ser capaz de: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2350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8992" y="2267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entre for, while e do-while</a:t>
            </a: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partir do tipo de problema.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3172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" y="3191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31089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laços com condição de parada correta</a:t>
            </a: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evitando repetições infinitas.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40142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" y="40325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39502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contadores e acumuladores</a:t>
            </a: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para contar ocorrências e processar totais.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" y="48554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8368" y="4873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47914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repetição com condicionais</a:t>
            </a: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 validações, menus e problemas numéricos.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precisamos de repetição?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uma estrutura de repetição, tarefas recorrentes exigiriam copiar o mesmo comando várias vezes.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5257800" cy="22860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C7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" y="2542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laço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" y="2907792"/>
            <a:ext cx="4617720" cy="1353312"/>
          </a:xfrm>
          <a:prstGeom prst="roundRect">
            <a:avLst>
              <a:gd name="adj" fmla="val 337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69264" y="3035808"/>
            <a:ext cx="4288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System.out.println(1);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System.out.println(2);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System.out.println(3);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System.out.println(4);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System.out.println(5);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45352" y="2331720"/>
            <a:ext cx="5257800" cy="2286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2542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laço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2971800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56832" y="3099816"/>
            <a:ext cx="4242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5010912"/>
            <a:ext cx="10972800" cy="777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10643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IDEIA-CHAVE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passagem pelo bloco é uma iteração. O laço precisa saber quando continuar e quando parar.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laço escolher?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depende principalmente de quanto sabemos antes de iniciar a repetição.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267712"/>
            <a:ext cx="3429000" cy="2816352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542032"/>
            <a:ext cx="1261872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9264" y="26060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Quantidade conhecida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9264" y="4069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“Repita 10 vezes”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“Percorra de 1 até N”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9120" y="2267712"/>
            <a:ext cx="3429000" cy="2816352"/>
          </a:xfrm>
          <a:prstGeom prst="roundRect">
            <a:avLst/>
          </a:prstGeom>
          <a:solidFill>
            <a:srgbClr val="ECF8F0"/>
          </a:solidFill>
          <a:ln w="15240">
            <a:solidFill>
              <a:srgbClr val="B9D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2542032"/>
            <a:ext cx="1261872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18304" y="26060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2186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 controla a duração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18304" y="4069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executar zero vezes.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 sentinela.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2267712"/>
            <a:ext cx="3429000" cy="2816352"/>
          </a:xfrm>
          <a:prstGeom prst="roundRect">
            <a:avLst/>
          </a:prstGeom>
          <a:solidFill>
            <a:srgbClr val="F5EEFF"/>
          </a:solidFill>
          <a:ln w="15240">
            <a:solidFill>
              <a:srgbClr val="D7C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412480" y="2542032"/>
            <a:ext cx="1261872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67344" y="26060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2186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executar ao menos uma vez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467344" y="40690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tentativa inicial,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antes do teste.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58384"/>
            <a:ext cx="1097280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5468112"/>
            <a:ext cx="10643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“Eu sei quantas vezes?” e “o bloco precisa rodar antes do primeiro teste?” normalmente resolvem a escolha.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repetição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 concentra em uma única linha a inicialização, a condição e a atualização da variável de controle.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304288"/>
            <a:ext cx="6400800" cy="1417320"/>
          </a:xfrm>
          <a:prstGeom prst="roundRect">
            <a:avLst>
              <a:gd name="adj" fmla="val 3226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432304"/>
            <a:ext cx="60716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 = " + i);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096512"/>
            <a:ext cx="3246120" cy="126187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4370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0744" y="4224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0744" y="45994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i =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Executada uma vez.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4096512"/>
            <a:ext cx="3246120" cy="126187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526280" y="429768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26280" y="4370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38344" y="4224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38344" y="45994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&lt;= 5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o laço ativo.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0" y="4096512"/>
            <a:ext cx="3246120" cy="126187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183880" y="429768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183880" y="4370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95944" y="42245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95944" y="45994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i++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Executada após o bloco.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Variando o passo do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atualização não precisa ser apenas i++. Ela pode incrementar, decrementar ou avançar em saltos.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267712"/>
            <a:ext cx="141732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233172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04288" y="22768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62672" y="2276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 1 2 3 4 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090672"/>
            <a:ext cx="141732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04288" y="3099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10; i &gt;= 1; i--)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672" y="3099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 10 9 8 ... 1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8368" y="3913632"/>
            <a:ext cx="141732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3232" y="39776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04288" y="39227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10; i += 2)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62672" y="3922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 0 2 4 6 8 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" y="4736592"/>
            <a:ext cx="141732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13232" y="480060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Saltos de 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04288" y="47457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100; i &gt;= 0; i -= 20)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662672" y="4745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 100 80 60 40 20 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559552"/>
            <a:ext cx="10972800" cy="566928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2B8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5669280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atualização precisa aproximar a variável da condição de parada. Direção errada pode gerar laço infinito.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na hora 1 — for + acumulador + contador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146304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16733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76272"/>
            <a:ext cx="109728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as notas de 5 estudantes. Ao final, mostre a média da turma e quantos estudantes obtiveram nota maior ou igual a 7,0.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58368" y="3310128"/>
            <a:ext cx="5074920" cy="196596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codificar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005072"/>
            <a:ext cx="443484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vezes o bloco repete?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variável acumula as notas?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condição aumenta o contador?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5532120"/>
            <a:ext cx="1097280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5641848"/>
            <a:ext cx="10643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 • 5,5 • 7,0 • 9,0 • 6,0  →  média 7,10 e 3 aprovados.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e acumuladores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Essas duas variáveis aparecem constantemente em problemas com repetição.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267712"/>
            <a:ext cx="5257800" cy="2926080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B9D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542032"/>
            <a:ext cx="164592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87552" y="26060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16382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um resultado que cresce a cada iteração.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2688" y="3758185"/>
            <a:ext cx="4526280" cy="1317668"/>
          </a:xfrm>
          <a:prstGeom prst="roundRect">
            <a:avLst>
              <a:gd name="adj" fmla="val 434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3950208"/>
            <a:ext cx="4197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soma = 0;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= soma + valor;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ou: soma += valor;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2267712"/>
            <a:ext cx="5257800" cy="292608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C7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19672" y="2542032"/>
            <a:ext cx="146304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74536" y="26060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316382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quantas vezes um evento aconteceu.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19672" y="3749040"/>
            <a:ext cx="4526280" cy="1326812"/>
          </a:xfrm>
          <a:prstGeom prst="roundRect">
            <a:avLst>
              <a:gd name="adj" fmla="val 434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84264" y="3950208"/>
            <a:ext cx="41970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quantidade = 0;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 = quantidade + 1;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ou: quantidade++;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5468112"/>
            <a:ext cx="10972800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INICIALIZAÇÃO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começa em 0; produto normalmente começa em 1; contadores começam em 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repetição while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while é adequado quando a quantidade de repetições depende de uma condição que pode mudar durante a execução.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395728"/>
            <a:ext cx="5623560" cy="1847088"/>
          </a:xfrm>
          <a:prstGeom prst="roundRect">
            <a:avLst>
              <a:gd name="adj" fmla="val 2475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523744"/>
            <a:ext cx="52943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(condicao)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comandos repetidos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algo precisa alterar a condicao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20840" y="2487168"/>
            <a:ext cx="169164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775704" y="255117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PRÉ-TESTADO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13648" y="253288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condição é avaliada antes do bloco.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3474720"/>
            <a:ext cx="169164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75704" y="35387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EXECUÇÕES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13648" y="352044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condição começar falsa, o bloco não roda.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4462272"/>
            <a:ext cx="169164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75704" y="45262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13648" y="45079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laço termina quando a condição se torna falsa.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5230368"/>
            <a:ext cx="10972800" cy="676656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2B8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1520" y="5340096"/>
            <a:ext cx="10643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modifica a variável usada na condição? Sem evolução do estado, o while pode nunca terminar.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Rastreando um while passo a passo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5577840" cy="4315968"/>
          </a:xfrm>
          <a:prstGeom prst="roundRect">
            <a:avLst>
              <a:gd name="adj" fmla="val 1059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04672" y="1755648"/>
            <a:ext cx="524865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0;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!= 5)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System.out.println("x = " + x);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x + 1;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System.out.println("Depois: " + x);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2940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304288"/>
          <a:ext cx="4572000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Imprime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Novo 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!= 5 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!= 5 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!= 5 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!= 5 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!= 5 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!= 5 ✗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2304288"/>
            <a:ext cx="466344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720840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41664" y="24140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02368" y="24140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na hora 2 — while para validar entrada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146304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16733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76272"/>
            <a:ext cx="1097280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uma nota e só aceite o valor quando estiver entre 0 e 10. Enquanto a entrada for inválida, solicite novamente.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66928" y="3415004"/>
            <a:ext cx="5074920" cy="2011680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B9D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41248" y="37167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recomendado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42105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-2  → inválida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12  → inválida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Digite: 8,5 → aceita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com sentinela e acumulador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sentinela é um valor especial usado para encerrar a entrada de dados. Ele não faz parte do conjunto processado.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6400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somar números não negativos até o usuário digitar um valor negativo.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915257"/>
            <a:ext cx="6029815" cy="2809741"/>
          </a:xfrm>
          <a:prstGeom prst="roundRect">
            <a:avLst>
              <a:gd name="adj" fmla="val 1437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3043272"/>
            <a:ext cx="6252876" cy="2681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soma = 0;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System.out.print("Numero (-1 encerra): ");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numero = entrada.nextInt();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(numero &gt;= 0)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numero;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System.out.print("Outro numero: ");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entrada.nextInt();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System.out.println("Soma = " + soma);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59825" y="3072104"/>
            <a:ext cx="3383280" cy="233172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C7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34145" y="3328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entrada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71305" y="3821912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739985" y="382191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= 23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só encerra;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F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somado.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laços infinitos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laço infinito ocorre quando a condição de continuidade nunca se torna falsa.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321808" cy="281635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2B8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505456"/>
            <a:ext cx="1280160" cy="402336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0976" y="25694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3108960"/>
            <a:ext cx="4800600" cy="1844040"/>
          </a:xfrm>
          <a:prstGeom prst="roundRect">
            <a:avLst>
              <a:gd name="adj" fmla="val 3030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60704" y="3236976"/>
            <a:ext cx="4471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>
              <a:solidFill>
                <a:srgbClr val="E8EAE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&lt;= 5)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x nunca muda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2240280"/>
            <a:ext cx="5321808" cy="2816352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B9D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10528" y="2505456"/>
            <a:ext cx="128016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65392" y="25694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3108960"/>
            <a:ext cx="4745736" cy="1783080"/>
          </a:xfrm>
          <a:prstGeom prst="roundRect">
            <a:avLst>
              <a:gd name="adj" fmla="val 3030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75120" y="3236976"/>
            <a:ext cx="4471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>
              <a:solidFill>
                <a:srgbClr val="E8EAE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&lt;= 5)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x++;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repetição do-while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do-while testa a condição no final. Por isso, o bloco é executado pelo menos uma vez.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5623560" cy="1344168"/>
          </a:xfrm>
          <a:prstGeom prst="roundRect">
            <a:avLst>
              <a:gd name="adj" fmla="val 2857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459736"/>
            <a:ext cx="529437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comandos executados primeiro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(condicao);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20840" y="2414016"/>
            <a:ext cx="173736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775704" y="247802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PÓS-TESTADO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68512" y="245973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ocorre depois do bloco.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3374136"/>
            <a:ext cx="173736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775704" y="343814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1 VEZ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68512" y="341985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com condição falsa de início.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4334256"/>
            <a:ext cx="173736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75704" y="43982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E VÍRGULA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68512" y="437997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(condicao); termina com ;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5102352"/>
            <a:ext cx="10972800" cy="69494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10643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TÍPICO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 e situações em que uma primeira execução precisa ocorrer antes de decidir se haverá outra.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× do-while: quando a condição nasce falsa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Considere x = 10 e a condição x &lt; 5.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212848"/>
            <a:ext cx="5257800" cy="2788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487168"/>
            <a:ext cx="114300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87552" y="2551176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3081528"/>
            <a:ext cx="4526280" cy="1298448"/>
          </a:xfrm>
          <a:prstGeom prst="roundRect">
            <a:avLst>
              <a:gd name="adj" fmla="val 3521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3209544"/>
            <a:ext cx="41970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 5)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System.out.println("Executou");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455371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0 execuções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2212848"/>
            <a:ext cx="5257800" cy="2788920"/>
          </a:xfrm>
          <a:prstGeom prst="roundRect">
            <a:avLst/>
          </a:prstGeom>
          <a:solidFill>
            <a:srgbClr val="F5EEFF"/>
          </a:solidFill>
          <a:ln w="12700">
            <a:solidFill>
              <a:srgbClr val="D7C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19672" y="2487168"/>
            <a:ext cx="132588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74536" y="2551176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19672" y="3081528"/>
            <a:ext cx="4526280" cy="1298448"/>
          </a:xfrm>
          <a:prstGeom prst="roundRect">
            <a:avLst>
              <a:gd name="adj" fmla="val 3521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84264" y="3209544"/>
            <a:ext cx="41970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System.out.println("Executou");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(x &lt; 5);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455371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1 execução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5376672"/>
            <a:ext cx="10972800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10643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pergunta antes. do-while executa antes e pergunta depois.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na hora 3 — do-while com menu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609344"/>
            <a:ext cx="146304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16733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2176272"/>
            <a:ext cx="1097280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 menu que seja exibido ao menos uma vez: 1) soma de 1 até N; 2) tabuada de N; 0) sair. O menu deve reaparecer até a opção 0.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58368" y="3310128"/>
            <a:ext cx="5074920" cy="1920240"/>
          </a:xfrm>
          <a:prstGeom prst="roundRect">
            <a:avLst/>
          </a:prstGeom>
          <a:solidFill>
            <a:srgbClr val="F5EEFF"/>
          </a:solidFill>
          <a:ln w="12700">
            <a:solidFill>
              <a:srgbClr val="D7C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externa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041648"/>
            <a:ext cx="4480560" cy="822960"/>
          </a:xfrm>
          <a:prstGeom prst="roundRect">
            <a:avLst>
              <a:gd name="adj" fmla="val 5556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78992" y="4169664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mostrar e tratar menu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(opcao != 0);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3310128"/>
            <a:ext cx="5074920" cy="192024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D9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de conteúdos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5080" y="4023360"/>
            <a:ext cx="42976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 controla o menu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escolhe a operação</a:t>
            </a:r>
            <a:endParaRPr lang="en-US" sz="1800" dirty="0"/>
          </a:p>
          <a:p>
            <a:pPr marL="254000" indent="-254000">
              <a:buSzPct val="100000"/>
              <a:buChar char="•"/>
            </a:pPr>
            <a:r>
              <a:rPr lang="en-US" sz="18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executa soma ou tabuada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5486400"/>
            <a:ext cx="10972800" cy="58521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5596128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opção 1 com N=5 → 15; opção 2 com N=3 → tabuada; opção 9 → inválida; opção 0 → encerra.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 continue: controles auxiliares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 alteram o fluxo do laço, mas não substituem uma condição de repetição bem planejada.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267712"/>
            <a:ext cx="5257800" cy="2944368"/>
          </a:xfrm>
          <a:prstGeom prst="roundRect">
            <a:avLst>
              <a:gd name="adj" fmla="val 7868"/>
            </a:avLst>
          </a:prstGeom>
          <a:solidFill>
            <a:srgbClr val="FFF6E8"/>
          </a:solidFill>
          <a:ln w="12700">
            <a:solidFill>
              <a:srgbClr val="F5C7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542032"/>
            <a:ext cx="114300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87552" y="260604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163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 imediatamente o laço atual.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87552" y="3493008"/>
            <a:ext cx="4471416" cy="1563624"/>
          </a:xfrm>
          <a:prstGeom prst="roundRect">
            <a:avLst>
              <a:gd name="adj" fmla="val 344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97280" y="3621024"/>
            <a:ext cx="41970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>
              <a:solidFill>
                <a:srgbClr val="E8EAED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i++)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5) break;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2267712"/>
            <a:ext cx="5257800" cy="2944368"/>
          </a:xfrm>
          <a:prstGeom prst="roundRect">
            <a:avLst>
              <a:gd name="adj" fmla="val 6574"/>
            </a:avLst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19672" y="2542032"/>
            <a:ext cx="132588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74536" y="260604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3163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 o restante da iteração atual.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19672" y="3493008"/>
            <a:ext cx="4526280" cy="1452372"/>
          </a:xfrm>
          <a:prstGeom prst="roundRect">
            <a:avLst>
              <a:gd name="adj" fmla="val 3448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84264" y="3621024"/>
            <a:ext cx="41970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3) continue;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10972800" cy="60350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5504688"/>
            <a:ext cx="10643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PRÁTICA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use-os quando deixam a intenção mais clara; evite depender deles para “consertar” uma condição confusa.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que aparecem nos exercícios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o padrão antes de escrever código simplifica a escolha da estrutura.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31720"/>
          <a:ext cx="10835640" cy="30175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 típica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“Repita N vezes”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contador de iterações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“Leia até digitar 0”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“Peça novamente até ser válido”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“Mostre o menu até escolher sair”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do-while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pelo menos 1 execução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“Some / conte durante o percurso”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qualquer laço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021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acumulador / contador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2331720"/>
            <a:ext cx="108356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22960" y="24871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03520" y="2487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típica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43800" y="2487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— prática guiada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627632"/>
            <a:ext cx="109728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76656" y="16916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• FOR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2176272"/>
            <a:ext cx="10789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um número inteiro N. Mostre a soma de 1 até N e informe quantos números pares existem nesse intervalo.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621792" y="3017520"/>
            <a:ext cx="1074420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86384" y="3127248"/>
            <a:ext cx="1041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6 → soma = 21 e quantidade de pares = 3.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3822192"/>
            <a:ext cx="132588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76656" y="388620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• WHILE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4389120"/>
            <a:ext cx="1078992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números inteiros até que o usuário digite 0. Ao final, mostre a soma e a quantidade dos valores positivos digitados.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621792" y="5285232"/>
            <a:ext cx="1074420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6384" y="5394960"/>
            <a:ext cx="1041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-2, 7, 3, 0 → soma dos positivos = 14 e quantidade = 3.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— consolidando o raciocínio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627632"/>
            <a:ext cx="109728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76656" y="16916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• FOR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2176272"/>
            <a:ext cx="107899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15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os 8 primeiros termos da sequência de Fibonacci: 0, 1, 1, 2, 3, 5, 8, 13.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621792" y="2926080"/>
            <a:ext cx="10744200" cy="5486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86384" y="3035808"/>
            <a:ext cx="1041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 terceiro termo: próximo = anterior + atual. Depois, atualize os dois valores.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" y="3730752"/>
            <a:ext cx="132588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76656" y="379476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• WHILE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4297680"/>
            <a:ext cx="10789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investe R$ 3.000 a 2% ao mês. João começa com R$ 1.000 e rende 5% ao mês. Quantos meses são necessários para João alcançar ou ultrapassar Carlos?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621792" y="5321808"/>
            <a:ext cx="10744200" cy="56692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6384" y="5431536"/>
            <a:ext cx="10415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PARA CONFERÊNCIA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meses. O objetivo é chegar ao resultado por simulação mês a mês, não por fórmula fechada.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rápido — o mesmo problema, três laços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572768"/>
            <a:ext cx="10972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Imprima os números de 1 a 5 usando as três estruturas. O resultado é o mesmo; o modo de controlar a repetição muda.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14300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94944" y="244144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944368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04672" y="3072384"/>
            <a:ext cx="2825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05656" y="2377440"/>
            <a:ext cx="114300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60520" y="244144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05656" y="2944368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70248" y="3072384"/>
            <a:ext cx="2825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5)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71232" y="2377440"/>
            <a:ext cx="114300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626096" y="244144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71232" y="2944368"/>
            <a:ext cx="3154680" cy="2240280"/>
          </a:xfrm>
          <a:prstGeom prst="roundRect">
            <a:avLst>
              <a:gd name="adj" fmla="val 2041"/>
            </a:avLst>
          </a:prstGeom>
          <a:solidFill>
            <a:srgbClr val="121417"/>
          </a:solidFill>
          <a:ln w="12700">
            <a:solidFill>
              <a:srgbClr val="2D33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35824" y="3072384"/>
            <a:ext cx="2825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System.out.print(i);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(i &lt;= 5);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5468112"/>
            <a:ext cx="10972800" cy="58521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10643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contagem conhecida, o for comunica melhor a intenção. while e do-while também funcionam, mas exigem controle explícito.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548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664208"/>
            <a:ext cx="1508760" cy="402336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13232" y="1728216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95728" y="1700784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quantidade de repetições é conhecida ou naturalmente contável.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8368" y="2478024"/>
            <a:ext cx="1508760" cy="402336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254203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95728" y="2514600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condição deve ser testada antes e o laço pode executar zero vezes.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8368" y="3291840"/>
            <a:ext cx="1508760" cy="402336"/>
          </a:xfrm>
          <a:prstGeom prst="round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3232" y="335584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DO-WHILE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95728" y="3328416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bloco deve executar pelo menos uma vez antes do teste.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8368" y="4105656"/>
            <a:ext cx="1508760" cy="402336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3232" y="416966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95728" y="4142232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quantas ocorrências aconteceram.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8368" y="4919472"/>
            <a:ext cx="1508760" cy="402336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3232" y="498348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95728" y="4956048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 um total ou produto ao longo das iterações.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66928" y="5541264"/>
            <a:ext cx="10972800" cy="51206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7D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5650992"/>
            <a:ext cx="1064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  </a:t>
            </a:r>
            <a:r>
              <a:rPr lang="en-US" sz="1700" dirty="0">
                <a:solidFill>
                  <a:srgbClr val="10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vetores: usar uma estrutura de repetição para percorrer várias posições de uma mesma coleção de dados.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91072"/>
            <a:ext cx="64008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700">
                <a:solidFill>
                  <a:srgbClr val="5F6B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15759EB-BBDA-4854-A7C0-D8FE4DA6BFC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834679-C3F5-45D8-85D6-74D3CFACCF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5F78CE-7617-4BF5-8DD7-919C6D74351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AB07C1-A5E4-47D6-A75E-FBDC11D1970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F3B7A4F-0887-AC3D-D174-6FAE7CDC8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26" y="1504950"/>
            <a:ext cx="7621064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5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C92B-F473-9211-275C-A5B7DF9A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45E76A4-3C64-D3FB-538B-8339D43A44F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AB7956D-8352-6001-6162-0F23DD8456F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8DD72F-0C0B-BD39-A7A9-5CF6FA2394F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1FEE7B1-770E-84F0-B9DB-F3E2472985E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C6357C09-09C6-6404-C4BC-2E0220A4E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0C933E0-D52E-F9E1-82F8-E53A3B194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05" y="1604708"/>
            <a:ext cx="7678222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79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AB7E-03E2-53BE-6636-B47EFF1B3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7B0AA71-B496-1B7F-3963-A80320EB68B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A1C5DA-DF45-6A0E-C191-86057203E0D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CDD3ECC-7E26-F8AB-B8D4-8EFCFFC922F5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847C42-FC4D-5232-8409-92C9C08AE2E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B8EF7CD1-6983-731F-D964-18F868C39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BD58CE8-27E9-C748-8AAB-2EF3F02AA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1" y="1599546"/>
            <a:ext cx="8878539" cy="5715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7B55A0-5C5D-3695-DBC3-18EDD35C3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2442267"/>
            <a:ext cx="8821381" cy="33342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1F2D0A3-13AC-F08F-241D-4DD4BB427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06" y="3346881"/>
            <a:ext cx="8916644" cy="115268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929EE59-715E-6F3B-93E2-85973C4576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295" y="4628989"/>
            <a:ext cx="8983329" cy="53347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153BF11-A5E3-510F-3506-F9826C4BDF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500"/>
          <a:stretch>
            <a:fillRect/>
          </a:stretch>
        </p:blipFill>
        <p:spPr>
          <a:xfrm>
            <a:off x="486691" y="5436942"/>
            <a:ext cx="9059539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84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16C99-ACC5-3A8A-BEB2-80FE26A7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23DEEFA5-DB17-277F-19A1-A4A1FC7F29E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77BB03-23FA-6716-F8DD-A7C712C1A00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3DB49D-4DAE-5BF6-CE57-A72CAEE370E9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F876BE-EEC7-869B-F590-C8912E23728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2F3700BB-5DD4-0A66-2D5F-E388A6CA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AB8FA2C-DE9E-3B1C-EFCE-92CB02FA1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53" y="1323975"/>
            <a:ext cx="896427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05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60F8-E61D-C21C-214F-159ADA9D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FF68F11-5BE3-CDB7-EE76-77C209599DE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6DE0AB-190F-AB48-1283-038091131B1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7D2F498-19F0-0041-16F6-64B317CF598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8D0858B-93C2-3784-458D-50168312A7F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6DC7B8FA-77CB-92F9-B7D3-B3BD3AAD1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4B861AA-F286-99CA-F88C-1B9BEC1D3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477" y="1400175"/>
            <a:ext cx="8068269" cy="266945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5263C9-37A6-2D67-8814-EF66C2448B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677"/>
          <a:stretch>
            <a:fillRect/>
          </a:stretch>
        </p:blipFill>
        <p:spPr>
          <a:xfrm>
            <a:off x="2384994" y="4069634"/>
            <a:ext cx="7952093" cy="252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34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918C-45B7-74E6-9128-CB4B11E8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957EC22F-1A85-B0F3-22F5-D68B252A4F4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FF7337-2411-C0B6-8FB0-7D90B3E28BA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1CB78C-B58B-DBCE-9555-A14BB706968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AE1374-424E-B5D9-484F-854A5033A1B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0AF366B1-20F1-3040-3FC0-1310E305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1247B10-A855-A755-31F7-79DA0E649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71" y="1556225"/>
            <a:ext cx="8916644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9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3683</Words>
  <Application>Microsoft Office PowerPoint</Application>
  <PresentationFormat>Widescreen</PresentationFormat>
  <Paragraphs>449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Unichristus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7 - Estruturas de Repeticao em Java</dc:title>
  <dc:subject>Programacao Estruturada - Aula 7 - Estruturas de Repeticao em Java</dc:subject>
  <dc:creator>Dionizio Porfirio de Assis</dc:creator>
  <cp:lastModifiedBy>DIONIZIO PORFIRIO DE ASSIS</cp:lastModifiedBy>
  <cp:revision>3</cp:revision>
  <dcterms:created xsi:type="dcterms:W3CDTF">2026-08-24T11:15:10Z</dcterms:created>
  <dcterms:modified xsi:type="dcterms:W3CDTF">2026-08-24T14:10:49Z</dcterms:modified>
</cp:coreProperties>
</file>