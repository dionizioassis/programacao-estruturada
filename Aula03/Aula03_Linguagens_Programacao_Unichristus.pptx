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6" r:id="rId68"/>
    <p:sldId id="327" r:id="rId69"/>
    <p:sldId id="328" r:id="rId70"/>
    <p:sldId id="334" r:id="rId71"/>
    <p:sldId id="335" r:id="rId7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190" autoAdjust="0"/>
  </p:normalViewPr>
  <p:slideViewPr>
    <p:cSldViewPr snapToGrid="0">
      <p:cViewPr varScale="1">
        <p:scale>
          <a:sx n="72" d="100"/>
          <a:sy n="7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Abertura: linguagens não competem em uma escala simples de melhor e pior; elas oferecem abstrações e concessões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Sebesta, Concepts of Programming Languages.</a:t>
            </a:r>
          </a:p>
          <a:p>
            <a:r>
              <a:t>OpenStax, Introduction to Computer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OpenStax, Computer Levels of Abstraction.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OpenStax, Computer Levels of Abstraction.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Arm, Assembly Language Basics.</a:t>
            </a:r>
          </a:p>
          <a:p>
            <a:r>
              <a:t>Intel, Software Developer Manuals.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Intel, Software Developer Manuals.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OpenStax, Programming Language Foundations.</a:t>
            </a:r>
          </a:p>
          <a:p>
            <a:r>
              <a:t>Python documentation, General FAQ.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effectLst/>
              </a:rPr>
              <a:t>1. Prazo curto e experiência da equipe</a:t>
            </a:r>
          </a:p>
          <a:p>
            <a:pPr lvl="0"/>
            <a:r>
              <a:rPr lang="pt-BR" sz="1200" b="1" kern="1200" dirty="0">
                <a:effectLst/>
              </a:rPr>
              <a:t>Se responderem:</a:t>
            </a:r>
            <a:r>
              <a:rPr lang="pt-BR" sz="1200" kern="1200" dirty="0">
                <a:effectLst/>
              </a:rPr>
              <a:t> </a:t>
            </a:r>
            <a:r>
              <a:rPr lang="pt-BR" sz="1200" i="1" kern="1200" dirty="0">
                <a:effectLst/>
              </a:rPr>
              <a:t>"Temos apenas 2 semanas e a equipe domina Python e </a:t>
            </a:r>
            <a:r>
              <a:rPr lang="pt-BR" sz="1200" i="1" kern="1200" dirty="0" err="1">
                <a:effectLst/>
              </a:rPr>
              <a:t>JavaScript</a:t>
            </a:r>
            <a:r>
              <a:rPr lang="pt-BR" sz="1200" i="1" kern="1200" dirty="0">
                <a:effectLst/>
              </a:rPr>
              <a:t>."</a:t>
            </a:r>
            <a:endParaRPr lang="pt-BR" sz="1200" kern="1200" dirty="0">
              <a:effectLst/>
            </a:endParaRPr>
          </a:p>
          <a:p>
            <a:pPr lvl="0"/>
            <a:r>
              <a:rPr lang="pt-BR" sz="1200" b="1" kern="1200" dirty="0">
                <a:effectLst/>
              </a:rPr>
              <a:t>Você conclui:</a:t>
            </a:r>
            <a:r>
              <a:rPr lang="pt-BR" sz="1200" kern="1200" dirty="0">
                <a:effectLst/>
              </a:rPr>
              <a:t> "Então iremos de </a:t>
            </a:r>
            <a:r>
              <a:rPr lang="pt-BR" sz="1200" b="1" kern="1200" dirty="0">
                <a:effectLst/>
              </a:rPr>
              <a:t>Python/Node.js</a:t>
            </a:r>
            <a:r>
              <a:rPr lang="pt-BR" sz="1200" kern="1200" dirty="0">
                <a:effectLst/>
              </a:rPr>
              <a:t>. Não adianta tentar fazer em </a:t>
            </a:r>
            <a:r>
              <a:rPr lang="pt-BR" sz="1200" kern="1200" dirty="0" err="1">
                <a:effectLst/>
              </a:rPr>
              <a:t>Rust</a:t>
            </a:r>
            <a:r>
              <a:rPr lang="pt-BR" sz="1200" kern="1200" dirty="0">
                <a:effectLst/>
              </a:rPr>
              <a:t> ou C++ para buscar performance se a entrega vai atrasar e o código vai ficar cheio de bugs." </a:t>
            </a:r>
          </a:p>
          <a:p>
            <a:r>
              <a:rPr lang="pt-BR" sz="1200" b="1" kern="1200" dirty="0">
                <a:effectLst/>
              </a:rPr>
              <a:t>2. Hardware limitado (memória ou energia)</a:t>
            </a:r>
          </a:p>
          <a:p>
            <a:pPr lvl="0"/>
            <a:r>
              <a:rPr lang="pt-BR" sz="1200" b="1" kern="1200" dirty="0">
                <a:effectLst/>
              </a:rPr>
              <a:t>Se responderem:</a:t>
            </a:r>
            <a:r>
              <a:rPr lang="pt-BR" sz="1200" kern="1200" dirty="0">
                <a:effectLst/>
              </a:rPr>
              <a:t> </a:t>
            </a:r>
            <a:r>
              <a:rPr lang="pt-BR" sz="1200" i="1" kern="1200" dirty="0">
                <a:effectLst/>
              </a:rPr>
              <a:t>"É para rodar num microcontrolador de um relógio inteligente com pouca bateria e 32 KB de RAM."</a:t>
            </a:r>
            <a:endParaRPr lang="pt-BR" sz="1200" kern="1200" dirty="0">
              <a:effectLst/>
            </a:endParaRPr>
          </a:p>
          <a:p>
            <a:pPr lvl="0"/>
            <a:r>
              <a:rPr lang="pt-BR" sz="1200" b="1" kern="1200" dirty="0">
                <a:effectLst/>
              </a:rPr>
              <a:t>Você conclui:</a:t>
            </a:r>
            <a:r>
              <a:rPr lang="pt-BR" sz="1200" kern="1200" dirty="0">
                <a:effectLst/>
              </a:rPr>
              <a:t> "Aqui o </a:t>
            </a:r>
            <a:r>
              <a:rPr lang="pt-BR" sz="1200" kern="1200" dirty="0" err="1">
                <a:effectLst/>
              </a:rPr>
              <a:t>runtime</a:t>
            </a:r>
            <a:r>
              <a:rPr lang="pt-BR" sz="1200" kern="1200" dirty="0">
                <a:effectLst/>
              </a:rPr>
              <a:t> do Python ou a JVM do Java não cabem. A escolha precisa ser </a:t>
            </a:r>
            <a:r>
              <a:rPr lang="pt-BR" sz="1200" b="1" kern="1200" dirty="0">
                <a:effectLst/>
              </a:rPr>
              <a:t>C, C++ ou </a:t>
            </a:r>
            <a:r>
              <a:rPr lang="pt-BR" sz="1200" b="1" kern="1200" dirty="0" err="1">
                <a:effectLst/>
              </a:rPr>
              <a:t>Rust</a:t>
            </a:r>
            <a:r>
              <a:rPr lang="pt-BR" sz="1200" kern="1200" dirty="0">
                <a:effectLst/>
              </a:rPr>
              <a:t> (compilação AOT nativa, sem Garbage </a:t>
            </a:r>
            <a:r>
              <a:rPr lang="pt-BR" sz="1200" kern="1200" dirty="0" err="1">
                <a:effectLst/>
              </a:rPr>
              <a:t>Collector</a:t>
            </a:r>
            <a:r>
              <a:rPr lang="pt-BR" sz="1200" kern="1200" dirty="0">
                <a:effectLst/>
              </a:rPr>
              <a:t> drenando bateria)." </a:t>
            </a:r>
          </a:p>
          <a:p>
            <a:r>
              <a:rPr lang="pt-BR" sz="1200" b="1" kern="1200" dirty="0">
                <a:effectLst/>
              </a:rPr>
              <a:t>3. Tempo de resposta previsível (Tempo Real)</a:t>
            </a:r>
          </a:p>
          <a:p>
            <a:pPr lvl="0"/>
            <a:r>
              <a:rPr lang="pt-BR" sz="1200" b="1" kern="1200" dirty="0">
                <a:effectLst/>
              </a:rPr>
              <a:t>Se responderem:</a:t>
            </a:r>
            <a:r>
              <a:rPr lang="pt-BR" sz="1200" kern="1200" dirty="0">
                <a:effectLst/>
              </a:rPr>
              <a:t> </a:t>
            </a:r>
            <a:r>
              <a:rPr lang="pt-BR" sz="1200" i="1" kern="1200" dirty="0">
                <a:effectLst/>
              </a:rPr>
              <a:t>"O sistema controla o freio ABS de um carro ou um sensor de vazamento de gás que precisa responder em menos de 10 ms."</a:t>
            </a:r>
            <a:endParaRPr lang="pt-BR" sz="1200" kern="1200" dirty="0">
              <a:effectLst/>
            </a:endParaRPr>
          </a:p>
          <a:p>
            <a:pPr lvl="0"/>
            <a:r>
              <a:rPr lang="pt-BR" sz="1200" b="1" kern="1200" dirty="0">
                <a:effectLst/>
              </a:rPr>
              <a:t>Você conclui:</a:t>
            </a:r>
            <a:r>
              <a:rPr lang="pt-BR" sz="1200" kern="1200" dirty="0">
                <a:effectLst/>
              </a:rPr>
              <a:t> "Linguagens com </a:t>
            </a:r>
            <a:r>
              <a:rPr lang="pt-BR" sz="1200" b="1" kern="1200" dirty="0">
                <a:effectLst/>
              </a:rPr>
              <a:t>Garbage </a:t>
            </a:r>
            <a:r>
              <a:rPr lang="pt-BR" sz="1200" b="1" kern="1200" dirty="0" err="1">
                <a:effectLst/>
              </a:rPr>
              <a:t>Collector</a:t>
            </a:r>
            <a:r>
              <a:rPr lang="pt-BR" sz="1200" kern="1200" dirty="0">
                <a:effectLst/>
              </a:rPr>
              <a:t> (como Java ou C#) podem ter pausas imprevisíveis para limpar memória. Precisamos de </a:t>
            </a:r>
            <a:r>
              <a:rPr lang="pt-BR" sz="1200" b="1" kern="1200" dirty="0">
                <a:effectLst/>
              </a:rPr>
              <a:t>C, C++ ou </a:t>
            </a:r>
            <a:r>
              <a:rPr lang="pt-BR" sz="1200" b="1" kern="1200" dirty="0" err="1">
                <a:effectLst/>
              </a:rPr>
              <a:t>Rust</a:t>
            </a:r>
            <a:r>
              <a:rPr lang="pt-BR" sz="1200" kern="1200" dirty="0">
                <a:effectLst/>
              </a:rPr>
              <a:t>, onde o controle de memória é explícito/previsível." </a:t>
            </a:r>
          </a:p>
          <a:p>
            <a:r>
              <a:rPr lang="pt-BR" sz="1200" b="1" kern="1200" dirty="0">
                <a:effectLst/>
              </a:rPr>
              <a:t>4. Bibliotecas e ecossistema existente</a:t>
            </a:r>
          </a:p>
          <a:p>
            <a:pPr lvl="0"/>
            <a:r>
              <a:rPr lang="pt-BR" sz="1200" b="1" kern="1200" dirty="0">
                <a:effectLst/>
              </a:rPr>
              <a:t>Se responderem:</a:t>
            </a:r>
            <a:r>
              <a:rPr lang="pt-BR" sz="1200" kern="1200" dirty="0">
                <a:effectLst/>
              </a:rPr>
              <a:t> </a:t>
            </a:r>
            <a:r>
              <a:rPr lang="pt-BR" sz="1200" i="1" kern="1200" dirty="0">
                <a:effectLst/>
              </a:rPr>
              <a:t>"O projeto é um modelo de Inteligência Artificial para análise de imagens médicos."</a:t>
            </a:r>
            <a:endParaRPr lang="pt-BR" sz="1200" kern="1200" dirty="0">
              <a:effectLst/>
            </a:endParaRPr>
          </a:p>
          <a:p>
            <a:pPr lvl="0"/>
            <a:r>
              <a:rPr lang="pt-BR" sz="1200" b="1" kern="1200" dirty="0">
                <a:effectLst/>
              </a:rPr>
              <a:t>Você conclui:</a:t>
            </a:r>
            <a:r>
              <a:rPr lang="pt-BR" sz="1200" kern="1200" dirty="0">
                <a:effectLst/>
              </a:rPr>
              <a:t> "Vencedor claro: </a:t>
            </a:r>
            <a:r>
              <a:rPr lang="pt-BR" sz="1200" b="1" kern="1200" dirty="0">
                <a:effectLst/>
              </a:rPr>
              <a:t>Python</a:t>
            </a:r>
            <a:r>
              <a:rPr lang="pt-BR" sz="1200" kern="1200" dirty="0">
                <a:effectLst/>
              </a:rPr>
              <a:t>. Não porque o Python é rápido em si, mas porque ele tem o ecossistema pronto (</a:t>
            </a:r>
            <a:r>
              <a:rPr lang="pt-BR" sz="1200" kern="1200" dirty="0" err="1">
                <a:effectLst/>
              </a:rPr>
              <a:t>PyTorch</a:t>
            </a:r>
            <a:r>
              <a:rPr lang="pt-BR" sz="1200" kern="1200" dirty="0">
                <a:effectLst/>
              </a:rPr>
              <a:t>, </a:t>
            </a:r>
            <a:r>
              <a:rPr lang="pt-BR" sz="1200" kern="1200" dirty="0" err="1">
                <a:effectLst/>
              </a:rPr>
              <a:t>TensorFlow</a:t>
            </a:r>
            <a:r>
              <a:rPr lang="pt-BR" sz="1200" kern="1200" dirty="0">
                <a:effectLst/>
              </a:rPr>
              <a:t>) cujas bibliotecas por baixo dos panos já foram escritas e otimizadas em C++/CUDA." </a:t>
            </a:r>
          </a:p>
          <a:p>
            <a:r>
              <a:rPr lang="pt-BR" sz="1200" b="1" kern="1200" dirty="0">
                <a:effectLst/>
              </a:rPr>
              <a:t>5. Portabilidade e manutenção de longo prazo</a:t>
            </a:r>
          </a:p>
          <a:p>
            <a:pPr lvl="0"/>
            <a:r>
              <a:rPr lang="pt-BR" sz="1200" b="1" kern="1200" dirty="0">
                <a:effectLst/>
              </a:rPr>
              <a:t>Se responderem:</a:t>
            </a:r>
            <a:r>
              <a:rPr lang="pt-BR" sz="1200" kern="1200" dirty="0">
                <a:effectLst/>
              </a:rPr>
              <a:t> </a:t>
            </a:r>
            <a:r>
              <a:rPr lang="pt-BR" sz="1200" i="1" kern="1200" dirty="0">
                <a:effectLst/>
              </a:rPr>
              <a:t>"É um sistema corporativo que precisa rodar em servidores Linux, Windows e </a:t>
            </a:r>
            <a:r>
              <a:rPr lang="pt-BR" sz="1200" i="1" kern="1200" dirty="0" err="1">
                <a:effectLst/>
              </a:rPr>
              <a:t>macOS</a:t>
            </a:r>
            <a:r>
              <a:rPr lang="pt-BR" sz="1200" i="1" kern="1200" dirty="0">
                <a:effectLst/>
              </a:rPr>
              <a:t> por 10 anos sem ser reescrito."</a:t>
            </a:r>
            <a:endParaRPr lang="pt-BR" sz="1200" kern="1200" dirty="0">
              <a:effectLst/>
            </a:endParaRPr>
          </a:p>
          <a:p>
            <a:pPr lvl="0"/>
            <a:r>
              <a:rPr lang="pt-BR" sz="1200" b="1" kern="1200" dirty="0">
                <a:effectLst/>
              </a:rPr>
              <a:t>Você conclui:</a:t>
            </a:r>
            <a:r>
              <a:rPr lang="pt-BR" sz="1200" kern="1200" dirty="0">
                <a:effectLst/>
              </a:rPr>
              <a:t> "Tecnologias baseadas em Máquina Virtual como </a:t>
            </a:r>
            <a:r>
              <a:rPr lang="pt-BR" sz="1200" b="1" kern="1200" dirty="0">
                <a:effectLst/>
              </a:rPr>
              <a:t>Java (JVM) ou C# (.NET)</a:t>
            </a:r>
            <a:r>
              <a:rPr lang="pt-BR" sz="1200" kern="1200" dirty="0">
                <a:effectLst/>
              </a:rPr>
              <a:t> se destacam aqui. Você compila uma vez e a VM cuida da adaptação para cada SO." </a:t>
            </a:r>
          </a:p>
          <a:p>
            <a:r>
              <a:rPr lang="pt-BR" sz="1200" b="1" kern="1200" dirty="0">
                <a:effectLst/>
              </a:rPr>
              <a:t>6. Riscos de segurança e confiabilidade</a:t>
            </a:r>
          </a:p>
          <a:p>
            <a:pPr lvl="0"/>
            <a:r>
              <a:rPr lang="pt-BR" sz="1200" b="1" kern="1200" dirty="0">
                <a:effectLst/>
              </a:rPr>
              <a:t>Se responderem:</a:t>
            </a:r>
            <a:r>
              <a:rPr lang="pt-BR" sz="1200" kern="1200" dirty="0">
                <a:effectLst/>
              </a:rPr>
              <a:t> </a:t>
            </a:r>
            <a:r>
              <a:rPr lang="pt-BR" sz="1200" i="1" kern="1200" dirty="0">
                <a:effectLst/>
              </a:rPr>
              <a:t>"É um software crítico de aviação ou de transações bancárias onde vazamento de memória ou estouro de buffer (buffer overflow) é inaceitável."</a:t>
            </a:r>
            <a:endParaRPr lang="pt-BR" sz="1200" kern="1200" dirty="0">
              <a:effectLst/>
            </a:endParaRPr>
          </a:p>
          <a:p>
            <a:pPr lvl="0"/>
            <a:r>
              <a:rPr lang="pt-BR" sz="1200" b="1" kern="1200" dirty="0">
                <a:effectLst/>
              </a:rPr>
              <a:t>Você conclui:</a:t>
            </a:r>
            <a:r>
              <a:rPr lang="pt-BR" sz="1200" kern="1200" dirty="0">
                <a:effectLst/>
              </a:rPr>
              <a:t> "Evitaremos C puro por conta do gerenciamento manual de memória. Escolheremos </a:t>
            </a:r>
            <a:r>
              <a:rPr lang="pt-BR" sz="1200" b="1" kern="1200" dirty="0" err="1">
                <a:effectLst/>
              </a:rPr>
              <a:t>Rust</a:t>
            </a:r>
            <a:r>
              <a:rPr lang="pt-BR" sz="1200" kern="1200" dirty="0">
                <a:effectLst/>
              </a:rPr>
              <a:t> (pela segurança de memória em tempo de compilação) ou uma linguagem gerenciada com tipagem forte como </a:t>
            </a:r>
            <a:r>
              <a:rPr lang="pt-BR" sz="1200" b="1" kern="1200" dirty="0">
                <a:effectLst/>
              </a:rPr>
              <a:t>Java/</a:t>
            </a:r>
            <a:r>
              <a:rPr lang="pt-BR" sz="1200" b="1" kern="1200" dirty="0" err="1">
                <a:effectLst/>
              </a:rPr>
              <a:t>TypeScript</a:t>
            </a:r>
            <a:r>
              <a:rPr lang="pt-BR" sz="1200" kern="1200" dirty="0">
                <a:effectLst/>
              </a:rPr>
              <a:t>." 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Floyd, The Paradigms of Programming, 1979.</a:t>
            </a:r>
          </a:p>
          <a:p>
            <a:r>
              <a:t>Sebesta, Concepts of Programming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MDN, JavaScript language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MDN, JavaScript.</a:t>
            </a:r>
          </a:p>
          <a:p>
            <a:r>
              <a:t>Oracle, Java Language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Oracle, Object-Oriented Programming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Oracle, Object-Oriented Programming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Oracle,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MDN, JavaScript language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PostgreSQL, Planner/Optimizer.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Böhm &amp; Jacopini, 1966.</a:t>
            </a:r>
          </a:p>
          <a:p>
            <a:r>
              <a:t>Dijkstra, Go To Statement Considered Harmful, 1968.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Böhm &amp; Jacopini, 1966.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Oculte ou revele verbalmente a resposta somente após ouvir justificativas.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Oculte ou revele verbalmente a resposta somente após ouvir justificativas.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Oculte ou revele verbalmente a resposta somente após ouvir justificativas.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Oculte ou revele verbalmente a resposta somente após ouvir justificativas.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Oculte ou revele verbalmente a resposta somente após ouvir justificativas.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Aho et al., Compilers.</a:t>
            </a:r>
          </a:p>
          <a:p>
            <a:r>
              <a:t>Cooper &amp; Torczon, Engineering a Compiler.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Aho et al., Compilers.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GCC, Overall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Oracle, HotSpot Compilation and Optimization.</a:t>
            </a:r>
          </a:p>
          <a:p>
            <a:r>
              <a:t>V8, Maglev.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Oracle, Java HotSpot VM.</a:t>
            </a:r>
          </a:p>
          <a:p>
            <a:r>
              <a:t>V8 documentation.</a:t>
            </a:r>
          </a:p>
          <a:p>
            <a:r>
              <a:t>Python Glossary.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Oracle, HotSpot.</a:t>
            </a:r>
          </a:p>
          <a:p>
            <a:r>
              <a:t>V8, Ignition and Maglev.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Encerre retomando a pergunta inicial e peça um exemplo de situação em que duas linguagens coexistem no mesmo sistema.</a:t>
            </a:r>
          </a:p>
          <a:p>
            <a:r>
              <a:t>[Sources]</a:t>
            </a:r>
          </a:p>
          <a:p>
            <a:r>
              <a:t>Sebesta, Concepts of Programming Languages.</a:t>
            </a:r>
          </a:p>
          <a:p>
            <a:r>
              <a:t>Scott, Programming Language Pragmatics.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Links completos constam nas notas dos slides correspondentes.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5E09F77-A77B-44E2-AD9F-67EF1CCD92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EBE2B04-8187-407E-85E9-8FFDD4E0A743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23ADCE1-B7FD-4FAD-BC88-0A64E8C84FF7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378C5BA-5034-4E0A-82C6-942D53EF34D4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0485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3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43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Linguagens</a:t>
            </a:r>
            <a:r>
              <a:rPr sz="43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</a:t>
            </a:r>
          </a:p>
          <a:p>
            <a:pPr algn="l">
              <a:defRPr sz="43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43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programação</a:t>
            </a:r>
            <a:endParaRPr sz="43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E1D427F-5806-4324-A23E-6A3DEE6203D5}"/>
              </a:ext>
            </a:extLst>
          </p:cNvPr>
          <p:cNvSpPr>
            <a:spLocks noGrp="1"/>
          </p:cNvSpPr>
          <p:nvPr/>
        </p:nvSpPr>
        <p:spPr>
          <a:xfrm>
            <a:off x="552450" y="3476625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Níveis</a:t>
            </a:r>
            <a:r>
              <a:rPr sz="18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de </a:t>
            </a:r>
            <a:r>
              <a:rPr sz="18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abstração</a:t>
            </a:r>
            <a:r>
              <a:rPr sz="18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• </a:t>
            </a:r>
            <a:r>
              <a:rPr sz="18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paradigmas</a:t>
            </a:r>
            <a:r>
              <a:rPr sz="18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• </a:t>
            </a:r>
            <a:r>
              <a:rPr sz="18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compilação</a:t>
            </a:r>
            <a:r>
              <a:rPr sz="18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e </a:t>
            </a:r>
            <a:r>
              <a:rPr sz="18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interpretação</a:t>
            </a:r>
            <a:endParaRPr sz="1875" b="0" dirty="0">
              <a:solidFill>
                <a:srgbClr val="5264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C548D3F-12B9-4D5B-86D0-7FAF4E48A94C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495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Prof. Dionizio Porfírio</a:t>
            </a:r>
          </a:p>
          <a:p>
            <a:pPr algn="l">
              <a:defRPr sz="15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Unichristus • 2026.2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2ABE8E3-1C56-47FA-B4DF-E8515472228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8A5F864-D2F1-C383-CFB8-1BB8C7689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5" y="600545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7ADC4135-BA95-4BD2-9661-665015DC66A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4AC8E53-7EBF-45B4-8374-63E9658C1FB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Introdução</a:t>
            </a:r>
            <a:endParaRPr sz="28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4AC97BF-7FC2-42DD-8659-1093C77B1752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A89D1C6-12FA-4815-87FD-B931A9894EA5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BD90FAF-C006-4932-9092-E3B56F9D39F2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56923CB-D00C-40D5-9162-06AD313E18E2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1565C0"/>
                </a:solidFill>
                <a:latin typeface="Arial"/>
                <a:ea typeface="Arial"/>
                <a:cs typeface="Arial"/>
              </a:rPr>
              <a:t>Decisão</a:t>
            </a:r>
            <a:r>
              <a:rPr sz="1725" b="1" dirty="0">
                <a:solidFill>
                  <a:srgbClr val="1565C0"/>
                </a:solidFill>
                <a:latin typeface="Arial"/>
                <a:ea typeface="Arial"/>
                <a:cs typeface="Arial"/>
              </a:rPr>
              <a:t> de </a:t>
            </a:r>
            <a:r>
              <a:rPr sz="1725" b="1" dirty="0" err="1">
                <a:solidFill>
                  <a:srgbClr val="1565C0"/>
                </a:solidFill>
                <a:latin typeface="Arial"/>
                <a:ea typeface="Arial"/>
                <a:cs typeface="Arial"/>
              </a:rPr>
              <a:t>engenharia</a:t>
            </a:r>
            <a:endParaRPr sz="1725" b="1" dirty="0">
              <a:solidFill>
                <a:srgbClr val="1565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FB2C395-FB17-4704-B2F5-822C6D6564DC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Não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existe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linguagem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universalmente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melhor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existe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escolha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mais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adequada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problema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à equipe e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aos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requisitos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6C76B5D-4E8A-4E8D-BFF4-8CB1E291B9FE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142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Quanto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controle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precisamos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Quanto tempo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temos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para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desenvolver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Que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desempenho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portabilidade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segurança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exigidos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63DEA7E-76C1-B8E1-E63A-0B4507A35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ABB3CCC-472D-4EEF-AA32-C13DA8BFF84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3F4100B-530E-4F9B-8FAB-14F0C2E014EE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Sumário da aula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7136D20-625E-4A93-822F-2A28D58F9180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D87E118-4370-4D0F-BC0A-60310ACFFA2F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0" name="Tabela 9"/>
          <p:cNvGraphicFramePr/>
          <p:nvPr>
            <p:extLst>
              <p:ext uri="{D42A27DB-BD31-4B8C-83A1-F6EECF244321}">
                <p14:modId xmlns:p14="http://schemas.microsoft.com/office/powerpoint/2010/main" val="2125297938"/>
              </p:ext>
            </p:extLst>
          </p:nvPr>
        </p:nvGraphicFramePr>
        <p:xfrm>
          <a:off x="400050" y="1714500"/>
          <a:ext cx="11391900" cy="3413125"/>
        </p:xfrm>
        <a:graphic>
          <a:graphicData uri="http://schemas.openxmlformats.org/drawingml/2006/table">
            <a:tbl>
              <a:tblPr firstRow="1" bandRow="1"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Alto e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baixo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nível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Quanto a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linguagem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abstrai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o hardware?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Paradigmas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Como organizamos e expressamos a solução?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Estruturado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, POO,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funcional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e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declarativo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Quais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ideias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orientam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cada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abordagem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Compilação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,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interpretação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e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modelos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híbridos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Como o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código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chega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à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execução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Aplicação e exercício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Como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justificar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uma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escolha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tecnológica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E1977019-7184-1B9C-CB3E-4F2746F33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7483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31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E3F1717-BE1A-4C0D-AA82-21D6CAAB0391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48F4E0-5B80-4402-B336-B1A24D984A7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Objetivo</a:t>
            </a:r>
            <a:r>
              <a:rPr lang="pt-BR"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s</a:t>
            </a:r>
            <a:endParaRPr sz="28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7DF4AAD-C3B2-434A-9F95-3BEE55C87C22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1A79A10-5985-4270-8EFD-5B602BFC646D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735455-12F4-4A91-9D76-11C927059AE2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Ao final, </a:t>
            </a:r>
            <a:r>
              <a:rPr sz="18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você</a:t>
            </a:r>
            <a:r>
              <a:rPr sz="18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deverá</a:t>
            </a:r>
            <a:r>
              <a:rPr sz="18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ser </a:t>
            </a:r>
            <a:r>
              <a:rPr sz="18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capaz</a:t>
            </a:r>
            <a:r>
              <a:rPr sz="18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de: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1D31640-48B8-417E-9BDF-7E5104875838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11279444" cy="3899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diferenciar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linguagens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alto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baixo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nível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;</a:t>
            </a:r>
            <a:endParaRPr lang="pt-BR"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endParaRPr lang="pt-BR"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reconhecer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paradigmas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compreender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que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linguagens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modernas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são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frequentemente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multiparadigma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;</a:t>
            </a:r>
            <a:endParaRPr lang="pt-BR"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endParaRPr lang="pt-BR" sz="160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explicar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compiladores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interpretadores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bytecode,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máquinas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virtuais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JIT se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relacionam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;</a:t>
            </a:r>
            <a:endParaRPr lang="pt-BR" sz="6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endParaRPr lang="pt-BR"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justificar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escolhas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tecnológicas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a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partir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dos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requisitos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um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projeto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9FB6E67-D42A-3A36-8B94-15532D59D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1784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61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EFB79CFD-228A-4E7B-8D8A-62DD933104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1957C32-12C0-4019-B9A0-E02DB788216E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BLOCO 1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60C8A4D-FA42-4F76-A24D-C736A397327D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10191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9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Alto e baixo nível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AB28064-56AA-43CB-81F5-3303D0961FA6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8572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A </a:t>
            </a:r>
            <a:r>
              <a:rPr sz="18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diferença</a:t>
            </a:r>
            <a:r>
              <a:rPr sz="18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está</a:t>
            </a:r>
            <a:r>
              <a:rPr sz="18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no </a:t>
            </a:r>
            <a:r>
              <a:rPr sz="18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nível</a:t>
            </a:r>
            <a:r>
              <a:rPr sz="18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de </a:t>
            </a:r>
            <a:r>
              <a:rPr sz="18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abstração</a:t>
            </a:r>
            <a:r>
              <a:rPr sz="18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e no </a:t>
            </a:r>
            <a:r>
              <a:rPr sz="18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tipo</a:t>
            </a:r>
            <a:r>
              <a:rPr sz="18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de </a:t>
            </a:r>
            <a:r>
              <a:rPr sz="18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preocupação</a:t>
            </a:r>
            <a:r>
              <a:rPr sz="18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exigida</a:t>
            </a:r>
            <a:r>
              <a:rPr sz="18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do </a:t>
            </a:r>
            <a:r>
              <a:rPr sz="18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programador</a:t>
            </a:r>
            <a:r>
              <a:rPr sz="18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48588D4-6349-42E9-9D33-010AF87945E9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842F49E-76D9-9DF6-B93C-49763D0C2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600545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76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020A228D-887B-4B3E-AC49-8FE13AD0ADF5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57E2749-73AD-4597-B94B-4173C7A79286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 que é uma linguagem de programação?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5225638-0EA5-4B7B-B5C4-5F2C45AFF387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A857537-9B4D-4992-8669-1559AF78963B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BE772C2-D3DE-4A82-B6D1-3F0D448C1FB1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514F52B-C120-441F-86F1-5FB8D2FCBF55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Definição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4CC35D5-9B95-49C5-BB91-CF5E8B5E68D2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Uma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linguagem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programação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é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linguagem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formal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usada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para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expressar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computações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maneira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precisa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o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suficiente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para ser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analisada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traduzida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ou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executada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por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um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sistema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computacional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B6B2090-3D84-4382-8E29-1C972E08A3FD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Possui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sintaxe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regras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formação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Possui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semântica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significado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das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construções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Permite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representar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dados,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operações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decisões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repetições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5774472-B651-289A-9337-408845735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615759EB-BBDA-4854-A7C0-D8FE4DA6BFC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6834679-C3F5-45D8-85D6-74D3CFACCFF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Abstraçã</a:t>
            </a:r>
            <a:r>
              <a:rPr lang="pt-BR"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o</a:t>
            </a:r>
            <a:endParaRPr sz="28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B5F78CE-7617-4BF5-8DD7-919C6D74351D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8AB07C1-A5E4-47D6-A75E-FBDC11D19708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8BDF78C-7785-4EF1-8486-C63CC6BEB35C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9F4D750-70AA-41CB-B62B-E1905D115924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Abstração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16EC7E3-84A6-4C2E-96D6-0E4FB894BD6F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Abstrair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é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trabalhar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com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representação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que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evidencia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o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necessário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para o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problema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oculta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detalhes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dispensáveis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naquele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momento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90693BF-B678-4465-8569-B4E59FA8A4B0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detalhes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desaparecem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delegados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a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bibliotecas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runtimes,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compiladores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sistema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operacional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hardware.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Uma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abstração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permite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pensar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no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domínio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sem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controlar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cada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instrução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do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processador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5B5A314-D2A7-4856-6EC8-0DABC3C75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56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45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6607DC1E-DFA3-4608-857A-A401F791686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BCE607E-CE84-4715-8191-AD184D4ABD8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As camadas aproximam o problema da máquina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F2E1FCC-9D1D-41F9-B9B6-BFBA6975E4CA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0936FD9-02D5-423B-90D7-53DBDF3AB651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9BA0092-8D1A-409D-BD57-BDD5DDF481EE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2141220" cy="2381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92885E6-E3DC-4727-9A77-8A4E5FCCB2F2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17602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DAE2EBA-1726-49BE-8C8D-0FFEDD99D646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17602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78BF2AC-DFB0-4238-BFF3-B3BB2B057DD4}"/>
              </a:ext>
            </a:extLst>
          </p:cNvPr>
          <p:cNvSpPr>
            <a:spLocks noGrp="1"/>
          </p:cNvSpPr>
          <p:nvPr/>
        </p:nvSpPr>
        <p:spPr>
          <a:xfrm>
            <a:off x="590550" y="3524250"/>
            <a:ext cx="176022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Regras e objetivos do mundo real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692C081-25D2-4CC7-BE31-6917CD06647F}"/>
              </a:ext>
            </a:extLst>
          </p:cNvPr>
          <p:cNvSpPr>
            <a:spLocks noGrp="1"/>
          </p:cNvSpPr>
          <p:nvPr/>
        </p:nvSpPr>
        <p:spPr>
          <a:xfrm>
            <a:off x="2712720" y="2190750"/>
            <a:ext cx="2141220" cy="2381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1CC35EB-895B-4010-92AB-F6AE9F2223C6}"/>
              </a:ext>
            </a:extLst>
          </p:cNvPr>
          <p:cNvSpPr>
            <a:spLocks noGrp="1"/>
          </p:cNvSpPr>
          <p:nvPr/>
        </p:nvSpPr>
        <p:spPr>
          <a:xfrm>
            <a:off x="2903220" y="2381250"/>
            <a:ext cx="17602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C98D8A0-B49C-462F-B560-4CD6EBDA0932}"/>
              </a:ext>
            </a:extLst>
          </p:cNvPr>
          <p:cNvSpPr>
            <a:spLocks noGrp="1"/>
          </p:cNvSpPr>
          <p:nvPr/>
        </p:nvSpPr>
        <p:spPr>
          <a:xfrm>
            <a:off x="2903220" y="2857500"/>
            <a:ext cx="17602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Aplicação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F5527BD-7455-46E7-A9AC-1E3978200B23}"/>
              </a:ext>
            </a:extLst>
          </p:cNvPr>
          <p:cNvSpPr>
            <a:spLocks noGrp="1"/>
          </p:cNvSpPr>
          <p:nvPr/>
        </p:nvSpPr>
        <p:spPr>
          <a:xfrm>
            <a:off x="2903220" y="3524250"/>
            <a:ext cx="176022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Modelo construído pelo programador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288461B-1D2B-4E77-81F8-9C3F36E99953}"/>
              </a:ext>
            </a:extLst>
          </p:cNvPr>
          <p:cNvSpPr>
            <a:spLocks noGrp="1"/>
          </p:cNvSpPr>
          <p:nvPr/>
        </p:nvSpPr>
        <p:spPr>
          <a:xfrm>
            <a:off x="5025390" y="2190750"/>
            <a:ext cx="2141220" cy="2381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4BE3ED6-D7BF-498B-842B-0E88614C2DB7}"/>
              </a:ext>
            </a:extLst>
          </p:cNvPr>
          <p:cNvSpPr>
            <a:spLocks noGrp="1"/>
          </p:cNvSpPr>
          <p:nvPr/>
        </p:nvSpPr>
        <p:spPr>
          <a:xfrm>
            <a:off x="5215890" y="2381250"/>
            <a:ext cx="17602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4DCCED5-68AA-4302-AA6F-F8BE7FF19DBE}"/>
              </a:ext>
            </a:extLst>
          </p:cNvPr>
          <p:cNvSpPr>
            <a:spLocks noGrp="1"/>
          </p:cNvSpPr>
          <p:nvPr/>
        </p:nvSpPr>
        <p:spPr>
          <a:xfrm>
            <a:off x="5215890" y="2857500"/>
            <a:ext cx="17602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Linguagem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98C5849-6FF0-4B2E-A6C0-1217E34E8F69}"/>
              </a:ext>
            </a:extLst>
          </p:cNvPr>
          <p:cNvSpPr>
            <a:spLocks noGrp="1"/>
          </p:cNvSpPr>
          <p:nvPr/>
        </p:nvSpPr>
        <p:spPr>
          <a:xfrm>
            <a:off x="5215890" y="3524250"/>
            <a:ext cx="176022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Abstrações e estruturas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B54C8D6-A5CE-42D2-AD10-378E278228FA}"/>
              </a:ext>
            </a:extLst>
          </p:cNvPr>
          <p:cNvSpPr>
            <a:spLocks noGrp="1"/>
          </p:cNvSpPr>
          <p:nvPr/>
        </p:nvSpPr>
        <p:spPr>
          <a:xfrm>
            <a:off x="7338060" y="2190750"/>
            <a:ext cx="2141220" cy="2381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1D33BAB-1743-4F5C-AD8B-FE5DB4683FB8}"/>
              </a:ext>
            </a:extLst>
          </p:cNvPr>
          <p:cNvSpPr>
            <a:spLocks noGrp="1"/>
          </p:cNvSpPr>
          <p:nvPr/>
        </p:nvSpPr>
        <p:spPr>
          <a:xfrm>
            <a:off x="7528560" y="2381250"/>
            <a:ext cx="17602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914C6BE-8BBD-4017-BDBD-FDA64429840A}"/>
              </a:ext>
            </a:extLst>
          </p:cNvPr>
          <p:cNvSpPr>
            <a:spLocks noGrp="1"/>
          </p:cNvSpPr>
          <p:nvPr/>
        </p:nvSpPr>
        <p:spPr>
          <a:xfrm>
            <a:off x="7528560" y="2857500"/>
            <a:ext cx="17602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ISA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AD8BBAB-E26D-4613-9E74-851AFC386E72}"/>
              </a:ext>
            </a:extLst>
          </p:cNvPr>
          <p:cNvSpPr>
            <a:spLocks noGrp="1"/>
          </p:cNvSpPr>
          <p:nvPr/>
        </p:nvSpPr>
        <p:spPr>
          <a:xfrm>
            <a:off x="7528560" y="3524250"/>
            <a:ext cx="176022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Instruções reconhecidas pela arquitetura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E18E985-B38D-4AED-8871-BC54AB6A8B74}"/>
              </a:ext>
            </a:extLst>
          </p:cNvPr>
          <p:cNvSpPr>
            <a:spLocks noGrp="1"/>
          </p:cNvSpPr>
          <p:nvPr/>
        </p:nvSpPr>
        <p:spPr>
          <a:xfrm>
            <a:off x="9650730" y="2190750"/>
            <a:ext cx="2141220" cy="2381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9198341-BE73-4338-ADB0-42D28D3C2431}"/>
              </a:ext>
            </a:extLst>
          </p:cNvPr>
          <p:cNvSpPr>
            <a:spLocks noGrp="1"/>
          </p:cNvSpPr>
          <p:nvPr/>
        </p:nvSpPr>
        <p:spPr>
          <a:xfrm>
            <a:off x="9841230" y="2381250"/>
            <a:ext cx="17602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1000471-357A-48C6-A07E-54772B08E50D}"/>
              </a:ext>
            </a:extLst>
          </p:cNvPr>
          <p:cNvSpPr>
            <a:spLocks noGrp="1"/>
          </p:cNvSpPr>
          <p:nvPr/>
        </p:nvSpPr>
        <p:spPr>
          <a:xfrm>
            <a:off x="9841230" y="2857500"/>
            <a:ext cx="17602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730F07C-CC42-497D-9364-9132DDEACF40}"/>
              </a:ext>
            </a:extLst>
          </p:cNvPr>
          <p:cNvSpPr>
            <a:spLocks noGrp="1"/>
          </p:cNvSpPr>
          <p:nvPr/>
        </p:nvSpPr>
        <p:spPr>
          <a:xfrm>
            <a:off x="9841230" y="3524250"/>
            <a:ext cx="176022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Microarquitetura e circuitos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3A57462-D13A-4C30-8FD6-4EDA5349D0B5}"/>
              </a:ext>
            </a:extLst>
          </p:cNvPr>
          <p:cNvSpPr>
            <a:spLocks noGrp="1"/>
          </p:cNvSpPr>
          <p:nvPr/>
        </p:nvSpPr>
        <p:spPr>
          <a:xfrm>
            <a:off x="400050" y="5029200"/>
            <a:ext cx="11391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650" b="1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46E"/>
                </a:solidFill>
                <a:latin typeface="Arial"/>
                <a:ea typeface="Arial"/>
                <a:cs typeface="Arial"/>
              </a:rPr>
              <a:t>Quanto mais descemos, mais detalhes concretos de execução aparecem.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299CA36B-A435-5A89-73CB-9B9D203EE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032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67672630-635A-4559-B398-2E222F3B176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D978B58-9DF9-4D12-AA86-889EDDC6DCF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Linguagens de baixo nível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9021CAD-F546-4743-9CAC-A5870CBFE94C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DFD5D57-949C-4627-87C6-0B559CE2A989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21089CD-E1AD-407E-8DDE-844616B68A74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E37A3DB-CE15-4575-8666-C3A833F0052E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Baixo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CBD5AD7-2CB1-4A38-AC5D-66F681C63152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Uma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linguagem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baixo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nível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possui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pequena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distância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conceitual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em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relação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à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arquitetura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da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máquina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expõe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detalhes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registradores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endereços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instruções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tamanho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dos dados.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4227DF-5D8D-4A38-AECA-DAF6C98B6AA2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Linguagem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máquina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instruções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codificadas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segundo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ISA.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Assembly: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representação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textual 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simbólica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dessas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instruções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“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Baixo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”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significa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baixo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nível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abstração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—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baixa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qualidade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C19C0E7-FB40-A69D-6F7A-9E4331326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7818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7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32D7C491-9A3C-427F-978F-98FEDD1DF18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12E853A-0B54-46B0-9D0F-E52D6AF6DC62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Assembly descreve operações próximas ao processador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82FB2E4-6F2F-439B-B399-03DE61177DAB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A658E32-A388-466E-B1F5-EF5E3662532A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0ED4D5E-0F1A-4C0D-BE4B-E37E9E51D946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3476625"/>
          </a:xfrm>
          <a:prstGeom prst="roundRect">
            <a:avLst>
              <a:gd name="adj" fmla="val 2192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ABB0F6D-940A-4B45-A22F-5156BF8C18D2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mov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eax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, 5      ;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coloca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5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em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eax</a:t>
            </a:r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add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eax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, 3      ; soma 3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ao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valor de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eax</a:t>
            </a:r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endParaRPr sz="24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;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resultado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eax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contém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8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E653C4B-1326-47BA-9EB3-6365D6B06CEE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11144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Registradores e instruções aparecem explicitamente. O código depende da arquitetura e da sintaxe usada.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7CB3D85-292A-7B7E-389B-F1474E8C8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0" y="6057900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16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AC8B02A8-6445-49BB-95C2-E8E34BC97455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7C9FB62-5293-4B53-95BE-7087E4834956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Linguagens de alto nível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E79DD1C-41A6-45BF-99CD-F0851F2E124E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EFD29DB-CE89-4041-9778-DD29857253A7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CB5B4D9-70AC-42DE-856A-ECCA774C2163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D11A69B-350F-4E95-97B4-7FD3F3D5E219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Alto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54DEC99-2756-4FEA-AFB8-4893C0E25D4A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Uma linguagem de alto nível oferece construções mais próximas dos conceitos do problema e abstrai grande parte dos detalhes específicos do hardware.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19BC9B7-D49F-458A-B764-7ACFF5CFF281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Oferece strings, coleções, funções, objetos, módulos e exceções.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Favorece legibilidade, produtividade, portabilidade e manutenção.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C também é de alto nível em relação a Assembly, embora exponha mecanismos próximos da memória.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523146E-1656-9089-1A3F-C5C8E40F8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81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331727D9-98C3-4B68-9FAB-9BF52F3D5EF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E77CD6C-19F0-49E6-BB97-0F98F78FEB5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 mesma intenção, níveis diferentes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636373-300D-45A1-A981-E9D413E88EA0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5D8557E-9AE6-4F78-952B-7BA9F410CAD4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504B52A-4A04-45DB-88A5-D1D62BE8BCD1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4C116BE-283E-4080-813B-1E5DFA2C14E2}"/>
              </a:ext>
            </a:extLst>
          </p:cNvPr>
          <p:cNvSpPr>
            <a:spLocks noGrp="1"/>
          </p:cNvSpPr>
          <p:nvPr/>
        </p:nvSpPr>
        <p:spPr>
          <a:xfrm>
            <a:off x="6191250" y="16002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Assembly x86-64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5B9E6A8-429C-438A-9A88-9B0C2120726D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542925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3CD427A-A7E3-4652-9119-73E882669189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569595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D2B6119-5913-4F6A-A71D-AB91AC2502A0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49530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numeros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= [10, 20, 30, 40]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total = sum(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numeros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print(total)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D4C3CEF-023C-4F70-BC11-F980E1351E40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52197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xor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eax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eax</a:t>
            </a:r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xor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ecx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ecx</a:t>
            </a:r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repetir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:</a:t>
            </a:r>
          </a:p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cmp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ecx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, 4</a:t>
            </a:r>
          </a:p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jge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fim</a:t>
            </a:r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add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eax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, [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numeros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+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ecx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*4]</a:t>
            </a:r>
          </a:p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inc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ecx</a:t>
            </a:r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jmp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repetir</a:t>
            </a:r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fim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:</a:t>
            </a:r>
          </a:p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ret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8C25946-C40B-ABC0-EAFE-56BED5F4A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02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B54BF102-0996-4FEE-9A7C-406FC912C8A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E841354-EA15-4E4A-B258-C89F42FE92A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Controle </a:t>
            </a:r>
            <a:r>
              <a:rPr lang="pt-BR"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vs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abstraçã</a:t>
            </a:r>
            <a:endParaRPr sz="28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C7DFF74-1421-42EF-B9EE-68BB2517D16A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0D2ED0-E502-4822-B3E5-91F19A92DE57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637478D-318C-497B-82FF-18CBABB004C9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5429250" cy="4286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70CB44E-6D93-4122-82B1-8C1AAD305FD0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5695950" cy="4286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1FC815F-78EE-4CA6-AD9E-7D1AD5426CD8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Baixo nível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D686303-2BC4-4FEE-8D31-0E1BF3BEB4A1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4857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Controle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explícito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registradores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memória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Dependência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maior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da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arquitetura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Mais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responsabilidade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do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programador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Útil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em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firmware, kernels, drivers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rotinas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especializadas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796B601-C5A3-4D2A-9693-1C0A399D35AA}"/>
              </a:ext>
            </a:extLst>
          </p:cNvPr>
          <p:cNvSpPr>
            <a:spLocks noGrp="1"/>
          </p:cNvSpPr>
          <p:nvPr/>
        </p:nvSpPr>
        <p:spPr>
          <a:xfrm>
            <a:off x="6362700" y="19240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Alto nível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8A9E536-89C1-49DA-AB4A-D84E8A7B9A11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5048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Foco no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domínio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do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problema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Maior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produtividade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portabilidade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Mais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mecanismos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proteção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Útil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em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sistemas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empresariais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web, dados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automação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C66EA92-DB91-B07C-1960-9A7E91703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623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122D8E2-DDF6-4220-98FF-9EA6E2ABCBA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075BF57-9013-412B-8343-408236193924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Comparação</a:t>
            </a:r>
            <a:endParaRPr sz="28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420A40E-033C-4220-BBD6-5668615BCA46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66CF043-859C-4E28-A06D-5F6E285E7B2C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Tabela 9"/>
          <p:cNvGraphicFramePr/>
          <p:nvPr>
            <p:extLst>
              <p:ext uri="{D42A27DB-BD31-4B8C-83A1-F6EECF244321}">
                <p14:modId xmlns:p14="http://schemas.microsoft.com/office/powerpoint/2010/main" val="2077822602"/>
              </p:ext>
            </p:extLst>
          </p:nvPr>
        </p:nvGraphicFramePr>
        <p:xfrm>
          <a:off x="400050" y="1714500"/>
          <a:ext cx="11391900" cy="4150722"/>
        </p:xfrm>
        <a:graphic>
          <a:graphicData uri="http://schemas.openxmlformats.org/drawingml/2006/table">
            <a:tbl>
              <a:tblPr firstRow="1" bandRow="1"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r>
                        <a:rPr sz="1800" b="1" dirty="0" err="1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 sz="18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Mais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</a:rPr>
                        <a:t>baixo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</a:rPr>
                        <a:t>nível</a:t>
                      </a:r>
                      <a:endParaRPr sz="18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Mais alto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</a:rPr>
                        <a:t>nível</a:t>
                      </a:r>
                      <a:endParaRPr sz="18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21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Proximidade</a:t>
                      </a:r>
                      <a:r>
                        <a:rPr sz="1800" dirty="0">
                          <a:solidFill>
                            <a:srgbClr val="10212B"/>
                          </a:solidFill>
                        </a:rPr>
                        <a:t> do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Maior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Menor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0212B"/>
                          </a:solidFill>
                        </a:rPr>
                        <a:t>Controle </a:t>
                      </a:r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explícito</a:t>
                      </a:r>
                      <a:endParaRPr sz="18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Maior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Geralmente delegado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Portabilidade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Geralmente</a:t>
                      </a:r>
                      <a:r>
                        <a:rPr sz="18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menor</a:t>
                      </a:r>
                      <a:endParaRPr sz="18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Geralmente maior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Produtividade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0212B"/>
                          </a:solidFill>
                        </a:rPr>
                        <a:t>Menor </a:t>
                      </a:r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em</a:t>
                      </a:r>
                      <a:r>
                        <a:rPr sz="18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aplicações</a:t>
                      </a:r>
                      <a:r>
                        <a:rPr sz="18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comuns</a:t>
                      </a:r>
                      <a:endParaRPr sz="18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Geralmente maior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Segurança de memória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0212B"/>
                          </a:solidFill>
                        </a:rPr>
                        <a:t>Mais </a:t>
                      </a:r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responsabilidade</a:t>
                      </a:r>
                      <a:r>
                        <a:rPr sz="1800" dirty="0">
                          <a:solidFill>
                            <a:srgbClr val="10212B"/>
                          </a:solidFill>
                        </a:rPr>
                        <a:t>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Pode oferecer verificações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Desempenho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0212B"/>
                          </a:solidFill>
                        </a:rPr>
                        <a:t>Controle </a:t>
                      </a:r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fino</a:t>
                      </a:r>
                      <a:r>
                        <a:rPr sz="18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potencial</a:t>
                      </a:r>
                      <a:endParaRPr sz="18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0212B"/>
                          </a:solidFill>
                        </a:rPr>
                        <a:t>Pode ser </a:t>
                      </a:r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excelente</a:t>
                      </a:r>
                      <a:r>
                        <a:rPr sz="1800" dirty="0">
                          <a:solidFill>
                            <a:srgbClr val="10212B"/>
                          </a:solidFill>
                        </a:rPr>
                        <a:t> com </a:t>
                      </a:r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compiladores</a:t>
                      </a:r>
                      <a:r>
                        <a:rPr sz="1800" dirty="0">
                          <a:solidFill>
                            <a:srgbClr val="10212B"/>
                          </a:solidFill>
                        </a:rPr>
                        <a:t> e </a:t>
                      </a:r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bibliotecas</a:t>
                      </a:r>
                      <a:endParaRPr sz="18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3B39D2C8-8F80-EC4E-F0BC-D69F89BF9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0545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27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8D7F197F-587B-47B5-9DD6-E205CB457C8A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D1EE261-13D0-4167-BC4F-C67E0915DDA3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 escolha é guiada pelos requisitos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2AD58CD-855C-45EA-9AC1-A0060E34DD16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778E98A-6DE8-463D-9C61-759D4A009301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DA653BC-76A5-4C9E-9F6C-197C5827C07E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Pergunte</a:t>
            </a:r>
            <a:r>
              <a:rPr sz="18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antes de </a:t>
            </a:r>
            <a:r>
              <a:rPr sz="18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escolher</a:t>
            </a:r>
            <a:r>
              <a:rPr sz="18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7457692-64DD-482A-99CA-A80C32E4227F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057275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Qual é o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prazo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qual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experiência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a equipe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possui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O hardware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tem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pouca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memória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ou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energia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O tempo de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resposta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precisa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ser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previsível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Quais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bibliotecas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ferramentas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já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existem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O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sistema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precisa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ser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portável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mantido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por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muitos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anos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Quais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riscos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segurança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confiabilidade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são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aceitáveis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3855F5F-6079-B069-8373-978672E11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30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0EE152EF-88C5-4174-844A-F9600463E3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2E8B7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56FD638-E052-4BFB-B873-D6BA7387714D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BLOCO 2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C5F1F85-FEA7-4C76-B224-7E653FFBBBEC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10191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9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Paradigmas de programação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0303594-FF80-4186-ADD3-C62E8BFCBEB3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8572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O mesmo problema pode ser compreendido como passos, objetos, funções ou propriedades do resultado.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08CB34C-A179-4FA8-9A14-733818B14F8F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A0D1B92-7570-6E7A-5D13-A74A08105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76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704EE311-E0B5-4547-9727-6525BD2D0AA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35DB5E-3AD8-450D-93AA-FC3D8996D97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 que significa paradigma?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73E6F47-C414-4994-9028-8863E6E0E4F4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D9C7326-7E6A-42BD-9990-327AC19C9AF9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03792BD-C154-49B6-A5BF-B393539988BE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EAF5F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A1198DF-7F0E-497C-9466-852A8B200AEA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Paradigma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287BFE0-22B5-4761-82F3-0558CAE2BBD1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 paradigma é um modelo ou referencial que orienta como compreendemos uma realidade, formulamos perguntas e organizamos soluções.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C9193B4-6904-4214-A6E0-8C22D10012E7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Na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ele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influencia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dados,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estado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controle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decomposição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6F5B60B-5CB5-8061-C527-01B357514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0545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180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15A33A4E-303E-4D22-AA87-3BE62150AF9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E087AEC-AE6F-4FE2-8537-640DBBD01F72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Paradigma de programação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B72A702-FACA-4BDF-BEDE-A69A533F7751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C91654F-8FFC-4DDF-8790-D7DF3B5D358F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FFA3967-933F-422A-A16E-524B992C9F02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EAF5F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D87B202-0910-4A88-B938-B8B81040294F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Definição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E32C2FC-4BC2-4A16-B5BF-14488441DB19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Paradigma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programação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é um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modelo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pensamento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que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orienta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representamos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problemas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estruturamos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suas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soluções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em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A549D8F-7B32-481E-8E65-C8E8300E63E7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Estruturado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 quais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passos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decisões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POO: quais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objetos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responsabilidades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Funcional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 quais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transformações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Declarativo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 qual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resultado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ou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relação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desejamos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15E1C22-4431-A87E-91AE-7C6C89D19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5050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66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B6A59847-8CCD-4EDE-93BC-3F3CB22B4E1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95E1136-E9CC-4044-B43F-57009873DA9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Linguagem e paradigma não são sinônimos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85B49CB-5E73-43CF-A1A6-A3ECBFF47D74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D15003E-A745-44D2-9F4A-4E55D31B7919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402BB0A-1914-4D03-8B14-90A1FD93EDA7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5429250" cy="4286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0127C4C-6578-4026-8B42-6A35AD9ABF97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5695950" cy="4286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4A1CD6F-09DB-47CA-95B1-8D15BC898621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Linguagem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689B6EB-78D9-4C70-BD31-19C985DC368F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4857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Sistema formal com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sintaxe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semântica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tipos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operadores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mecanismos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execução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20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Exemplos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 Java, Python, C, JavaScript, SQL.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723779C-7EA5-40DF-B481-4694C775569F}"/>
              </a:ext>
            </a:extLst>
          </p:cNvPr>
          <p:cNvSpPr>
            <a:spLocks noGrp="1"/>
          </p:cNvSpPr>
          <p:nvPr/>
        </p:nvSpPr>
        <p:spPr>
          <a:xfrm>
            <a:off x="6362700" y="19240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Paradigma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D4DCDCB-53AF-4B4B-9A38-5D6CE7138671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5048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Abordagem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para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pensar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organizar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soluções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Exemplos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estruturado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orientado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a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objetos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funcional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lógico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declarativo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2CDE227-0526-7E22-7C47-857CC3AB4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0545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05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760689FA-35AB-419B-9C57-DD46C1F69263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8A4A882-3EC2-4D2C-A59F-6002A6D059E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 mesma linguagem pode expressar estilos diferentes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A327D79-09FC-4C59-A460-67EC5852D3AE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1E6B09B-514A-4BED-BB70-B0EAA8413FE9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D006882-FA47-454F-84BA-1A8CB565C964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JavaScript imperativo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4AEDD59-135E-4438-BE15-66B9DBD9A28F}"/>
              </a:ext>
            </a:extLst>
          </p:cNvPr>
          <p:cNvSpPr>
            <a:spLocks noGrp="1"/>
          </p:cNvSpPr>
          <p:nvPr/>
        </p:nvSpPr>
        <p:spPr>
          <a:xfrm>
            <a:off x="6191250" y="16002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JavaScript funcional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02A1D0C-1C61-4632-9A2F-BF4ABAEAEB3F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542925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9F2C5EB-29F2-4B44-9D43-0AD77B0F9C9B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569595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35AACB4-610B-4672-87F8-A06761160586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49530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const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aprovados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= [];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for (const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aluno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of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alunos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)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if (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aluno.media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&gt;= 7)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aprovados.push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aluno.nome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6967352-74C4-4312-90A5-6D6FF8CCC19E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52197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const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aprovados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alunos</a:t>
            </a:r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.filter(a =&gt;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a.media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&gt;= 7)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.map(a =&gt;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a.nome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);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60D597B-3567-D78B-945E-0E65F717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72132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92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7A6F328-C970-435E-8273-13225752B685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B33F812-B258-40FD-B4CB-E05F61631E45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Linguagens modernas são frequentemente multiparadigma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4AD88EF-061B-4B8E-97BE-1BEABDCE01E9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05C0450-19CB-4E8A-851A-DB9D2F8354C6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10" name="Tabela 9"/>
          <p:cNvGraphicFramePr/>
          <p:nvPr>
            <p:extLst>
              <p:ext uri="{D42A27DB-BD31-4B8C-83A1-F6EECF244321}">
                <p14:modId xmlns:p14="http://schemas.microsoft.com/office/powerpoint/2010/main" val="114475229"/>
              </p:ext>
            </p:extLst>
          </p:nvPr>
        </p:nvGraphicFramePr>
        <p:xfrm>
          <a:off x="400050" y="1714500"/>
          <a:ext cx="11391900" cy="4095752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969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Linguagem</a:t>
                      </a:r>
                    </a:p>
                  </a:txBody>
                  <a:tcPr>
                    <a:solidFill>
                      <a:srgbClr val="10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</a:rPr>
                        <a:t>Abordagens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</a:rPr>
                        <a:t>relevantes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21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Imperativa, procedural e estruturada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Estruturada, orientada a objetos e elementos funcionais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Imperativa, objetos, funcional e eventos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Procedural, objetos e elementos funcionais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Haskell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Predominantemente funcional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Prolog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Lógica e declarativa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12B"/>
                          </a:solidFill>
                        </a:rPr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Predominantemente</a:t>
                      </a:r>
                      <a:r>
                        <a:rPr sz="1800" dirty="0">
                          <a:solidFill>
                            <a:srgbClr val="10212B"/>
                          </a:solidFill>
                        </a:rPr>
                        <a:t> </a:t>
                      </a:r>
                      <a:r>
                        <a:rPr sz="1800" dirty="0" err="1">
                          <a:solidFill>
                            <a:srgbClr val="10212B"/>
                          </a:solidFill>
                        </a:rPr>
                        <a:t>declarativa</a:t>
                      </a:r>
                      <a:endParaRPr sz="18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7C429837-A882-8E5F-B032-4C522CA0F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852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68CB415B-D014-4D9A-9946-9C3F1772704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ECB5F33-65A7-46BB-B133-24B1D19CCAD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Duas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grandes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famílias</a:t>
            </a:r>
            <a:endParaRPr sz="28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AA7EF5A-45F3-47C6-B62B-035FC377EF68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5FBDCAA-1A2F-4BFB-9848-C6125951E23F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C47359C-06D7-4494-A3CA-1AB9538F6BC5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5429250" cy="4286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5BDBF4E-400F-4BE5-BC01-AC7EEEE6845F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5695950" cy="4286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567D868-277C-4A9C-B55E-01315DAB3117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Imperativa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E0E57BE-F5C5-4ACD-9A89-71873F59588C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4857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O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expressa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comandos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que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modificam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o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estado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longo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do tempo.</a:t>
            </a:r>
          </a:p>
          <a:p>
            <a:endParaRPr sz="1575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“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Faça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isto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;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depois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aquilo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.”</a:t>
            </a:r>
          </a:p>
          <a:p>
            <a:endParaRPr sz="1575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Inclui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estruturada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procedural e grande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parte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da POO.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195CE7A-833B-4232-92BA-928D776365ED}"/>
              </a:ext>
            </a:extLst>
          </p:cNvPr>
          <p:cNvSpPr>
            <a:spLocks noGrp="1"/>
          </p:cNvSpPr>
          <p:nvPr/>
        </p:nvSpPr>
        <p:spPr>
          <a:xfrm>
            <a:off x="6362700" y="19240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Declarativa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26AF743-5B5C-400B-B77D-DAB10F2152D0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5048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O programa descreve propriedades, relações ou transformações desejadas e delega mais decisões ao mecanismo de execução.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“Quero este resultado.”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F172B61-F3E1-6AC7-6E02-383100619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0861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60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065B48E-09B9-4A78-9BDE-9DEFECE8B5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D243497-FB88-44A0-82C8-176E51488ED8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PARADIGMA 1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E7BB07D-891D-4645-BB36-C61AFD64CFCF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10191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9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Orientação a objetos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92B9BC7-03AC-4FC1-B603-9544552BD716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8572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O sistema é organizado como objetos com estado, comportamento, identidade e responsabilidades.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034F258-662C-49FF-A62A-03B0E3CABF3D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3B6CA0C-6066-EC3D-9F9B-07C5EDBD7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30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BC6EBCF4-0F2B-4BA2-8FA7-F36FB0D7EB5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EB591F3-E788-4B7E-9D1E-EC0C6C9BD2C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Objeto: três dimensões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1A72E69-8455-4D19-874F-0DB2A163257A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EBB41A6-6D1F-4273-AC8D-A1A0A04A23A0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8B7E313-6748-40B7-8BB5-476DA1073924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BAAC40C-4F30-4263-918C-7DFCB379CEC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Objeto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6FD593D-3BAB-4857-B745-BB83F055A174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 objeto reúne estado e comportamento e possui identidade própria dentro do sistema.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8F2BEE0-8241-4A19-A25B-87991F204801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Estado: dados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atuais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—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saldo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titular,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limite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Comportamento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operações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—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depositar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sacar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transferir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Identidade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 duas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contas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com o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mesmo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saldo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ainda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entidades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distintas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824D80F-090E-3C06-7B61-758D0FA94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0545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76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8E6BC816-7010-4055-8028-3BE1D356BC4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75D28B1-0DFE-4FE6-8E7B-BAA971BE8F2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Classe define;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objetos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são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instâncias</a:t>
            </a:r>
            <a:endParaRPr sz="28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31007D2-97D5-4075-8EFA-073BF799FA42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D90BEF1-BF0A-441E-AFA5-2FB0D86E2994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5F0228D-F854-4352-9822-B2426A13E402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3476625"/>
          </a:xfrm>
          <a:prstGeom prst="roundRect">
            <a:avLst>
              <a:gd name="adj" fmla="val 2192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5C363D-CA42-40C3-8822-0FFC5935BC5C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class ContaBancaria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private String titular;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private double saldo;</a:t>
            </a:r>
          </a:p>
          <a:p>
            <a:endParaRPr sz="1350" b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public void depositar(double valor)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  if (valor &gt; 0) saldo += valor;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endParaRPr sz="1350" b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ContaBancaria a = new ContaBancaria();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ContaBancaria b = new ContaBancaria();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C086EAC-27E3-4EC7-8C27-486284A26736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11144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A classe descreve estrutura e comportamento; a e b representam objetos distintos.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592B544-0A5A-9051-1EF6-BA7802D1C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7900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3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383A9545-EEEE-47B7-92FC-9DCA2ACE92C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2CF86A3-E33D-4690-AA68-D78132E74858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Encapsulamento e abstração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87A5DE6-B5F2-482F-B2AF-CECCB1D08377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A21FCA9-31CC-4359-AD61-EC1F5AA71F3F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B015B98-2393-4AD5-8508-C536665C82D7}"/>
              </a:ext>
            </a:extLst>
          </p:cNvPr>
          <p:cNvSpPr>
            <a:spLocks noGrp="1"/>
          </p:cNvSpPr>
          <p:nvPr/>
        </p:nvSpPr>
        <p:spPr>
          <a:xfrm>
            <a:off x="395177" y="1657350"/>
            <a:ext cx="5429250" cy="4286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E878C4A-4440-466C-8D3F-06121894A337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5695950" cy="4286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80ADCDF-2E0D-444A-BBE1-876831888D65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Encapsulamento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649A91B-E2FE-40FB-B92D-9923FC29858D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4857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Reúne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dados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operações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controla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o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estado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interno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pode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ser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acessado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É a forma como um objeto pode expõe ou permite a manipulação de seus atributos e métodos. 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6EAEDB7-BCE7-460F-A5C9-7621E785B846}"/>
              </a:ext>
            </a:extLst>
          </p:cNvPr>
          <p:cNvSpPr>
            <a:spLocks noGrp="1"/>
          </p:cNvSpPr>
          <p:nvPr/>
        </p:nvSpPr>
        <p:spPr>
          <a:xfrm>
            <a:off x="6362700" y="19240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Abstração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424C84-FF79-4C9E-98D4-99FA1B486689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5048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Oferece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interface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relevante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esconde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detalhes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internos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conta.transferir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(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destino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200)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não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exige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conhecer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todos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passos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internos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D3F31D3-8F6E-550C-2D97-CC41DEC92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38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ABDFAAF4-DDB8-4E61-B524-DC42E5C0F46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CB3A287-0F55-4FD0-B622-86EAFD6AA02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Composição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herança</a:t>
            </a:r>
            <a:endParaRPr sz="28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EE57C3D-67E8-4CBE-85C1-E1F1B49416F6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4C0E2AD-6B5F-4EBB-AA9B-4BE35E4CF0DC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3E1B957-3F53-46C8-B37A-42D7A2C858AA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5429250" cy="4286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56D47B1-28B6-4CC3-B68C-3D4A21C36B24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5695950" cy="4286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1AD60B7-6B92-4966-8071-2811688AA759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950" b="1" dirty="0" err="1">
                <a:solidFill>
                  <a:srgbClr val="1565C0"/>
                </a:solidFill>
                <a:latin typeface="Arial"/>
                <a:ea typeface="Arial"/>
                <a:cs typeface="Arial"/>
              </a:rPr>
              <a:t>Composição</a:t>
            </a:r>
            <a:r>
              <a:rPr sz="1950" b="1" dirty="0">
                <a:solidFill>
                  <a:srgbClr val="1565C0"/>
                </a:solidFill>
                <a:latin typeface="Arial"/>
                <a:ea typeface="Arial"/>
                <a:cs typeface="Arial"/>
              </a:rPr>
              <a:t> — “</a:t>
            </a:r>
            <a:r>
              <a:rPr sz="1950" b="1" dirty="0" err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possui</a:t>
            </a:r>
            <a:r>
              <a:rPr sz="1950" b="1" dirty="0">
                <a:solidFill>
                  <a:srgbClr val="1565C0"/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A72CF72-255E-4F8E-9B7A-948F7D0A368B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4857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Um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Pedido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possui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Cliente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itens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estratégia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</a:t>
            </a:r>
            <a:r>
              <a:rPr lang="pt-BR"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realização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973177C-1DDD-4007-8E87-F56E2326B60C}"/>
              </a:ext>
            </a:extLst>
          </p:cNvPr>
          <p:cNvSpPr>
            <a:spLocks noGrp="1"/>
          </p:cNvSpPr>
          <p:nvPr/>
        </p:nvSpPr>
        <p:spPr>
          <a:xfrm>
            <a:off x="6362700" y="19240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95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Herança</a:t>
            </a:r>
            <a:r>
              <a:rPr sz="195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 — “é um </a:t>
            </a:r>
            <a:r>
              <a:rPr sz="195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tipo</a:t>
            </a:r>
            <a:r>
              <a:rPr sz="195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 de”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EA0B539-97D5-4970-8CD9-138EFBF2A6EA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5048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ContaCorrente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é um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tipo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Conta.</a:t>
            </a:r>
          </a:p>
          <a:p>
            <a:endParaRPr sz="1575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Pode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favorecer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especialização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polimorfismo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mas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hierarquias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profundas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aumentam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o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acoplamento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7E040A4-FD48-93A6-9408-0405BFB70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5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89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7D6FDDF7-F076-475E-ACFB-662F44ED84F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3F24E3B-0EB4-4022-8EB6-240D964F180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Polimorfismo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permite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trocar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implementações</a:t>
            </a:r>
            <a:endParaRPr sz="28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646230D-0650-40FE-A15E-B03FF1F1A22E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56FE892-745C-44C8-9970-CD0271CB7E58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F6191E9-78E5-401B-95AE-EA813CCFD50B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3476625"/>
          </a:xfrm>
          <a:prstGeom prst="roundRect">
            <a:avLst>
              <a:gd name="adj" fmla="val 2192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CB59FCF-9562-450E-8C6D-9A6B094685DD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interface </a:t>
            </a:r>
            <a:r>
              <a:rPr sz="135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FormaPagamento</a:t>
            </a: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void </a:t>
            </a:r>
            <a:r>
              <a:rPr sz="135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pagar</a:t>
            </a: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(double valor);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endParaRPr sz="135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class </a:t>
            </a:r>
            <a:r>
              <a:rPr sz="135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PagamentoPix</a:t>
            </a: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implements </a:t>
            </a:r>
            <a:r>
              <a:rPr sz="135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FormaPagamento</a:t>
            </a: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{ ... }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class </a:t>
            </a:r>
            <a:r>
              <a:rPr sz="135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PagamentoCartao</a:t>
            </a: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implements </a:t>
            </a:r>
            <a:r>
              <a:rPr sz="135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FormaPagamento</a:t>
            </a: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{ ... }</a:t>
            </a:r>
          </a:p>
          <a:p>
            <a:endParaRPr sz="135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void </a:t>
            </a:r>
            <a:r>
              <a:rPr sz="135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finalizar</a:t>
            </a: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35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FormaPagamento</a:t>
            </a: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35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meio</a:t>
            </a: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, double valor)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35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meio.pagar</a:t>
            </a: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(valor);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6D3BC50-1C2E-49E4-AC20-C97E1F236961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11144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O </a:t>
            </a: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código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depende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do </a:t>
            </a: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contrato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FormaPagamento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não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de </a:t>
            </a: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uma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implementação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específica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A4B012F-F92D-40C8-C9F8-1A9A6DF16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7900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081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A5106DF-E746-48D2-B4AB-D66644236F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2E8B7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EC0EE84-B50E-4F44-B4C1-9485710533AE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PARADIGMA 2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DF91443-2C6B-4948-BABE-0956031623F4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10191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9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Programação funcional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91B1369-E621-482E-8BA0-6BAC082BBF23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8572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Computações são expressas principalmente como avaliação, transformação e composição de funções.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A934890-F5FE-4B98-BB1D-8B66406F67FF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8D597FA-2AB7-BC1A-D8E8-B184E305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60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A99BC95E-C3B6-4CF2-A59A-BC5E088A6B5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3D72D3C-DCE7-4E8D-8F5F-425320A684E3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Funções puras facilitam o raciocínio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8E509A4-6032-4BC1-9357-F58D16959CC4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79CAF96-7E2A-4C90-8C60-DAE1D4756515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AA84CEC-55E5-4044-8E39-C0C7477EC831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EAF5F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937EF85-7B95-4C3E-90D0-74634D00BFB5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Função pura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C5458D1-275D-4A97-AB2C-94D3FC3D805D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Para as mesmas entradas, produz a mesma saída e não provoca efeitos externos observáveis.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45AD01D-E514-49D0-BCB1-A5F11A40D8C9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Mais fácil de testar e reutilizar.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Evita depender de estado oculto.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Efeitos não são proibidos em sistemas reais: são isolados e controlados.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F7E2B90-68D8-6372-40D0-EB320CE42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45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B185F41A-ADA2-413B-8C97-E371C3468BF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1FA3AB0-C207-44D6-A1EF-39CD2E4653B3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Função pura × efeito colateral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75D7169-BCC0-4175-8A00-CBFC25AF9A5C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34D1B07-91BB-49A1-9366-366F62CD5E7D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D978BFE-72BF-4431-922A-55EA3BF6D5B1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Pura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059DEB1-C8E7-40BA-BE8F-881D63954C42}"/>
              </a:ext>
            </a:extLst>
          </p:cNvPr>
          <p:cNvSpPr>
            <a:spLocks noGrp="1"/>
          </p:cNvSpPr>
          <p:nvPr/>
        </p:nvSpPr>
        <p:spPr>
          <a:xfrm>
            <a:off x="6191250" y="16002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Com efeito colateral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D56BA7C-DDE3-447B-95F6-16440CEA1F06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542925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AE79D65-98B9-4B40-A507-ADC113EDD395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569595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88659A-6197-4F6D-8FBA-2B4D5A3DC6C3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49530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function desconto(preco, taxa)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return preco - preco * taxa;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FA0A164-F362-4416-BC2D-38D4618ECC1C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52197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let total = 0;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function adicionar(valor)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total += valor;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087B155-4ADC-DEF7-B564-75A58BF9E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898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DA371531-AC37-4D23-B1F9-BACF15EC021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3B3A0E0-F6B4-4D36-A97C-2C3263F3A328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Imutabilidade e funções como valores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2A4DB78-B612-45CC-8CC1-CB0BAF3B2111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0DEB10F-2028-4F21-A024-1E34CF680AB6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7715FD1-86D0-4260-B842-654EC4049E26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5429250" cy="4286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6DDF192-CFA2-488E-B111-6E4274ED7F2B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5695950" cy="4286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9223264-471D-454E-B857-92F7C75A42A4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Imutabilidade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F2FE0FB-DB04-4BB7-9722-813842C403C2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4857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Em vez de alterar o valor original, produzimos um novo estado.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const novaLista = [...lista, item];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Isso reduz alterações inesperadas e ajuda na concorrência.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EC71834-33B3-411F-95C3-72179EFD76BF}"/>
              </a:ext>
            </a:extLst>
          </p:cNvPr>
          <p:cNvSpPr>
            <a:spLocks noGrp="1"/>
          </p:cNvSpPr>
          <p:nvPr/>
        </p:nvSpPr>
        <p:spPr>
          <a:xfrm>
            <a:off x="6362700" y="19240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Funções de primeira classe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EFA62DE-403A-4347-877F-A212725FAF4F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5048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Funções podem ser armazenadas, passadas como argumentos e devolvidas por outras funções.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Isso permite map, filter, reduce e composição.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C86B6FE-2293-A987-B737-EA40CFF7A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18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46D696F6-D81B-48A5-BF17-D6E08070649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85C59AD-E995-4796-B129-47E2664490A4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Transformações formam um pipeline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F0E0B00-CA97-4D46-BE80-3B985F023678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6A8842E-94F5-4592-940F-37709B079DE2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D1D8F66-6EBC-4689-976C-62458AA2A310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3476625"/>
          </a:xfrm>
          <a:prstGeom prst="roundRect">
            <a:avLst>
              <a:gd name="adj" fmla="val 2192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F55E0FD-07D5-4842-AB42-E8473C0B405B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const nomesDosAprovados = alunos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.filter(aluno =&gt; aluno.media &gt;= 7)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.map(aluno =&gt; aluno.nome)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.sort();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D0CD18F-97D5-4159-BBF3-72140E7B93DA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11144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Entrada → filtragem → transformação → ordenação. A intenção aparece sem controlar explicitamente cada índice.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AB53FF2-193D-620F-FBE9-A06513128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23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234E000-F318-4690-8A03-E348B03246B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7EC73BE-C74D-4733-8652-98F4A24A3F0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Aplicações e concessões do funcional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A76D53E-59EE-4E5F-B576-F89AC1DA9AF9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37770FB-C91F-42FF-8BC1-E322E4900971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CAF20AB-CCA0-4994-B375-2BC9C682F388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5429250" cy="4286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EC1DF0E-25F8-46C5-A13D-8C84C2F0FBD5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5695950" cy="4286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29298B9-8CE7-4B15-8B5E-D572995570E3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Onde funciona bem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046A9D7-ABF8-4083-84DC-263D7DC5C7F1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4857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Transformação de dados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Concorrência e sistemas distribuídos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Pipelines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Compiladores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Interfaces reativas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Linguagens: Haskell, Elixir, F#, Clojure, Scala.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4EC97EC-C050-4630-A4B0-911E07B5CFE1}"/>
              </a:ext>
            </a:extLst>
          </p:cNvPr>
          <p:cNvSpPr>
            <a:spLocks noGrp="1"/>
          </p:cNvSpPr>
          <p:nvPr/>
        </p:nvSpPr>
        <p:spPr>
          <a:xfrm>
            <a:off x="6362700" y="19240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Limitações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9235EE9-499E-4641-AA21-304D40B1456B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5048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Exige mudança de modelo mental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Abstrações podem ser difíceis no início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Sistemas reais precisam lidar com efeitos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Nem toda linguagem otimiza igualmente a recursão e a imutabilidade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95F68E6-5EF6-1E86-C966-7324C167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154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A715C273-A7F9-4DF1-8D1A-1CE10623EB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E879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BD66E6C-EAFB-4AE2-AA90-D3231C6A8E46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E879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792E"/>
                </a:solidFill>
                <a:latin typeface="Arial"/>
                <a:ea typeface="Arial"/>
                <a:cs typeface="Arial"/>
              </a:rPr>
              <a:t>PARADIGMA 3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EE5556E-B1B8-41EE-BB3D-C9D0BC0FD38B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10191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9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Programação declarativa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38B6D1A-410B-4262-9922-92C26E83D032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8572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Descrevemos propriedades e resultados desejados, delegando mais decisões de execução ao sistema.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7B521B9-D5B8-42B6-BE73-4EA768BDD7D1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993462-2324-36BE-431A-15B2CB443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80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C4C3FFF-E9B2-4EDA-A60F-4137726A1D4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2C17B53-3457-41AA-A081-E30522314A8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SQL declara o conjunto desejado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1E94D17-F6BB-4557-A11C-304187DAEF2E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D8FB68F-BC9B-4EE3-B48D-97ECB7B89642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4B3F45A-7C9A-47F3-B90F-08CE39FA6C9C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3476625"/>
          </a:xfrm>
          <a:prstGeom prst="roundRect">
            <a:avLst>
              <a:gd name="adj" fmla="val 2192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058D7AE-BEFD-4873-BEA9-0192CBC17942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SELECT nome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FROM aluno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WHERE media &gt;= 7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ORDER BY nome;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24F81AC-254C-4A56-AEB8-5D35F31BFC98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11144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A consulta não especifica índice, ordem física de leitura ou algoritmo de ordenação: o banco escolhe um plano.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4B2B082-DE91-8BBF-B837-16889B52C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428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DA85FDAA-B65B-4781-8E5A-BD1FBCE1D5D5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94FA6FD-26BA-4842-BE73-6BAB78E0D64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“O quê” versus “como” é uma diferença de ênfase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DF687BD-5B58-4190-8C3E-46D0A609A795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41620E1-5681-44B0-A128-7FBA56EFAD55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F11707C-B031-48D4-B07C-C17D12773DE2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5429250" cy="4286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D40734A-AE00-44CF-92AA-481ABB892A2E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5695950" cy="4286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2E85055-7099-4490-A9C9-E5B0A82EB92B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Imperativo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4FAFC40-D433-4A70-BB8A-9C136BD95C5B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4857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O programador controla mais diretamente a sequência, os laços e as mudanças de estado.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6B60767-E905-415F-8498-F22484DE7690}"/>
              </a:ext>
            </a:extLst>
          </p:cNvPr>
          <p:cNvSpPr>
            <a:spLocks noGrp="1"/>
          </p:cNvSpPr>
          <p:nvPr/>
        </p:nvSpPr>
        <p:spPr>
          <a:xfrm>
            <a:off x="6362700" y="19240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E879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8792E"/>
                </a:solidFill>
                <a:latin typeface="Arial"/>
                <a:ea typeface="Arial"/>
                <a:cs typeface="Arial"/>
              </a:rPr>
              <a:t>Declarativo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2574E9B-831F-4D84-BE4C-34B2110DCE9C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5048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O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programador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especifica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relações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condições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propriedades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; o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mecanismo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decide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mais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detalhes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do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procedimento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143EB3C-B5E6-471F-1797-954CDA583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360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D6FDDCC7-1157-4465-B3F8-6D303EA4FA3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0DBAD8-6B44-41C5-80A9-2BA2D7AD843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Exemplos de abordagens declarativas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149698C-E150-47E4-89B0-9B53C27EE8EB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0B39CA3-4CAE-484F-A2EF-EA370760696F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D4AC8D6-AA27-45B1-9D64-71469BD8D235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Nem todo exemplo é uma linguagem de propósito geral: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4C0A91A-83DD-4907-AB65-9C2BA5454679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057275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SQL: consultas e transformações de dados;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Prolog: fatos, regras e inferência lógica;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HTML: estrutura de documentos;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CSS: regras de apresentação;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linguagens de configuração, infraestrutura e restrições.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A3BC702-FAC8-2D10-825B-B7750A78D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862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2EB9D4C2-605D-483D-8C7B-46E1934F854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3365E4E-6E69-4FAA-9669-3005AC3AAD2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Pontos fortes e limitações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A9CD0A8-0B02-4EA1-BB23-9CCFA3A039F8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3D0A201-7FA8-4A64-B584-E8599338551D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4238EFC-CCD9-4429-8377-A29C3CBA775B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5429250" cy="4286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0C3E78A-27D9-4CE7-ABF0-4202A38E47CF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5695950" cy="4286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8EAFD68-2CFF-41DD-8052-7D4241D16F90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Pontos fortes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D1D94C7-8099-4C00-AFE8-0E3C3E304172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4857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Expressa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bem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a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intenção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Pode ser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concisa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Permite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otimização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pelo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sistema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Reduz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detalhes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procedurais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repetitivos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3C4BA47-1E60-48BF-B199-DAC56924ED1D}"/>
              </a:ext>
            </a:extLst>
          </p:cNvPr>
          <p:cNvSpPr>
            <a:spLocks noGrp="1"/>
          </p:cNvSpPr>
          <p:nvPr/>
        </p:nvSpPr>
        <p:spPr>
          <a:xfrm>
            <a:off x="6362700" y="19240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Limitações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6479A7A-7799-4178-BAC6-120BC27018B8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5048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Menor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controle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direto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Plano de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execução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pode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não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ser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evidente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Desempenho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depende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do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mecanismo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Certas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operações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são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difíceis</a:t>
            </a:r>
            <a:r>
              <a:rPr sz="16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1600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expressar</a:t>
            </a:r>
            <a:endParaRPr sz="16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A41FD17-A04E-3AE0-3E47-78E9F2F4D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345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5EBEECA9-F8AB-480D-971E-70A22BEB4E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8333E65-BE4D-4440-A0BE-CF0799549F8D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PARADIGMA 4 — FOCO DA DISCIPLINA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4D9C4C1-E042-4E33-86BE-43D5F70AAC24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10191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9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Programação estruturada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E67B856-9017-4211-BECC-5D4C3343395D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8572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O fluxo é construído com sequência, seleção, repetição, blocos e decomposição em funções.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A8909E1-D74F-4357-95E3-4E93BE64664D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F96698B-4EA4-0130-DD7D-ACFC0B1B2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908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FCFDB77-9A11-4ED3-93AB-EB2707C8E47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9802DFC-627D-4B9E-A396-8BD0FA8015E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Definição de programação estruturada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3946D1A-4102-42A1-B2EF-A9F94CD5EFA4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01753F3-7C51-4107-82A9-451A41D21098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9732242-053E-4E93-93BB-17A794A5E4B8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6617BEE-44DC-438E-9776-D21C1AFD8A06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Estruturado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8C9B844-2BB9-48D0-A55C-BB44CEB405B3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Paradigma predominantemente imperativo que organiza o fluxo por estruturas de controle bem definidas e pela decomposição do programa em partes menores.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6C23967-10BB-49F1-A267-5D2249A84D5B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Favorece leitura, teste e manutenção.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Evita saltos arbitrários que tornam o fluxo difícil de acompanhar.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Continua presente dentro de métodos orientados a objetos.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80D592D-4FD6-3762-9D3B-1E0E9E6EA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97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8EB55FE7-B278-4FD7-87A9-E18305988EC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7CADEC0-0E5E-4308-8016-8AC8D5296E9A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As três estruturas fundamentais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CCA6E08-E19D-4BD8-A563-A62C7D5FBFBE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FE93B18-3C30-4432-95BE-AAD8D172AA91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D0CA25D-7335-46C6-BD27-1284A291F864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3683000" cy="2381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D590297-F8A6-4481-95E9-9F874967EDBD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330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34D7EF4-7DA7-45F8-B3EC-DEE1CA95981B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330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Sequência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D630E67-8F86-4DC3-99BD-400FBCEA1A0A}"/>
              </a:ext>
            </a:extLst>
          </p:cNvPr>
          <p:cNvSpPr>
            <a:spLocks noGrp="1"/>
          </p:cNvSpPr>
          <p:nvPr/>
        </p:nvSpPr>
        <p:spPr>
          <a:xfrm>
            <a:off x="590550" y="3524250"/>
            <a:ext cx="330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Executar uma operação depois da outra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DD0F801-4E94-49F2-A8D6-145062A3C4CB}"/>
              </a:ext>
            </a:extLst>
          </p:cNvPr>
          <p:cNvSpPr>
            <a:spLocks noGrp="1"/>
          </p:cNvSpPr>
          <p:nvPr/>
        </p:nvSpPr>
        <p:spPr>
          <a:xfrm>
            <a:off x="4254500" y="2190750"/>
            <a:ext cx="3683000" cy="2381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EBFA43B-3D98-4CB0-B428-743F7C828746}"/>
              </a:ext>
            </a:extLst>
          </p:cNvPr>
          <p:cNvSpPr>
            <a:spLocks noGrp="1"/>
          </p:cNvSpPr>
          <p:nvPr/>
        </p:nvSpPr>
        <p:spPr>
          <a:xfrm>
            <a:off x="4445000" y="2381250"/>
            <a:ext cx="330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A1CF5E0-2ADA-478B-AD7E-1150725FCB40}"/>
              </a:ext>
            </a:extLst>
          </p:cNvPr>
          <p:cNvSpPr>
            <a:spLocks noGrp="1"/>
          </p:cNvSpPr>
          <p:nvPr/>
        </p:nvSpPr>
        <p:spPr>
          <a:xfrm>
            <a:off x="4445000" y="2857500"/>
            <a:ext cx="330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Seleção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196C816-A9A1-4418-95FB-EB73875D06FD}"/>
              </a:ext>
            </a:extLst>
          </p:cNvPr>
          <p:cNvSpPr>
            <a:spLocks noGrp="1"/>
          </p:cNvSpPr>
          <p:nvPr/>
        </p:nvSpPr>
        <p:spPr>
          <a:xfrm>
            <a:off x="4445000" y="3524250"/>
            <a:ext cx="330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Escolher um caminho conforme uma condição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28B4767-0F0C-41D5-B48D-F2C62C1C2166}"/>
              </a:ext>
            </a:extLst>
          </p:cNvPr>
          <p:cNvSpPr>
            <a:spLocks noGrp="1"/>
          </p:cNvSpPr>
          <p:nvPr/>
        </p:nvSpPr>
        <p:spPr>
          <a:xfrm>
            <a:off x="8108950" y="2190750"/>
            <a:ext cx="3683000" cy="2381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F4653C0-1775-43FB-9445-4BFBF1B066D1}"/>
              </a:ext>
            </a:extLst>
          </p:cNvPr>
          <p:cNvSpPr>
            <a:spLocks noGrp="1"/>
          </p:cNvSpPr>
          <p:nvPr/>
        </p:nvSpPr>
        <p:spPr>
          <a:xfrm>
            <a:off x="8299450" y="2381250"/>
            <a:ext cx="330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29BFD80-05EB-4A00-A9F4-ABF43CC79573}"/>
              </a:ext>
            </a:extLst>
          </p:cNvPr>
          <p:cNvSpPr>
            <a:spLocks noGrp="1"/>
          </p:cNvSpPr>
          <p:nvPr/>
        </p:nvSpPr>
        <p:spPr>
          <a:xfrm>
            <a:off x="8299450" y="2857500"/>
            <a:ext cx="330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Repetição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85F5376-8D7F-4B4C-B392-E9FF67B8EF37}"/>
              </a:ext>
            </a:extLst>
          </p:cNvPr>
          <p:cNvSpPr>
            <a:spLocks noGrp="1"/>
          </p:cNvSpPr>
          <p:nvPr/>
        </p:nvSpPr>
        <p:spPr>
          <a:xfrm>
            <a:off x="8299450" y="3524250"/>
            <a:ext cx="330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Executar um bloco enquanto uma condição permitir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9DC5D61-B647-4BBE-8E5F-3CFF937911F4}"/>
              </a:ext>
            </a:extLst>
          </p:cNvPr>
          <p:cNvSpPr>
            <a:spLocks noGrp="1"/>
          </p:cNvSpPr>
          <p:nvPr/>
        </p:nvSpPr>
        <p:spPr>
          <a:xfrm>
            <a:off x="400050" y="5029200"/>
            <a:ext cx="11391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650" b="1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650" b="1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Essas</a:t>
            </a:r>
            <a:r>
              <a:rPr sz="1650" b="1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estruturas</a:t>
            </a:r>
            <a:r>
              <a:rPr sz="1650" b="1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formam</a:t>
            </a:r>
            <a:r>
              <a:rPr sz="1650" b="1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a base para </a:t>
            </a:r>
            <a:r>
              <a:rPr sz="1650" b="1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representar</a:t>
            </a:r>
            <a:r>
              <a:rPr sz="1650" b="1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algoritmos</a:t>
            </a:r>
            <a:r>
              <a:rPr sz="1650" b="1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estruturados</a:t>
            </a:r>
            <a:r>
              <a:rPr sz="1650" b="1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590DF198-DBB4-7E27-9FA4-5D7CE1B14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423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7CE0FA9-17DC-4079-A567-5A51DE2A43D5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75F5B98-E150-4F37-8850-322DC3974FD3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Sequência: cada etapa prepara a próxima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B787ABB-15D9-497C-9B60-E443772238D7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0084E9A-5698-424E-8A21-D789972F46BA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3C630F3-9300-4DEA-ABB1-54EA8EA46A5C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3476625"/>
          </a:xfrm>
          <a:prstGeom prst="roundRect">
            <a:avLst>
              <a:gd name="adj" fmla="val 2192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7E4B133-A3F4-4449-A5DE-60D8F79A4054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double preco = 100.0;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double desconto = preco * 0.10;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double total = preco - desconto;</a:t>
            </a:r>
          </a:p>
          <a:p>
            <a:endParaRPr sz="1425" b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System.out.println(total);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9476D8E-2071-4195-9896-29C433C79C66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11144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Fluxo: obter dados → processar → produzir resultado.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068F83F-D226-B028-8A14-695362E2D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546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4CF90136-6E3D-45AD-B85D-0E991C57E851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E9AC351-42E1-4883-BC3D-10140BAF39E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Seleção: o fluxo depende de uma condição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0F84D46-401F-4513-A458-CE60326742C9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A7C1FCA-5DD6-4A75-8C31-AB91117304AD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6D43964-50AC-48D1-A6AF-27DD5A310215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3476625"/>
          </a:xfrm>
          <a:prstGeom prst="roundRect">
            <a:avLst>
              <a:gd name="adj" fmla="val 2192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42E2DC5-5409-4167-ABD1-56976DDFE594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if (media &gt;= 7.0) {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System.out.println("Aprovado");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 else {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System.out.println("Não aprovado");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FA4EEE2-1F1A-41D2-B663-880FED5659DF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11144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A condição é booleana: resulta em verdadeiro ou falso.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B587403-754A-29A7-B693-4BF22EBAB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03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F3A8F07D-A9D4-4E86-ABF7-472669BB401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1F94432-701C-4197-8AD0-0E30457356C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Repetição: um bloco é executado várias vezes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E76CE45-0C13-4AD8-85CC-7BEF53DFF21A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97A426C-BE0F-421E-9A15-9FDC6F53342B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7D05761-5322-4E62-9EBA-224CDAB53ED4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3476625"/>
          </a:xfrm>
          <a:prstGeom prst="roundRect">
            <a:avLst>
              <a:gd name="adj" fmla="val 2192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53CF796-C3C8-4965-8F93-2C105ED47D14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int contador = 1;</a:t>
            </a:r>
          </a:p>
          <a:p>
            <a:endParaRPr sz="1425" b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while (contador &lt;= 10) {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System.out.println(contador);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contador++;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673F6C1-B046-40F2-AD23-1A49B9219F17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11144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Um laço normalmente possui inicialização, condição, corpo e atualização.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CBFFAE6-380D-9932-0878-D292C3C6B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194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057E5A7-DE8E-425B-94EC-2848AA5AB2F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C2AEEB1-1F9C-4AE7-A251-E6310EF1530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Decompor é transformar um problema grande em partes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171193C-6FBE-4399-85B4-3DC9F548A420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ACE76C6-A358-4829-A318-53E5EA5E2C1A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2EA14CB-1E86-402D-9816-FC115A2F8621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3476625"/>
          </a:xfrm>
          <a:prstGeom prst="roundRect">
            <a:avLst>
              <a:gd name="adj" fmla="val 2192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F803318-08CF-4001-A793-3224B812DEB9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public static void main(String[] args)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double preco = lerPreco();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double percentual = identificarDesconto(preco);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double total = aplicarDesconto(preco, percentual);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apresentarResultado(total);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027B70D-1742-40A2-9232-2CBAEFA1AFD7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11144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Funções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menores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favorecem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legibilidade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reutilização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, teste e </a:t>
            </a:r>
            <a:r>
              <a:rPr sz="1575" b="0" dirty="0" err="1">
                <a:solidFill>
                  <a:srgbClr val="52646E"/>
                </a:solidFill>
                <a:latin typeface="Arial"/>
                <a:ea typeface="Arial"/>
                <a:cs typeface="Arial"/>
              </a:rPr>
              <a:t>manutenção</a:t>
            </a:r>
            <a:r>
              <a:rPr sz="1575" b="0" dirty="0">
                <a:solidFill>
                  <a:srgbClr val="52646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1B5ECDA-56A0-B8B5-9C3A-921E26518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41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6E1EC09A-FA90-40E1-A115-CD3F6EF168C5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1C55F28-B745-47F2-90F6-D23FC5620B2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Imperativo, estruturado e procedural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F2D64A3-E16F-4DBC-A866-93BCB6ADC018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BAB157E-802A-4179-B95B-171432F96024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A2BCA09-BEF4-4143-9406-82FD6609C768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5429250" cy="4286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91EBE72-D7CA-4770-88C1-ABFA7B300500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5695950" cy="4286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5B4DF04-E4AE-4129-883E-AD132317FDF0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Relação entre os conceitos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577721E-7F5D-4632-AC0F-4B6E1A19CBF4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4857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Imperativo é a família ampla: comandos alteram o estado.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Estruturado organiza o fluxo com blocos, seleção e repetição.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Procedural organiza o programa em funções e procedimentos.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136059C-B146-4CDA-AD75-8A30F64281F0}"/>
              </a:ext>
            </a:extLst>
          </p:cNvPr>
          <p:cNvSpPr>
            <a:spLocks noGrp="1"/>
          </p:cNvSpPr>
          <p:nvPr/>
        </p:nvSpPr>
        <p:spPr>
          <a:xfrm>
            <a:off x="6362700" y="19240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D458FF3-5EBC-4EB9-9C66-5E14FE597290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5048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As três ideias aparecem frequentemente juntas, mas não são sinônimos perfeitos.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Um método de uma classe Java pode ser simultaneamente orientado a objetos, imperativo, estruturado e procedural.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C737C5A-69C3-4731-9C44-B2AEBCF42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622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E0D028D-D488-4D9E-8565-DFB0C90F782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61A167C-CA61-426D-AAF9-5F5559E46FD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 que muda de um paradigma para outro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787BD0C-C8A7-4B4D-865C-3E5757F5EFCA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5CDBD07-52B9-42DC-8241-299A634AADD1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graphicFrame>
        <p:nvGraphicFramePr>
          <p:cNvPr id="10" name="Tabela 9"/>
          <p:cNvGraphicFramePr/>
          <p:nvPr>
            <p:extLst>
              <p:ext uri="{D42A27DB-BD31-4B8C-83A1-F6EECF244321}">
                <p14:modId xmlns:p14="http://schemas.microsoft.com/office/powerpoint/2010/main" val="382603620"/>
              </p:ext>
            </p:extLst>
          </p:nvPr>
        </p:nvGraphicFramePr>
        <p:xfrm>
          <a:off x="400050" y="1714500"/>
          <a:ext cx="11391900" cy="4095750"/>
        </p:xfrm>
        <a:graphic>
          <a:graphicData uri="http://schemas.openxmlformats.org/drawingml/2006/table">
            <a:tbl>
              <a:tblPr firstRow="1" bandRow="1"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</a:rPr>
                        <a:t>Aspecto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Estruturado</a:t>
                      </a:r>
                    </a:p>
                  </a:txBody>
                  <a:tcPr>
                    <a:solidFill>
                      <a:srgbClr val="10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POO</a:t>
                      </a:r>
                    </a:p>
                  </a:txBody>
                  <a:tcPr>
                    <a:solidFill>
                      <a:srgbClr val="10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Funcional</a:t>
                      </a:r>
                    </a:p>
                  </a:txBody>
                  <a:tcPr>
                    <a:solidFill>
                      <a:srgbClr val="10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Declarativo</a:t>
                      </a:r>
                    </a:p>
                  </a:txBody>
                  <a:tcPr>
                    <a:solidFill>
                      <a:srgbClr val="1021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Foco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Passos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Objetos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Transformações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Resultado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Unidade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Blocos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/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funções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Objetos/classes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Funções/valores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Relações/regras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Explícito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Encapsulado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Evitado/controlado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Delegado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Controle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if, for, while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Métodos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/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mensagens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Composição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Mecanismo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Uso típico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Algoritmos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Domínios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Dados/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concorrência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Consultas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84D4B66B-7EAE-8B2A-C65F-D60163CA0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7723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BBAA4243-78F0-4E2D-9CFD-71E9491A30C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ATIVIDADE DE IDENTIFICAÇÃO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10A31BB-CA90-4235-8451-01B3B962455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Qual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paradigma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predomina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4CB8C8C-A150-4433-86C4-666B845ED580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ADF6B41-D4F6-4384-B8BF-750A2F15EDD4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03B07FD-572E-4351-B2C6-C759011FFD34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685800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CDAE67F-A61D-48B2-9E0F-2F8D8116B846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6343650" cy="3200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double total = 0;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for (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Produto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p :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produtos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)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if (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p.isDisponivel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())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  total +=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p.getPreco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();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B223D7-52E5-4851-9175-ED12C278B09D}"/>
              </a:ext>
            </a:extLst>
          </p:cNvPr>
          <p:cNvSpPr>
            <a:spLocks noGrp="1"/>
          </p:cNvSpPr>
          <p:nvPr/>
        </p:nvSpPr>
        <p:spPr>
          <a:xfrm>
            <a:off x="7620000" y="4438650"/>
            <a:ext cx="3714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Resposta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: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estruturado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 —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laço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,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condição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 e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acumulador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mutável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84869C0-49A7-24AD-60A7-0FF67EE66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7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7C5A3BF-3D1A-412A-B775-FEBC6C2B1CF3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ATIVIDADE DE IDENTIFICAÇÃO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054B949-99A6-4F95-AA66-9FC3F3F9415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Qual paradigma predomina?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64D6244-825E-4B68-AB09-F7A1CFB5D634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B8F9AD5-B35F-400C-B602-C6C80240DBAC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A30CA29-BC8F-406F-8F89-35D71DB62AD1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685800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5392BBB-CF0D-4474-B327-0A3507ED912F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6343650" cy="3200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interface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Notificador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void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enviar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(String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mensagem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class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NotificadorEmail</a:t>
            </a:r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  implements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Notificador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public void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enviar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(String msg) { ... }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225A02F-66F2-420A-960A-632FE0C64687}"/>
              </a:ext>
            </a:extLst>
          </p:cNvPr>
          <p:cNvSpPr>
            <a:spLocks noGrp="1"/>
          </p:cNvSpPr>
          <p:nvPr/>
        </p:nvSpPr>
        <p:spPr>
          <a:xfrm>
            <a:off x="7620000" y="4438650"/>
            <a:ext cx="3714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Resposta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: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orientação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 a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objetos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 —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contrato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,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classe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 e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polimorfismo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11C1B79-16FF-6EB8-314D-7BB03FF5D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1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E502957-92EA-4379-AE9D-B3E7A791599A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ATIVIDADE DE IDENTIFICAÇÃO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A342985-F956-4200-94E5-5547C4339D1E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Qual paradigma predomina?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191E3C5-C3F8-4653-99F1-69E7CF9E0203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6DA70E0-7F8C-4C06-B965-5F4FA06B70EC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A38C8F8-D99C-43D1-BD4B-EE215229E614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685800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C6A5D7E-A656-4D50-BE3A-2F5F04A85593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6343650" cy="3200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const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resultado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numeros</a:t>
            </a:r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.filter(n =&gt; n % 2 === 0)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.map(n =&gt; n * n);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1B38B13-C495-44AB-AE92-B2569AF90112}"/>
              </a:ext>
            </a:extLst>
          </p:cNvPr>
          <p:cNvSpPr>
            <a:spLocks noGrp="1"/>
          </p:cNvSpPr>
          <p:nvPr/>
        </p:nvSpPr>
        <p:spPr>
          <a:xfrm>
            <a:off x="7620000" y="1981200"/>
            <a:ext cx="3810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O código controla índices e mutações?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582A3BB-CB10-4747-AD49-0F40FEA37F5C}"/>
              </a:ext>
            </a:extLst>
          </p:cNvPr>
          <p:cNvSpPr>
            <a:spLocks noGrp="1"/>
          </p:cNvSpPr>
          <p:nvPr/>
        </p:nvSpPr>
        <p:spPr>
          <a:xfrm>
            <a:off x="7620000" y="4438650"/>
            <a:ext cx="3714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Resposta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: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funcional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, com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estilo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declarativo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 —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funções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 e pipeline de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transformação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5ADB884-3591-04F6-5FAB-57F35E145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11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9A730047-40C0-4153-918B-614B78C6836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ATIVIDADE DE IDENTIFICAÇÃO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C5410E9-82BE-44EE-B0D0-FBE92D01E490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Qual paradigma predomina?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B3997D-1AB5-45B2-85CC-F38B80C3D81B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4DF014A-2ECD-4535-8BAD-E5AFCF4ABD43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AB581DB-F43F-4A1B-A43F-6F39B8E00598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685800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DBB4A8-90B3-46EA-AE83-D1CDA64EC7F5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6343650" cy="3200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SELECT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curso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, AVG(nota) AS media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FROM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aluno</a:t>
            </a:r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GROUP BY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curso</a:t>
            </a:r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HAVING AVG(nota) &gt;= 7;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1F7F55-6BE7-4E7A-8A0F-5B22000587B3}"/>
              </a:ext>
            </a:extLst>
          </p:cNvPr>
          <p:cNvSpPr>
            <a:spLocks noGrp="1"/>
          </p:cNvSpPr>
          <p:nvPr/>
        </p:nvSpPr>
        <p:spPr>
          <a:xfrm>
            <a:off x="7620000" y="1981200"/>
            <a:ext cx="3810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Quem escolhe o plano de execução?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A9C7E6B-4D9C-4ED2-9570-F7B371396E0D}"/>
              </a:ext>
            </a:extLst>
          </p:cNvPr>
          <p:cNvSpPr>
            <a:spLocks noGrp="1"/>
          </p:cNvSpPr>
          <p:nvPr/>
        </p:nvSpPr>
        <p:spPr>
          <a:xfrm>
            <a:off x="7620000" y="4438650"/>
            <a:ext cx="3714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Resposta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: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declarativo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 — a consulta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descreve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 o conjunto </a:t>
            </a:r>
            <a:r>
              <a:rPr sz="1500" b="1" dirty="0" err="1">
                <a:solidFill>
                  <a:srgbClr val="2E8B70"/>
                </a:solidFill>
                <a:latin typeface="Arial"/>
                <a:ea typeface="Arial"/>
                <a:cs typeface="Arial"/>
              </a:rPr>
              <a:t>desejado</a:t>
            </a:r>
            <a:r>
              <a:rPr sz="1500" b="1" dirty="0">
                <a:solidFill>
                  <a:srgbClr val="2E8B7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82EC85E-7904-3ED7-6D2C-3307825F8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7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26B0E73-6A25-44CB-8B15-A0C14F60CB9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ATIVIDADE DE IDENTIFICAÇÃO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429CF13-AE12-45A6-8DBC-688AC5636BBE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 trecho pode combinar paradigmas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81ABA03-5568-4D88-802B-6EBE1EEBB5C7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417FF41-C7BA-47DA-B6B5-33B26E1ADEA0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60518E3-31F8-46C2-9EEE-AC4894518CBA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685800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1284BB4-5201-4ACB-888C-03A68EF1F9B0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6343650" cy="3200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class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Turma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nomesDosAprovados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() {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  return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this.alunos</a:t>
            </a:r>
            <a:endParaRPr sz="1600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    .filter(a =&gt;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a.media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&gt;= 7)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    .map(a =&gt; </a:t>
            </a:r>
            <a:r>
              <a:rPr sz="1600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a.nome</a:t>
            </a: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A550CBC-E465-A64B-1B32-7CB431768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559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CFD4681-31A0-472D-AF1F-48D38B78F39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2DF3D60-A6CA-4D52-9E3E-FAA05F67F128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Problemas, paradigmas e linguagens: associações frequentes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1E3EF86-A05A-4E64-BFA0-FA93215E9DAE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0292F2-0064-4E2B-81F5-2CD79B72E177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graphicFrame>
        <p:nvGraphicFramePr>
          <p:cNvPr id="10" name="Tabela 9"/>
          <p:cNvGraphicFramePr/>
          <p:nvPr>
            <p:extLst>
              <p:ext uri="{D42A27DB-BD31-4B8C-83A1-F6EECF244321}">
                <p14:modId xmlns:p14="http://schemas.microsoft.com/office/powerpoint/2010/main" val="2342728361"/>
              </p:ext>
            </p:extLst>
          </p:nvPr>
        </p:nvGraphicFramePr>
        <p:xfrm>
          <a:off x="400050" y="1714500"/>
          <a:ext cx="11391900" cy="4095752"/>
        </p:xfrm>
        <a:graphic>
          <a:graphicData uri="http://schemas.openxmlformats.org/drawingml/2006/table">
            <a:tbl>
              <a:tblPr firstRow="1" bandRow="1"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969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Tipo de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</a:rPr>
                        <a:t>problema</a:t>
                      </a:r>
                      <a:endParaRPr sz="18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Paradigmas úteis</a:t>
                      </a:r>
                    </a:p>
                  </a:txBody>
                  <a:tcPr>
                    <a:solidFill>
                      <a:srgbClr val="10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Linguagens frequentes</a:t>
                      </a:r>
                    </a:p>
                  </a:txBody>
                  <a:tcPr>
                    <a:solidFill>
                      <a:srgbClr val="1021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Algoritmos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Estruturado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Java, C, 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Sistemas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empresariais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POO +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estruturado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Java, C#, Kotlin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Aplicações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Multiparadigma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JavaScript, TypeScript, Java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Análise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de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Funcional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+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declarativo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Python, SQL,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Sistemas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embarcados</a:t>
                      </a:r>
                      <a:endParaRPr sz="1600" dirty="0">
                        <a:solidFill>
                          <a:srgbClr val="10212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Estruturado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/procedural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C, C++, Rust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Consultas e regras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Declarativo/lógico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SQL, Prolog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Concorrência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Funcional, atores, eventos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Elixir, Erlang, Scala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AF6560E5-EED5-57D8-70E4-9CA1642DF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4076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318C713A-9E37-443F-B0C6-B18A4FE83AE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D3CC7E1-0F3E-4956-B8DF-90016881FD08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Não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leia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o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mapa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como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uma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proibição</a:t>
            </a:r>
            <a:endParaRPr sz="28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7154C7F-FAC2-411C-9436-C4A5009907CD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AA4A41C-1640-4DED-B1F4-1AF9BC152F37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EFDCA51-E353-4FC2-8545-8FA42EFE214C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CCF0D85-9BA2-4E8C-8A37-92DE0AEFCB3B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Atenção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98F16F4-B773-41D2-9E0E-4B64975DC821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Um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problema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pode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ser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resolvido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por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vários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paradigmas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e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uma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linguagem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pode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apoiar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diversos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paradigmas</a:t>
            </a:r>
            <a:r>
              <a:rPr sz="21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1CAEEA1-224B-4B77-AD38-12452EFECA3E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As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relações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indicam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adequações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frequentes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exclusividade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Sistemas reais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combinam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linguagens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em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camadas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diferentes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A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justificativa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deve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partir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dos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requisitos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C7DBA22-7CF2-3CAC-56E9-737108CAF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404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35572A6-4379-4948-9815-1882A5F383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E879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FCFD75E-9F21-4662-B110-2B9105AED750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E879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792E"/>
                </a:solidFill>
                <a:latin typeface="Arial"/>
                <a:ea typeface="Arial"/>
                <a:cs typeface="Arial"/>
              </a:rPr>
              <a:t>BLOCO 3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A5835C8-27B6-4722-BE45-48649AE5D278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10191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9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Compilação e interpretação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47CB44-96E6-454E-A8AF-EC1281D798A9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8572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Como o código-fonte é analisado, traduzido e finalmente executado pelo processador.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E84A77A-5D70-48CC-8785-2171A3E3B61C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3880154-B8C9-D025-5336-3B03A1521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1767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C75FA9F-ABA4-4592-92A2-8654E2FFE4B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B883E51-DB74-445A-B03D-81547C503AF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Compilador: tradução entre linguagens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D811511-7E02-492C-8E9A-8E5EB4B7CDFB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A44865C-3C25-48CC-BBEF-57188EBB15B6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BBE95B6-CBE9-440A-BD04-A00993EAA70D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FFF1E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5678798-562F-41DE-86A5-D69CD0D3EB65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E879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792E"/>
                </a:solidFill>
                <a:latin typeface="Arial"/>
                <a:ea typeface="Arial"/>
                <a:cs typeface="Arial"/>
              </a:rPr>
              <a:t>Compilador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FEE0D2F-E737-485A-8DFE-734F2AEA97C9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 que traduz um programa de uma linguagem de origem para uma linguagem de destino, preservando seu significado.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FDF4B57-F613-4D88-B9CB-64F88C4A7957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O destino pode ser código de máquina, Assembly, bytecode, outra linguagem ou representação intermediária.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Compilar não significa necessariamente produzir um executável nativo.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E361A79-39A9-04D7-1C9D-5EA0FD210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885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6E6CA866-11B4-492E-AE9E-D460E78A35A3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3467F7-C0D5-4501-A627-D141AD97C36B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Etapas internas típicas de um compilador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2ACE812-96F5-424E-BEEA-26AFD242043B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6779B0C-28CB-45BD-9F72-75B8404FAEE4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77B5A07-817C-4261-B7CE-C1E1FDBAFC1D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2141220" cy="2381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CACEA19-6D86-4351-9A33-E2C961EDAC49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17602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63E42D7-6EDA-4E85-9345-FB988E8A79F6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17602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Léxica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894F821-A398-4BFD-892F-2FD9461AF351}"/>
              </a:ext>
            </a:extLst>
          </p:cNvPr>
          <p:cNvSpPr>
            <a:spLocks noGrp="1"/>
          </p:cNvSpPr>
          <p:nvPr/>
        </p:nvSpPr>
        <p:spPr>
          <a:xfrm>
            <a:off x="590550" y="3524250"/>
            <a:ext cx="176022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Caracteres viram tokens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F3CEF78-113C-4FA0-B007-FB78EFD2E597}"/>
              </a:ext>
            </a:extLst>
          </p:cNvPr>
          <p:cNvSpPr>
            <a:spLocks noGrp="1"/>
          </p:cNvSpPr>
          <p:nvPr/>
        </p:nvSpPr>
        <p:spPr>
          <a:xfrm>
            <a:off x="2712720" y="2190750"/>
            <a:ext cx="2141220" cy="2381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775567A-D127-4455-B2A9-8AF80CD6F638}"/>
              </a:ext>
            </a:extLst>
          </p:cNvPr>
          <p:cNvSpPr>
            <a:spLocks noGrp="1"/>
          </p:cNvSpPr>
          <p:nvPr/>
        </p:nvSpPr>
        <p:spPr>
          <a:xfrm>
            <a:off x="2903220" y="2381250"/>
            <a:ext cx="17602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85F8086-5DFF-4DF6-A8A8-AA83E3CE8DAF}"/>
              </a:ext>
            </a:extLst>
          </p:cNvPr>
          <p:cNvSpPr>
            <a:spLocks noGrp="1"/>
          </p:cNvSpPr>
          <p:nvPr/>
        </p:nvSpPr>
        <p:spPr>
          <a:xfrm>
            <a:off x="2903220" y="2857500"/>
            <a:ext cx="17602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Sintática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9B2F8A4-1B88-4556-A97C-3241345ED00F}"/>
              </a:ext>
            </a:extLst>
          </p:cNvPr>
          <p:cNvSpPr>
            <a:spLocks noGrp="1"/>
          </p:cNvSpPr>
          <p:nvPr/>
        </p:nvSpPr>
        <p:spPr>
          <a:xfrm>
            <a:off x="2903220" y="3524250"/>
            <a:ext cx="176022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Tokens formam uma árvore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3F741AC-331A-40FF-A9E6-E555834C7C52}"/>
              </a:ext>
            </a:extLst>
          </p:cNvPr>
          <p:cNvSpPr>
            <a:spLocks noGrp="1"/>
          </p:cNvSpPr>
          <p:nvPr/>
        </p:nvSpPr>
        <p:spPr>
          <a:xfrm>
            <a:off x="5025390" y="2190750"/>
            <a:ext cx="2141220" cy="2381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CCE49EF-E980-42B1-8B74-061D0EFBE0C8}"/>
              </a:ext>
            </a:extLst>
          </p:cNvPr>
          <p:cNvSpPr>
            <a:spLocks noGrp="1"/>
          </p:cNvSpPr>
          <p:nvPr/>
        </p:nvSpPr>
        <p:spPr>
          <a:xfrm>
            <a:off x="5215890" y="2381250"/>
            <a:ext cx="17602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B6C04FA-B481-41E1-ABD7-C0762C62F4FB}"/>
              </a:ext>
            </a:extLst>
          </p:cNvPr>
          <p:cNvSpPr>
            <a:spLocks noGrp="1"/>
          </p:cNvSpPr>
          <p:nvPr/>
        </p:nvSpPr>
        <p:spPr>
          <a:xfrm>
            <a:off x="5215890" y="2857500"/>
            <a:ext cx="17602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Semântica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3E6D20F-3397-4786-9FD3-63CDEB50F15D}"/>
              </a:ext>
            </a:extLst>
          </p:cNvPr>
          <p:cNvSpPr>
            <a:spLocks noGrp="1"/>
          </p:cNvSpPr>
          <p:nvPr/>
        </p:nvSpPr>
        <p:spPr>
          <a:xfrm>
            <a:off x="5215890" y="3524250"/>
            <a:ext cx="176022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Tipos, nomes e regras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D4A3B51-5326-404E-AE5D-1C0632E28B06}"/>
              </a:ext>
            </a:extLst>
          </p:cNvPr>
          <p:cNvSpPr>
            <a:spLocks noGrp="1"/>
          </p:cNvSpPr>
          <p:nvPr/>
        </p:nvSpPr>
        <p:spPr>
          <a:xfrm>
            <a:off x="7338060" y="2190750"/>
            <a:ext cx="2141220" cy="2381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7E81CB3-8AAC-4143-8B6D-040AF406D46F}"/>
              </a:ext>
            </a:extLst>
          </p:cNvPr>
          <p:cNvSpPr>
            <a:spLocks noGrp="1"/>
          </p:cNvSpPr>
          <p:nvPr/>
        </p:nvSpPr>
        <p:spPr>
          <a:xfrm>
            <a:off x="7528560" y="2381250"/>
            <a:ext cx="17602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1E6E3D3-B4C6-4C13-9EB9-490F3D705E82}"/>
              </a:ext>
            </a:extLst>
          </p:cNvPr>
          <p:cNvSpPr>
            <a:spLocks noGrp="1"/>
          </p:cNvSpPr>
          <p:nvPr/>
        </p:nvSpPr>
        <p:spPr>
          <a:xfrm>
            <a:off x="7528560" y="2857500"/>
            <a:ext cx="17602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BC41E29-DD8D-4803-8B00-B9BD0BF49116}"/>
              </a:ext>
            </a:extLst>
          </p:cNvPr>
          <p:cNvSpPr>
            <a:spLocks noGrp="1"/>
          </p:cNvSpPr>
          <p:nvPr/>
        </p:nvSpPr>
        <p:spPr>
          <a:xfrm>
            <a:off x="7528560" y="3524250"/>
            <a:ext cx="176022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Forma intermediária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0149560-22E6-415A-9B14-74AA4D2B8EC6}"/>
              </a:ext>
            </a:extLst>
          </p:cNvPr>
          <p:cNvSpPr>
            <a:spLocks noGrp="1"/>
          </p:cNvSpPr>
          <p:nvPr/>
        </p:nvSpPr>
        <p:spPr>
          <a:xfrm>
            <a:off x="9650730" y="2190750"/>
            <a:ext cx="2141220" cy="2381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72E6261-5C74-4768-BD67-792DAECE6C0A}"/>
              </a:ext>
            </a:extLst>
          </p:cNvPr>
          <p:cNvSpPr>
            <a:spLocks noGrp="1"/>
          </p:cNvSpPr>
          <p:nvPr/>
        </p:nvSpPr>
        <p:spPr>
          <a:xfrm>
            <a:off x="9841230" y="2381250"/>
            <a:ext cx="17602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36A93EB-1944-40A9-B623-099DBCB6FB5A}"/>
              </a:ext>
            </a:extLst>
          </p:cNvPr>
          <p:cNvSpPr>
            <a:spLocks noGrp="1"/>
          </p:cNvSpPr>
          <p:nvPr/>
        </p:nvSpPr>
        <p:spPr>
          <a:xfrm>
            <a:off x="9841230" y="2857500"/>
            <a:ext cx="17602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Código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76375EF-2D25-4FBB-8FF1-3F943107F922}"/>
              </a:ext>
            </a:extLst>
          </p:cNvPr>
          <p:cNvSpPr>
            <a:spLocks noGrp="1"/>
          </p:cNvSpPr>
          <p:nvPr/>
        </p:nvSpPr>
        <p:spPr>
          <a:xfrm>
            <a:off x="9841230" y="3524250"/>
            <a:ext cx="176022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Otimização e geração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C9464D8-3A84-460D-8232-01A5005D3EFF}"/>
              </a:ext>
            </a:extLst>
          </p:cNvPr>
          <p:cNvSpPr>
            <a:spLocks noGrp="1"/>
          </p:cNvSpPr>
          <p:nvPr/>
        </p:nvSpPr>
        <p:spPr>
          <a:xfrm>
            <a:off x="400050" y="5029200"/>
            <a:ext cx="11391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650" b="1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46E"/>
                </a:solidFill>
                <a:latin typeface="Arial"/>
                <a:ea typeface="Arial"/>
                <a:cs typeface="Arial"/>
              </a:rPr>
              <a:t>As divisões exatas variam entre implementações.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6614F352-8D1D-5930-5907-08889E6B6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8825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FE5D57E1-0EBA-4F28-977D-75B0B942D322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65083C4-334A-4238-BAEF-AC53604B5B32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Léxico, sintaxe e semântica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B2F0111-1D60-4C09-A2EA-F57564C55A8E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3678EA4-C558-4924-ACAF-46C0D31784E4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92B113E-0754-4E18-A4B8-DC753C4F50BB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Código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5583546-6C67-468F-9C2F-048CF5D8C49A}"/>
              </a:ext>
            </a:extLst>
          </p:cNvPr>
          <p:cNvSpPr>
            <a:spLocks noGrp="1"/>
          </p:cNvSpPr>
          <p:nvPr/>
        </p:nvSpPr>
        <p:spPr>
          <a:xfrm>
            <a:off x="6191250" y="16002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Tipos de problema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6908254-957A-4004-84D5-377503E29BD3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542925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6618E19-5E6A-4EF2-9371-45F4273D8FC4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569595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F1571E7-B3BF-4D50-8FF3-588A5BE7C4C3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49530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int idade = 20;</a:t>
            </a:r>
          </a:p>
          <a:p>
            <a:endParaRPr sz="1350" b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Tokens: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int | idade | = | 20 | ;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8168409-FCA0-4E80-B506-B54DD43199AF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52197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Léxico: símbolo inválido</a:t>
            </a:r>
          </a:p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Sintático: int idade = ;</a:t>
            </a:r>
          </a:p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Semântico: int idade = "vinte";</a:t>
            </a:r>
          </a:p>
          <a:p>
            <a:pPr algn="l">
              <a:def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Lógico: fórmula válida, resultado errado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CAC595B-38E3-BE4B-F6BE-D7CDC577B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096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2A493EF0-C6B3-4413-87F4-FC7CD8B1C42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9889AAB-C62B-4C3D-AD58-1B8270248BDE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 cadeia clássica de construção em C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1A60F8D-E87A-4DD1-8D26-71BF9C4FB923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1250AA-9347-4E9B-BB9C-14118526CA8D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B2F2DB9-CDFD-461B-8033-B4A70038700C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2719388" cy="2381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B4709B0-AEC2-41AC-BBDC-03D78B977388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233838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69208EC-0D37-44DF-90ED-D9BF21E241E9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33838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Pré-processar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35BA25C-2326-45BA-A340-3A6E06262EC0}"/>
              </a:ext>
            </a:extLst>
          </p:cNvPr>
          <p:cNvSpPr>
            <a:spLocks noGrp="1"/>
          </p:cNvSpPr>
          <p:nvPr/>
        </p:nvSpPr>
        <p:spPr>
          <a:xfrm>
            <a:off x="590550" y="3524250"/>
            <a:ext cx="2338388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#include e macros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3BC19F4-E65F-43D2-8FCB-214821FF347D}"/>
              </a:ext>
            </a:extLst>
          </p:cNvPr>
          <p:cNvSpPr>
            <a:spLocks noGrp="1"/>
          </p:cNvSpPr>
          <p:nvPr/>
        </p:nvSpPr>
        <p:spPr>
          <a:xfrm>
            <a:off x="3290888" y="2190750"/>
            <a:ext cx="2719388" cy="2381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18D76CC-7DD4-41F5-9BC3-F041B8D94476}"/>
              </a:ext>
            </a:extLst>
          </p:cNvPr>
          <p:cNvSpPr>
            <a:spLocks noGrp="1"/>
          </p:cNvSpPr>
          <p:nvPr/>
        </p:nvSpPr>
        <p:spPr>
          <a:xfrm>
            <a:off x="3481388" y="2381250"/>
            <a:ext cx="233838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0DB7C99-39B7-46BC-BF95-B74AD5E0F8A2}"/>
              </a:ext>
            </a:extLst>
          </p:cNvPr>
          <p:cNvSpPr>
            <a:spLocks noGrp="1"/>
          </p:cNvSpPr>
          <p:nvPr/>
        </p:nvSpPr>
        <p:spPr>
          <a:xfrm>
            <a:off x="3481388" y="2857500"/>
            <a:ext cx="233838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Compilar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08F316B-B2DD-4A8A-9F6F-52DCF888F5AF}"/>
              </a:ext>
            </a:extLst>
          </p:cNvPr>
          <p:cNvSpPr>
            <a:spLocks noGrp="1"/>
          </p:cNvSpPr>
          <p:nvPr/>
        </p:nvSpPr>
        <p:spPr>
          <a:xfrm>
            <a:off x="3481388" y="3524250"/>
            <a:ext cx="2338388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Analisar e gerar Assembly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0B2DBE2-EC01-443A-9809-340B121BA63E}"/>
              </a:ext>
            </a:extLst>
          </p:cNvPr>
          <p:cNvSpPr>
            <a:spLocks noGrp="1"/>
          </p:cNvSpPr>
          <p:nvPr/>
        </p:nvSpPr>
        <p:spPr>
          <a:xfrm>
            <a:off x="6181725" y="2190750"/>
            <a:ext cx="2719388" cy="2381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7BE01DF-DA6A-40B0-BC82-4BE141E2DFB8}"/>
              </a:ext>
            </a:extLst>
          </p:cNvPr>
          <p:cNvSpPr>
            <a:spLocks noGrp="1"/>
          </p:cNvSpPr>
          <p:nvPr/>
        </p:nvSpPr>
        <p:spPr>
          <a:xfrm>
            <a:off x="6372225" y="2381250"/>
            <a:ext cx="233838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E81C74D-4130-455A-BCC1-5614223A03CA}"/>
              </a:ext>
            </a:extLst>
          </p:cNvPr>
          <p:cNvSpPr>
            <a:spLocks noGrp="1"/>
          </p:cNvSpPr>
          <p:nvPr/>
        </p:nvSpPr>
        <p:spPr>
          <a:xfrm>
            <a:off x="6372225" y="2857500"/>
            <a:ext cx="233838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Montar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A3D868A-E276-4C44-854B-BA50377A6E29}"/>
              </a:ext>
            </a:extLst>
          </p:cNvPr>
          <p:cNvSpPr>
            <a:spLocks noGrp="1"/>
          </p:cNvSpPr>
          <p:nvPr/>
        </p:nvSpPr>
        <p:spPr>
          <a:xfrm>
            <a:off x="6372225" y="3524250"/>
            <a:ext cx="2338388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Produzir arquivo-objeto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57DEC6D-5F27-4D8E-9EB9-F9D4AFD8ED3C}"/>
              </a:ext>
            </a:extLst>
          </p:cNvPr>
          <p:cNvSpPr>
            <a:spLocks noGrp="1"/>
          </p:cNvSpPr>
          <p:nvPr/>
        </p:nvSpPr>
        <p:spPr>
          <a:xfrm>
            <a:off x="9072563" y="2190750"/>
            <a:ext cx="2719388" cy="2381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A1D03FC-EDC8-44EE-BBD8-5BA4B9DD3CAE}"/>
              </a:ext>
            </a:extLst>
          </p:cNvPr>
          <p:cNvSpPr>
            <a:spLocks noGrp="1"/>
          </p:cNvSpPr>
          <p:nvPr/>
        </p:nvSpPr>
        <p:spPr>
          <a:xfrm>
            <a:off x="9263063" y="2381250"/>
            <a:ext cx="233838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6A2AD70-627D-4D57-A524-D6FB628FCF5F}"/>
              </a:ext>
            </a:extLst>
          </p:cNvPr>
          <p:cNvSpPr>
            <a:spLocks noGrp="1"/>
          </p:cNvSpPr>
          <p:nvPr/>
        </p:nvSpPr>
        <p:spPr>
          <a:xfrm>
            <a:off x="9263063" y="2857500"/>
            <a:ext cx="233838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Ligar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C3B76C2-3C3E-462E-920C-EADFC616115D}"/>
              </a:ext>
            </a:extLst>
          </p:cNvPr>
          <p:cNvSpPr>
            <a:spLocks noGrp="1"/>
          </p:cNvSpPr>
          <p:nvPr/>
        </p:nvSpPr>
        <p:spPr>
          <a:xfrm>
            <a:off x="9263063" y="3524250"/>
            <a:ext cx="2338388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Unir objetos e bibliotecas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899AC49-B0F8-42CE-AF55-0722174014A4}"/>
              </a:ext>
            </a:extLst>
          </p:cNvPr>
          <p:cNvSpPr>
            <a:spLocks noGrp="1"/>
          </p:cNvSpPr>
          <p:nvPr/>
        </p:nvSpPr>
        <p:spPr>
          <a:xfrm>
            <a:off x="400050" y="5029200"/>
            <a:ext cx="11391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650" b="1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46E"/>
                </a:solidFill>
                <a:latin typeface="Arial"/>
                <a:ea typeface="Arial"/>
                <a:cs typeface="Arial"/>
              </a:rPr>
              <a:t>GCC pode executar essas etapas em sequência para produzir o executável.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C7BE5B77-81BF-4715-DE39-5ECB32664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990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FA55C654-66E5-473F-8850-F877B69EE6A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713F643-05B3-484A-BFE2-BA4EC5035FA6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Interpretador executa uma representação do programa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C4C145E-B169-4643-9342-036B4898CCCD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53B52C-A336-4C0F-9B89-8A77610E2B63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5E84C0-B305-44A9-8809-6523DB2D497F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FFF1E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9B173E4-03CA-4158-B08B-606CF6D585DE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E879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792E"/>
                </a:solidFill>
                <a:latin typeface="Arial"/>
                <a:ea typeface="Arial"/>
                <a:cs typeface="Arial"/>
              </a:rPr>
              <a:t>Interpretador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794AAA1-2E7F-4282-8B09-6AA1A1ED8A0A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 que executa código-fonte ou uma representação intermediária sem exigir necessariamente um executável nativo independente produzido antecipadamente.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B3B4257-2C48-49CD-9F78-5BCAAF26E557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Pode interpretar uma árvore, bytecode ou outra IR.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Não é obrigatoriamente “linha por linha”.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O processador executa o próprio interpretador e suas rotinas.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B9EB880-B857-3285-3340-5BF7DBF2F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677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43D959B-70E9-4061-81C3-8D743920D83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94A2FB2-2F11-453A-9868-9B55FE4FF02B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Compilação antecipada × interpretação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DEBAAA4-2FC9-4A3B-A2C7-55BF89F22C47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FDEFF39-DAA6-4DF7-8AEF-1DA2AA0566F4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73EDE99-52AB-43C0-81BF-B185CDB5B02B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5429250" cy="4286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4D93BCE-51B7-409C-B3DE-833409D74963}"/>
              </a:ext>
            </a:extLst>
          </p:cNvPr>
          <p:cNvSpPr>
            <a:spLocks noGrp="1"/>
          </p:cNvSpPr>
          <p:nvPr/>
        </p:nvSpPr>
        <p:spPr>
          <a:xfrm>
            <a:off x="6096000" y="1657350"/>
            <a:ext cx="5695950" cy="4286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194938-963D-4E4B-B8BB-CB76AF15C843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AOT — antes da execução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191E139-6B6C-47B6-864A-77678FECD26A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4857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Código-fonte → compilador → código nativo.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Vantagens: execução direta, otimização antecipada e previsibilidade.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Limitações: binários por plataforma e recompilação após mudanças.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ADB26F6-D0BE-41C2-A415-D36C8897E23E}"/>
              </a:ext>
            </a:extLst>
          </p:cNvPr>
          <p:cNvSpPr>
            <a:spLocks noGrp="1"/>
          </p:cNvSpPr>
          <p:nvPr/>
        </p:nvSpPr>
        <p:spPr>
          <a:xfrm>
            <a:off x="6362700" y="19240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Interpretação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1D38C7D-1E86-42D6-A3D8-C61FC23FD060}"/>
              </a:ext>
            </a:extLst>
          </p:cNvPr>
          <p:cNvSpPr>
            <a:spLocks noGrp="1"/>
          </p:cNvSpPr>
          <p:nvPr/>
        </p:nvSpPr>
        <p:spPr>
          <a:xfrm>
            <a:off x="6362700" y="2457450"/>
            <a:ext cx="5048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Código/bytecode → interpretador → operações.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Vantagens: flexibilidade, portabilidade e ciclo rápido.</a:t>
            </a:r>
          </a:p>
          <a:p>
            <a:endParaRPr sz="1575" b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Limitações: maior sobrecarga e dependência do ambiente.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5DB49DA-444C-FB53-3AEE-C5EE688A2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998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858D1F51-D992-469B-A1E4-C68222CBD83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53E7E7C-E2D7-4F30-A179-8874EA0E162B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Bytecode e máquina virtual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0900F1-6AE7-4697-BACE-0768C05DE41F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E032C3A-1E9C-4FEB-9DCC-5DADFDFC9C33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65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21A3B21-B782-4A3C-9209-87BE4A8BA49D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11391900" cy="22669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34C6854-1EEB-4283-8EEC-2B64B07B7303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Modelo intermediário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6AF5F42-191D-445D-ACA0-FB69759F80BA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Bytecode é uma representação intermediária para uma máquina abstrata; a máquina virtual fornece o ambiente que interpreta ou compila essas instruções.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D10AD9B-1698-48A2-8DAE-85A567DA6B8C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47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Favorece portabilidade entre plataformas.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A VM pode verificar código, gerenciar memória e aplicar otimizações.</a:t>
            </a: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Exemplos: JVM, CLR e a máquina virtual do CPython.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830D288-2C12-C59B-8CAE-DDD13E4C8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5049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A14108CE-9B80-44CE-9AA8-CEEE7EFB979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5F542F5-AC74-473C-97D6-E4AA44D9488E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JIT combina execução e compilação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2AD5E34-19EE-459D-B28C-0D839FC10750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08005A4-2FEF-4761-B4B9-C8F4EADD0955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66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472534B-9ADD-4120-A3D2-0E74F5614739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2719388" cy="2381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5309435-0CA2-4ABD-BB91-9A03C1D88E5A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233838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0E8E379-5290-45FC-B60A-9192E9C97B54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33838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Iniciar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E576EA5-C972-4368-987A-100F61DE741F}"/>
              </a:ext>
            </a:extLst>
          </p:cNvPr>
          <p:cNvSpPr>
            <a:spLocks noGrp="1"/>
          </p:cNvSpPr>
          <p:nvPr/>
        </p:nvSpPr>
        <p:spPr>
          <a:xfrm>
            <a:off x="590550" y="3524250"/>
            <a:ext cx="2338388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Executar bytecode ou código básico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48A2A69-6D83-42B7-930A-4B194132D89D}"/>
              </a:ext>
            </a:extLst>
          </p:cNvPr>
          <p:cNvSpPr>
            <a:spLocks noGrp="1"/>
          </p:cNvSpPr>
          <p:nvPr/>
        </p:nvSpPr>
        <p:spPr>
          <a:xfrm>
            <a:off x="3290888" y="2190750"/>
            <a:ext cx="2719388" cy="2381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03088FF-2CB3-497E-BBC3-30A46AE5619B}"/>
              </a:ext>
            </a:extLst>
          </p:cNvPr>
          <p:cNvSpPr>
            <a:spLocks noGrp="1"/>
          </p:cNvSpPr>
          <p:nvPr/>
        </p:nvSpPr>
        <p:spPr>
          <a:xfrm>
            <a:off x="3481388" y="2381250"/>
            <a:ext cx="233838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D016641-C89B-4345-B7E5-C287031756B2}"/>
              </a:ext>
            </a:extLst>
          </p:cNvPr>
          <p:cNvSpPr>
            <a:spLocks noGrp="1"/>
          </p:cNvSpPr>
          <p:nvPr/>
        </p:nvSpPr>
        <p:spPr>
          <a:xfrm>
            <a:off x="3481388" y="2857500"/>
            <a:ext cx="233838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Observar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447A3C4-BC0D-480E-98F5-266BFE41E243}"/>
              </a:ext>
            </a:extLst>
          </p:cNvPr>
          <p:cNvSpPr>
            <a:spLocks noGrp="1"/>
          </p:cNvSpPr>
          <p:nvPr/>
        </p:nvSpPr>
        <p:spPr>
          <a:xfrm>
            <a:off x="3481388" y="3524250"/>
            <a:ext cx="2338388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Identificar trechos frequentes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DF34DAB-E5F1-44F1-B17E-3787A13D5FFE}"/>
              </a:ext>
            </a:extLst>
          </p:cNvPr>
          <p:cNvSpPr>
            <a:spLocks noGrp="1"/>
          </p:cNvSpPr>
          <p:nvPr/>
        </p:nvSpPr>
        <p:spPr>
          <a:xfrm>
            <a:off x="6181725" y="2190750"/>
            <a:ext cx="2719388" cy="2381250"/>
          </a:xfrm>
          <a:prstGeom prst="rect">
            <a:avLst/>
          </a:prstGeom>
          <a:solidFill>
            <a:srgbClr val="EEF3F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E54FCB5-63B2-4B45-964A-E616D8C57F72}"/>
              </a:ext>
            </a:extLst>
          </p:cNvPr>
          <p:cNvSpPr>
            <a:spLocks noGrp="1"/>
          </p:cNvSpPr>
          <p:nvPr/>
        </p:nvSpPr>
        <p:spPr>
          <a:xfrm>
            <a:off x="6372225" y="2381250"/>
            <a:ext cx="233838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EC35553-0532-4732-B5ED-86815152C235}"/>
              </a:ext>
            </a:extLst>
          </p:cNvPr>
          <p:cNvSpPr>
            <a:spLocks noGrp="1"/>
          </p:cNvSpPr>
          <p:nvPr/>
        </p:nvSpPr>
        <p:spPr>
          <a:xfrm>
            <a:off x="6372225" y="2857500"/>
            <a:ext cx="233838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Compilar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B168AB3-AA94-4D3C-95FF-98B9ED8A6320}"/>
              </a:ext>
            </a:extLst>
          </p:cNvPr>
          <p:cNvSpPr>
            <a:spLocks noGrp="1"/>
          </p:cNvSpPr>
          <p:nvPr/>
        </p:nvSpPr>
        <p:spPr>
          <a:xfrm>
            <a:off x="6372225" y="3524250"/>
            <a:ext cx="2338388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Gerar código nativo especializado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F928B71-DECC-4D25-BDBC-ED3D0CC8550C}"/>
              </a:ext>
            </a:extLst>
          </p:cNvPr>
          <p:cNvSpPr>
            <a:spLocks noGrp="1"/>
          </p:cNvSpPr>
          <p:nvPr/>
        </p:nvSpPr>
        <p:spPr>
          <a:xfrm>
            <a:off x="9072563" y="2190750"/>
            <a:ext cx="2719388" cy="2381250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9ABAFB4-4250-4E73-8E72-696FA29A390E}"/>
              </a:ext>
            </a:extLst>
          </p:cNvPr>
          <p:cNvSpPr>
            <a:spLocks noGrp="1"/>
          </p:cNvSpPr>
          <p:nvPr/>
        </p:nvSpPr>
        <p:spPr>
          <a:xfrm>
            <a:off x="9263063" y="2381250"/>
            <a:ext cx="233838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655176C-190A-4687-A523-BBFB35D82B3F}"/>
              </a:ext>
            </a:extLst>
          </p:cNvPr>
          <p:cNvSpPr>
            <a:spLocks noGrp="1"/>
          </p:cNvSpPr>
          <p:nvPr/>
        </p:nvSpPr>
        <p:spPr>
          <a:xfrm>
            <a:off x="9263063" y="2857500"/>
            <a:ext cx="233838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Otimizar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8236F9A-B40F-459E-8EE3-771ECA3C247B}"/>
              </a:ext>
            </a:extLst>
          </p:cNvPr>
          <p:cNvSpPr>
            <a:spLocks noGrp="1"/>
          </p:cNvSpPr>
          <p:nvPr/>
        </p:nvSpPr>
        <p:spPr>
          <a:xfrm>
            <a:off x="9263063" y="3524250"/>
            <a:ext cx="2338388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Usar dados reais da execução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8BB2B44-F4E7-4298-86EE-EFB8621DBF22}"/>
              </a:ext>
            </a:extLst>
          </p:cNvPr>
          <p:cNvSpPr>
            <a:spLocks noGrp="1"/>
          </p:cNvSpPr>
          <p:nvPr/>
        </p:nvSpPr>
        <p:spPr>
          <a:xfrm>
            <a:off x="400050" y="5029200"/>
            <a:ext cx="11391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650" b="1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46E"/>
                </a:solidFill>
                <a:latin typeface="Arial"/>
                <a:ea typeface="Arial"/>
                <a:cs typeface="Arial"/>
              </a:rPr>
              <a:t>JIT = Just in Time: compilação durante a execução.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E5A5D513-A8C9-29A7-7C32-F285FA1E5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27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DD12346-C11B-4206-B4BE-66CF608401F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7FD2993-5F9D-4CBF-9BE8-1762A98DF67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Onde as linguagens se encaixam?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948B9B4-A30D-44CE-AF84-7051B9277C72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4116449-E876-435C-8E20-9FDC625A9096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graphicFrame>
        <p:nvGraphicFramePr>
          <p:cNvPr id="10" name="Tabela 9"/>
          <p:cNvGraphicFramePr/>
          <p:nvPr/>
        </p:nvGraphicFramePr>
        <p:xfrm>
          <a:off x="400050" y="1714500"/>
          <a:ext cx="11391900" cy="4095752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96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Linguagem</a:t>
                      </a:r>
                    </a:p>
                  </a:txBody>
                  <a:tcPr>
                    <a:solidFill>
                      <a:srgbClr val="10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Representação comum</a:t>
                      </a:r>
                    </a:p>
                  </a:txBody>
                  <a:tcPr>
                    <a:solidFill>
                      <a:srgbClr val="10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Estratégia típica</a:t>
                      </a:r>
                    </a:p>
                  </a:txBody>
                  <a:tcPr>
                    <a:solidFill>
                      <a:srgbClr val="1021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C / C++ / 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Código nativo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AOT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Bytecode da JVM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Interpretação + JIT; AOT possível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IL do 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JIT e/ou AOT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JavaScript moderno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Bytecode + código nativo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Interpretação + JIT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Python em CPython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Bytecode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Máquina virtual interpretadora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Python em PyPy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Representações internas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JIT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12B"/>
                          </a:solidFill>
                        </a:rPr>
                        <a:t>Transpilação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10DCEFC7-3C26-2C56-CDBB-26B62582F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07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89A7536A-9EEB-4ACD-BCD4-844E6AA9743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5CAEE8D-83BF-4C2C-A850-E02D738435B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Java e JavaScript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usam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modelos</a:t>
            </a:r>
            <a:r>
              <a:rPr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híbridos</a:t>
            </a:r>
            <a:endParaRPr sz="28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C4CA27C-9D36-407C-9062-B18EC0C74497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AF6C9A1-D349-41AC-8B0A-6BE3F1DB113C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68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7EF45B4-4F35-413B-BFB8-511F11F60FD5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Java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F9974D8-A119-4962-9AED-003EC8BD2DBF}"/>
              </a:ext>
            </a:extLst>
          </p:cNvPr>
          <p:cNvSpPr>
            <a:spLocks noGrp="1"/>
          </p:cNvSpPr>
          <p:nvPr/>
        </p:nvSpPr>
        <p:spPr>
          <a:xfrm>
            <a:off x="6191250" y="16002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JavaScript no V8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2D3EC89-FC28-4BA5-9A2E-19542D9BB0CB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542925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1872601-ED56-45B7-97FA-A2E8D5352B81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5695950" cy="3714750"/>
          </a:xfrm>
          <a:prstGeom prst="roundRect">
            <a:avLst>
              <a:gd name="adj" fmla="val 2051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F8D1192-089F-4D2B-8BC2-59A96B081FF6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49530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.java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↓ </a:t>
            </a:r>
            <a:r>
              <a:rPr sz="1425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javac</a:t>
            </a:r>
            <a:endParaRPr sz="1425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bytecode .class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↓ JVM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interpretação</a:t>
            </a:r>
            <a:r>
              <a:rPr sz="1425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+ JIT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↓</a:t>
            </a:r>
          </a:p>
          <a:p>
            <a:pPr algn="l">
              <a:defRPr sz="1425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código</a:t>
            </a:r>
            <a:r>
              <a:rPr sz="1425" b="0" dirty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25" b="0" dirty="0" err="1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nativo</a:t>
            </a:r>
            <a:endParaRPr sz="1425" b="0" dirty="0">
              <a:solidFill>
                <a:srgbClr val="EAF5F7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A1EE2B7-A507-4B23-87D6-B2113723A56D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52197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fonte JavaScript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↓ parser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bytecode Ignition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↓ execução e feedback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compiladores JIT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  ↓</a:t>
            </a:r>
          </a:p>
          <a:p>
            <a:pPr algn="l">
              <a:def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AF5F7"/>
                </a:solidFill>
                <a:latin typeface="Courier New"/>
                <a:ea typeface="Courier New"/>
                <a:cs typeface="Courier New"/>
              </a:rPr>
              <a:t>código nativo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3FA7B7D-D353-2E74-CC02-02A5AFE9C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77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AADA192A-0D2C-415C-A402-B3E7E3B3BF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2E8B7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5F0FA2E-F785-4E53-907C-0634A130D91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2E8B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8B70"/>
                </a:solidFill>
                <a:latin typeface="Arial"/>
                <a:ea typeface="Arial"/>
                <a:cs typeface="Arial"/>
              </a:rPr>
              <a:t>FECHAMENTO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DA9A171-E6AE-4540-AD63-0E1210CB1373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10191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9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Escolher é equilibrar concessões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7B79FAF-5E46-4399-895A-A9CD143CDBCF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8572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Nível, paradigma e estratégia de execução respondem a perguntas diferentes — e podem ser combinados.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0A1204A-8363-45A5-A7CB-BE66FC89CF1F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71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5688278-A665-6655-8D07-2FC0A8F6B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877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5653E24-CEDC-4CE3-A22E-4BDD374C8453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4BE3D0A-8614-4C56-AA07-7305B7C090B0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Três decisões diferentes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91AD600-3CCC-49B6-A9CF-FE89607C4502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D02B907-446B-4DC6-9607-1E9F601CC57B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72</a:t>
            </a:r>
          </a:p>
        </p:txBody>
      </p:sp>
      <p:graphicFrame>
        <p:nvGraphicFramePr>
          <p:cNvPr id="10" name="Tabela 9"/>
          <p:cNvGraphicFramePr/>
          <p:nvPr>
            <p:extLst>
              <p:ext uri="{D42A27DB-BD31-4B8C-83A1-F6EECF244321}">
                <p14:modId xmlns:p14="http://schemas.microsoft.com/office/powerpoint/2010/main" val="3849553894"/>
              </p:ext>
            </p:extLst>
          </p:nvPr>
        </p:nvGraphicFramePr>
        <p:xfrm>
          <a:off x="400050" y="1714500"/>
          <a:ext cx="11391900" cy="4095752"/>
        </p:xfrm>
        <a:graphic>
          <a:graphicData uri="http://schemas.openxmlformats.org/drawingml/2006/table">
            <a:tbl>
              <a:tblPr firstRow="1" bandRow="1"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393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Dimensão</a:t>
                      </a:r>
                    </a:p>
                  </a:txBody>
                  <a:tcPr>
                    <a:solidFill>
                      <a:srgbClr val="10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Pergunta</a:t>
                      </a:r>
                    </a:p>
                  </a:txBody>
                  <a:tcPr>
                    <a:solidFill>
                      <a:srgbClr val="10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Exemplos</a:t>
                      </a:r>
                    </a:p>
                  </a:txBody>
                  <a:tcPr>
                    <a:solidFill>
                      <a:srgbClr val="1021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Nível de abstração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Quanto do hardware fica exposto?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Assembly, C, Java, 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Paradigma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Como a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solução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 é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organizada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Estruturado, POO, funcional, declarativo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393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Estratégia de execução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212B"/>
                          </a:solidFill>
                        </a:rPr>
                        <a:t>Como o código chega à máquina?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0212B"/>
                          </a:solidFill>
                        </a:rPr>
                        <a:t>AOT, </a:t>
                      </a:r>
                      <a:r>
                        <a:rPr sz="1600" dirty="0" err="1">
                          <a:solidFill>
                            <a:srgbClr val="10212B"/>
                          </a:solidFill>
                        </a:rPr>
                        <a:t>interpretação</a:t>
                      </a:r>
                      <a:r>
                        <a:rPr sz="1600" dirty="0">
                          <a:solidFill>
                            <a:srgbClr val="10212B"/>
                          </a:solidFill>
                        </a:rPr>
                        <a:t>, bytecode, JIT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DDCBC822-5801-DCFD-60D3-29D3314DA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190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D6D8B48-623B-4F44-987D-3EC21E72C0D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LINGUAGENS DE PROGRAMAÇÃO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39916FF-EB8C-49AC-90AB-B5E8513A0DA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Síntese da aula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3C712AE-4E54-403B-BAE8-5B5FC70D8A33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FA5DF59-6E66-4265-9A24-8FB0199E2260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73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2B2B9F1-AEF8-4C1A-9369-0E1A118CF320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Leve </a:t>
            </a:r>
            <a:r>
              <a:rPr sz="18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estas</a:t>
            </a:r>
            <a:r>
              <a:rPr sz="18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ideias</a:t>
            </a:r>
            <a:r>
              <a:rPr sz="180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4A24013-1EB0-41E0-9AF5-63728A10E522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057275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alto 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baixo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nível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formam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um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espectro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abstração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;</a:t>
            </a:r>
          </a:p>
          <a:p>
            <a:endParaRPr sz="1575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paradigmas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modelos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de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pensamento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linguagens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podem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combinar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vários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;</a:t>
            </a:r>
          </a:p>
          <a:p>
            <a:endParaRPr sz="1575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programação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estruturada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organiza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algoritmos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com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sequência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seleção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repetição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funções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;</a:t>
            </a:r>
          </a:p>
          <a:p>
            <a:endParaRPr sz="1575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compilação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interpretação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podem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coexistir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no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mesmo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ambiente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;</a:t>
            </a:r>
          </a:p>
          <a:p>
            <a:endParaRPr sz="1575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uma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escolha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tecnológica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é boa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quando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seus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benefícios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e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riscos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correspondem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requisitos</a:t>
            </a:r>
            <a:r>
              <a:rPr sz="1575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118981F-AF3A-630C-67B0-1E36B17DA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636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846789F-EECD-4EDA-8829-7A604E4D1D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6A8FA50-35E7-453A-AA69-4A523F8B6E5C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FD94918-0815-480E-BC8D-ABC8216E932A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10191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949" lnSpcReduction="10000"/>
          </a:bodyPr>
          <a:lstStyle/>
          <a:p>
            <a:pPr algn="l">
              <a:defRPr sz="39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Não existe uma linguagem “melhor” fora de contexto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8C87958-4594-4E5A-8F4F-785054B58D45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8572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Existe uma combinação mais adequada entre problema, requisitos, equipe, plataforma e custo.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B365C6F-045E-4F51-ABDE-E6A538925C58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79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78D3F7-26C0-1F6B-744A-F68C713F8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404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E3265437-0677-4E27-8B4A-B082E70F0D51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08" lnSpcReduction="10000"/>
          </a:bodyPr>
          <a:lstStyle/>
          <a:p>
            <a:pPr algn="l">
              <a:defRPr sz="975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REFERÊNCIAS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673E977-615B-4F7E-BDC7-C82ED5027920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850" b="1" dirty="0" err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Referência</a:t>
            </a:r>
            <a:r>
              <a:rPr lang="pt-BR" sz="2850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s</a:t>
            </a:r>
            <a:endParaRPr sz="28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A2B5394-8FA1-4672-B7BC-C6518746B9C7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32D461D-1A57-45DB-B97A-F9124EF1D49B}"/>
              </a:ext>
            </a:extLst>
          </p:cNvPr>
          <p:cNvSpPr>
            <a:spLocks noGrp="1"/>
          </p:cNvSpPr>
          <p:nvPr/>
        </p:nvSpPr>
        <p:spPr>
          <a:xfrm>
            <a:off x="11239500" y="64008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r">
              <a:defRPr sz="900" b="0">
                <a:solidFill>
                  <a:srgbClr val="5264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6E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310007A-026D-43BC-9BDE-F0F1516176F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76325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SEBESTA, R. Concepts of Programming Languages.</a:t>
            </a:r>
          </a:p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SCOTT, M. Programming Language Pragmatics.</a:t>
            </a:r>
          </a:p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AHO et al. Compilers: Principles, Techniques, and Tools.</a:t>
            </a:r>
          </a:p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BÖHM; JACOPINI. Flow Diagrams, Turing Machines and Languages, 1966.</a:t>
            </a:r>
          </a:p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FLOYD, R. The Paradigms of Programming, 1979.</a:t>
            </a:r>
          </a:p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OpenStax — Introduction to Computer Science.</a:t>
            </a:r>
          </a:p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Oracle — Java and HotSpot documentation.</a:t>
            </a:r>
          </a:p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MDN — JavaScript documentation.</a:t>
            </a:r>
          </a:p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V8 — Ignition, Maglev and execution pipeline.</a:t>
            </a:r>
          </a:p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Python documentation — Glossary and bytecode.</a:t>
            </a:r>
          </a:p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GCC — Overall Options.</a:t>
            </a:r>
          </a:p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• PostgreSQL — Planner/Optimizer.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7117B8B-23E5-0C9B-4178-33AF8762B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074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4695</Words>
  <Application>Microsoft Office PowerPoint</Application>
  <DocSecurity>0</DocSecurity>
  <PresentationFormat>Widescreen</PresentationFormat>
  <Paragraphs>906</Paragraphs>
  <Slides>71</Slides>
  <Notes>71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71</vt:i4>
      </vt:variant>
    </vt:vector>
  </HeadingPairs>
  <TitlesOfParts>
    <vt:vector size="75" baseType="lpstr">
      <vt:lpstr>Arial</vt:lpstr>
      <vt:lpstr>Calibri</vt:lpstr>
      <vt:lpstr>Courier New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Youth Space</cp:lastModifiedBy>
  <cp:revision>3</cp:revision>
  <dcterms:created xsi:type="dcterms:W3CDTF">2026-08-03T06:00:07Z</dcterms:created>
  <dcterms:modified xsi:type="dcterms:W3CDTF">2026-08-05T14:50:11Z</dcterms:modified>
</cp:coreProperties>
</file>